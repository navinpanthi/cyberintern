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30"/>
  </p:notesMasterIdLst>
  <p:sldIdLst>
    <p:sldId id="311" r:id="rId2"/>
    <p:sldId id="257" r:id="rId3"/>
    <p:sldId id="258" r:id="rId4"/>
    <p:sldId id="259" r:id="rId5"/>
    <p:sldId id="261" r:id="rId6"/>
    <p:sldId id="260" r:id="rId7"/>
    <p:sldId id="262" r:id="rId8"/>
    <p:sldId id="265" r:id="rId9"/>
    <p:sldId id="264" r:id="rId10"/>
    <p:sldId id="266" r:id="rId11"/>
    <p:sldId id="267" r:id="rId12"/>
    <p:sldId id="268" r:id="rId13"/>
    <p:sldId id="269" r:id="rId14"/>
    <p:sldId id="270" r:id="rId15"/>
    <p:sldId id="284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9" r:id="rId24"/>
    <p:sldId id="280" r:id="rId25"/>
    <p:sldId id="281" r:id="rId26"/>
    <p:sldId id="282" r:id="rId27"/>
    <p:sldId id="356" r:id="rId28"/>
    <p:sldId id="283" r:id="rId29"/>
  </p:sldIdLst>
  <p:sldSz cx="4610100" cy="3460750"/>
  <p:notesSz cx="4610100" cy="34607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201" d="100"/>
          <a:sy n="201" d="100"/>
        </p:scale>
        <p:origin x="408" y="1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mibloudi Stephen Enamamu (School of Engineering and Computing)" userId="e66a97cb-805d-4fcf-a7a6-86de9ad98d73" providerId="ADAL" clId="{D36082B2-1FC5-4841-81DB-1EC92BF7A074}"/>
    <pc:docChg chg="delSld">
      <pc:chgData name="Timibloudi Stephen Enamamu (School of Engineering and Computing)" userId="e66a97cb-805d-4fcf-a7a6-86de9ad98d73" providerId="ADAL" clId="{D36082B2-1FC5-4841-81DB-1EC92BF7A074}" dt="2025-10-02T14:58:59.577" v="0" actId="47"/>
      <pc:docMkLst>
        <pc:docMk/>
      </pc:docMkLst>
      <pc:sldChg chg="del">
        <pc:chgData name="Timibloudi Stephen Enamamu (School of Engineering and Computing)" userId="e66a97cb-805d-4fcf-a7a6-86de9ad98d73" providerId="ADAL" clId="{D36082B2-1FC5-4841-81DB-1EC92BF7A074}" dt="2025-10-02T14:58:59.577" v="0" actId="47"/>
        <pc:sldMkLst>
          <pc:docMk/>
          <pc:sldMk cId="0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1A8A43-BDAD-4D57-B59D-0C9860B8B9AB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B4D601-F19D-4EBE-A23C-7A73A67A0A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520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01D35"/>
                </a:solidFill>
                <a:effectLst/>
                <a:latin typeface="Google Sans"/>
              </a:rPr>
              <a:t>European Union Agency for Cybersecurity (ENISA)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B4D601-F19D-4EBE-A23C-7A73A67A0AD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5436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4269" y="-4273"/>
            <a:ext cx="4623110" cy="3469296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0009" y="1213399"/>
            <a:ext cx="2937637" cy="830773"/>
          </a:xfrm>
        </p:spPr>
        <p:txBody>
          <a:bodyPr anchor="b">
            <a:noAutofit/>
          </a:bodyPr>
          <a:lstStyle>
            <a:lvl1pPr algn="r">
              <a:defRPr sz="2723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0009" y="2044171"/>
            <a:ext cx="2937637" cy="553528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30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61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915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220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526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831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136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8441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GB"/>
              <a:t>Ahmed</a:t>
            </a:r>
            <a:r>
              <a:rPr lang="en-GB" spc="5"/>
              <a:t> </a:t>
            </a:r>
            <a:r>
              <a:rPr lang="en-GB" spc="-10"/>
              <a:t>Abubahia,</a:t>
            </a:r>
            <a:r>
              <a:rPr lang="en-GB" spc="10"/>
              <a:t> </a:t>
            </a:r>
            <a:r>
              <a:rPr lang="en-GB" spc="-25"/>
              <a:t>PhD</a:t>
            </a:r>
            <a:endParaRPr lang="en-GB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GB" smtClean="0"/>
              <a:t>‹#›</a:t>
            </a:fld>
            <a:r>
              <a:rPr lang="en-GB" spc="-10"/>
              <a:t> </a:t>
            </a:r>
            <a:r>
              <a:rPr lang="en-GB"/>
              <a:t>/</a:t>
            </a:r>
            <a:r>
              <a:rPr lang="en-GB" spc="-10"/>
              <a:t> </a:t>
            </a:r>
            <a:r>
              <a:rPr lang="en-GB" spc="-35"/>
              <a:t>27</a:t>
            </a:r>
            <a:endParaRPr lang="en-GB" spc="-35" dirty="0"/>
          </a:p>
        </p:txBody>
      </p:sp>
    </p:spTree>
    <p:extLst>
      <p:ext uri="{BB962C8B-B14F-4D97-AF65-F5344CB8AC3E}">
        <p14:creationId xmlns:p14="http://schemas.microsoft.com/office/powerpoint/2010/main" val="1976490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GB"/>
              <a:t>Ahmed</a:t>
            </a:r>
            <a:r>
              <a:rPr lang="en-GB" spc="5"/>
              <a:t> </a:t>
            </a:r>
            <a:r>
              <a:rPr lang="en-GB" spc="-10"/>
              <a:t>Abubahia,</a:t>
            </a:r>
            <a:r>
              <a:rPr lang="en-GB" spc="10"/>
              <a:t> </a:t>
            </a:r>
            <a:r>
              <a:rPr lang="en-GB" spc="-25"/>
              <a:t>PhD</a:t>
            </a:r>
            <a:endParaRPr lang="en-GB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GB" smtClean="0"/>
              <a:t>‹#›</a:t>
            </a:fld>
            <a:r>
              <a:rPr lang="en-GB" spc="-10"/>
              <a:t> </a:t>
            </a:r>
            <a:r>
              <a:rPr lang="en-GB"/>
              <a:t>/</a:t>
            </a:r>
            <a:r>
              <a:rPr lang="en-GB" spc="-10"/>
              <a:t> </a:t>
            </a:r>
            <a:r>
              <a:rPr lang="en-GB" spc="-35"/>
              <a:t>27</a:t>
            </a:r>
            <a:endParaRPr lang="en-GB" spc="-35" dirty="0"/>
          </a:p>
        </p:txBody>
      </p:sp>
    </p:spTree>
    <p:extLst>
      <p:ext uri="{BB962C8B-B14F-4D97-AF65-F5344CB8AC3E}">
        <p14:creationId xmlns:p14="http://schemas.microsoft.com/office/powerpoint/2010/main" val="741268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339" y="1362938"/>
            <a:ext cx="3200306" cy="921747"/>
          </a:xfrm>
        </p:spPr>
        <p:txBody>
          <a:bodyPr anchor="b"/>
          <a:lstStyle>
            <a:lvl1pPr algn="l">
              <a:defRPr sz="2017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7339" y="2284685"/>
            <a:ext cx="3200306" cy="434183"/>
          </a:xfrm>
        </p:spPr>
        <p:txBody>
          <a:bodyPr anchor="t"/>
          <a:lstStyle>
            <a:lvl1pPr marL="0" indent="0" algn="l">
              <a:buNone/>
              <a:defRPr sz="1008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30520" indent="0">
              <a:buNone/>
              <a:defRPr sz="908">
                <a:solidFill>
                  <a:schemeClr val="tx1">
                    <a:tint val="75000"/>
                  </a:schemeClr>
                </a:solidFill>
              </a:defRPr>
            </a:lvl2pPr>
            <a:lvl3pPr marL="46104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3pPr>
            <a:lvl4pPr marL="69156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4pPr>
            <a:lvl5pPr marL="92208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5pPr>
            <a:lvl6pPr marL="115260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6pPr>
            <a:lvl7pPr marL="138312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7pPr>
            <a:lvl8pPr marL="161364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8pPr>
            <a:lvl9pPr marL="184416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GB"/>
              <a:t>Ahmed</a:t>
            </a:r>
            <a:r>
              <a:rPr lang="en-GB" spc="5"/>
              <a:t> </a:t>
            </a:r>
            <a:r>
              <a:rPr lang="en-GB" spc="-10"/>
              <a:t>Abubahia,</a:t>
            </a:r>
            <a:r>
              <a:rPr lang="en-GB" spc="10"/>
              <a:t> </a:t>
            </a:r>
            <a:r>
              <a:rPr lang="en-GB" spc="-25"/>
              <a:t>PhD</a:t>
            </a:r>
            <a:endParaRPr lang="en-GB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GB" smtClean="0"/>
              <a:t>‹#›</a:t>
            </a:fld>
            <a:r>
              <a:rPr lang="en-GB" spc="-10"/>
              <a:t> </a:t>
            </a:r>
            <a:r>
              <a:rPr lang="en-GB"/>
              <a:t>/</a:t>
            </a:r>
            <a:r>
              <a:rPr lang="en-GB" spc="-10"/>
              <a:t> </a:t>
            </a:r>
            <a:r>
              <a:rPr lang="en-GB" spc="-35"/>
              <a:t>27</a:t>
            </a:r>
            <a:endParaRPr lang="en-GB" spc="-35" dirty="0"/>
          </a:p>
        </p:txBody>
      </p:sp>
    </p:spTree>
    <p:extLst>
      <p:ext uri="{BB962C8B-B14F-4D97-AF65-F5344CB8AC3E}">
        <p14:creationId xmlns:p14="http://schemas.microsoft.com/office/powerpoint/2010/main" val="1644719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340" y="307622"/>
            <a:ext cx="3200306" cy="66651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7340" y="1090297"/>
            <a:ext cx="1556922" cy="1958353"/>
          </a:xfrm>
        </p:spPr>
        <p:txBody>
          <a:bodyPr>
            <a:normAutofit/>
          </a:bodyPr>
          <a:lstStyle>
            <a:lvl1pPr>
              <a:defRPr sz="908"/>
            </a:lvl1pPr>
            <a:lvl2pPr>
              <a:defRPr sz="807"/>
            </a:lvl2pPr>
            <a:lvl3pPr>
              <a:defRPr sz="706"/>
            </a:lvl3pPr>
            <a:lvl4pPr>
              <a:defRPr sz="605"/>
            </a:lvl4pPr>
            <a:lvl5pPr>
              <a:defRPr sz="605"/>
            </a:lvl5pPr>
            <a:lvl6pPr>
              <a:defRPr sz="605"/>
            </a:lvl6pPr>
            <a:lvl7pPr>
              <a:defRPr sz="605"/>
            </a:lvl7pPr>
            <a:lvl8pPr>
              <a:defRPr sz="605"/>
            </a:lvl8pPr>
            <a:lvl9pPr>
              <a:defRPr sz="6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50724" y="1090298"/>
            <a:ext cx="1556922" cy="1958353"/>
          </a:xfrm>
        </p:spPr>
        <p:txBody>
          <a:bodyPr>
            <a:normAutofit/>
          </a:bodyPr>
          <a:lstStyle>
            <a:lvl1pPr>
              <a:defRPr sz="908"/>
            </a:lvl1pPr>
            <a:lvl2pPr>
              <a:defRPr sz="807"/>
            </a:lvl2pPr>
            <a:lvl3pPr>
              <a:defRPr sz="706"/>
            </a:lvl3pPr>
            <a:lvl4pPr>
              <a:defRPr sz="605"/>
            </a:lvl4pPr>
            <a:lvl5pPr>
              <a:defRPr sz="605"/>
            </a:lvl5pPr>
            <a:lvl6pPr>
              <a:defRPr sz="605"/>
            </a:lvl6pPr>
            <a:lvl7pPr>
              <a:defRPr sz="605"/>
            </a:lvl7pPr>
            <a:lvl8pPr>
              <a:defRPr sz="605"/>
            </a:lvl8pPr>
            <a:lvl9pPr>
              <a:defRPr sz="6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GB"/>
              <a:t>Ahmed</a:t>
            </a:r>
            <a:r>
              <a:rPr lang="en-GB" spc="5"/>
              <a:t> </a:t>
            </a:r>
            <a:r>
              <a:rPr lang="en-GB" spc="-10"/>
              <a:t>Abubahia,</a:t>
            </a:r>
            <a:r>
              <a:rPr lang="en-GB" spc="10"/>
              <a:t> </a:t>
            </a:r>
            <a:r>
              <a:rPr lang="en-GB" spc="-25"/>
              <a:t>PhD</a:t>
            </a:r>
            <a:endParaRPr lang="en-GB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GB" smtClean="0"/>
              <a:t>‹#›</a:t>
            </a:fld>
            <a:r>
              <a:rPr lang="en-GB" spc="-10"/>
              <a:t> </a:t>
            </a:r>
            <a:r>
              <a:rPr lang="en-GB"/>
              <a:t>/</a:t>
            </a:r>
            <a:r>
              <a:rPr lang="en-GB" spc="-10"/>
              <a:t> </a:t>
            </a:r>
            <a:r>
              <a:rPr lang="en-GB" spc="-35"/>
              <a:t>27</a:t>
            </a:r>
            <a:endParaRPr lang="en-GB" spc="-35" dirty="0"/>
          </a:p>
        </p:txBody>
      </p:sp>
    </p:spTree>
    <p:extLst>
      <p:ext uri="{BB962C8B-B14F-4D97-AF65-F5344CB8AC3E}">
        <p14:creationId xmlns:p14="http://schemas.microsoft.com/office/powerpoint/2010/main" val="2870963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340" y="307622"/>
            <a:ext cx="3200305" cy="6665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7339" y="1090496"/>
            <a:ext cx="1558214" cy="290799"/>
          </a:xfrm>
        </p:spPr>
        <p:txBody>
          <a:bodyPr anchor="b">
            <a:noAutofit/>
          </a:bodyPr>
          <a:lstStyle>
            <a:lvl1pPr marL="0" indent="0">
              <a:buNone/>
              <a:defRPr sz="1210" b="0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339" y="1381296"/>
            <a:ext cx="1558214" cy="166735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49431" y="1090496"/>
            <a:ext cx="1558214" cy="290799"/>
          </a:xfrm>
        </p:spPr>
        <p:txBody>
          <a:bodyPr anchor="b">
            <a:noAutofit/>
          </a:bodyPr>
          <a:lstStyle>
            <a:lvl1pPr marL="0" indent="0">
              <a:buNone/>
              <a:defRPr sz="1210" b="0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949431" y="1381296"/>
            <a:ext cx="1558214" cy="166735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GB"/>
              <a:t>Ahmed</a:t>
            </a:r>
            <a:r>
              <a:rPr lang="en-GB" spc="5"/>
              <a:t> </a:t>
            </a:r>
            <a:r>
              <a:rPr lang="en-GB" spc="-10"/>
              <a:t>Abubahia,</a:t>
            </a:r>
            <a:r>
              <a:rPr lang="en-GB" spc="10"/>
              <a:t> </a:t>
            </a:r>
            <a:r>
              <a:rPr lang="en-GB" spc="-25"/>
              <a:t>PhD</a:t>
            </a:r>
            <a:endParaRPr lang="en-GB" spc="-25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GB" smtClean="0"/>
              <a:t>‹#›</a:t>
            </a:fld>
            <a:r>
              <a:rPr lang="en-GB" spc="-10"/>
              <a:t> </a:t>
            </a:r>
            <a:r>
              <a:rPr lang="en-GB"/>
              <a:t>/</a:t>
            </a:r>
            <a:r>
              <a:rPr lang="en-GB" spc="-10"/>
              <a:t> </a:t>
            </a:r>
            <a:r>
              <a:rPr lang="en-GB" spc="-35"/>
              <a:t>27</a:t>
            </a:r>
            <a:endParaRPr lang="en-GB" spc="-35" dirty="0"/>
          </a:p>
        </p:txBody>
      </p:sp>
    </p:spTree>
    <p:extLst>
      <p:ext uri="{BB962C8B-B14F-4D97-AF65-F5344CB8AC3E}">
        <p14:creationId xmlns:p14="http://schemas.microsoft.com/office/powerpoint/2010/main" val="550374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339" y="307622"/>
            <a:ext cx="3200306" cy="66651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GB"/>
              <a:t>Ahmed</a:t>
            </a:r>
            <a:r>
              <a:rPr lang="en-GB" spc="5"/>
              <a:t> </a:t>
            </a:r>
            <a:r>
              <a:rPr lang="en-GB" spc="-10"/>
              <a:t>Abubahia,</a:t>
            </a:r>
            <a:r>
              <a:rPr lang="en-GB" spc="10"/>
              <a:t> </a:t>
            </a:r>
            <a:r>
              <a:rPr lang="en-GB" spc="-25"/>
              <a:t>PhD</a:t>
            </a:r>
            <a:endParaRPr lang="en-GB" spc="-25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GB" smtClean="0"/>
              <a:t>‹#›</a:t>
            </a:fld>
            <a:r>
              <a:rPr lang="en-GB" spc="-10"/>
              <a:t> </a:t>
            </a:r>
            <a:r>
              <a:rPr lang="en-GB"/>
              <a:t>/</a:t>
            </a:r>
            <a:r>
              <a:rPr lang="en-GB" spc="-10"/>
              <a:t> </a:t>
            </a:r>
            <a:r>
              <a:rPr lang="en-GB" spc="-35"/>
              <a:t>27</a:t>
            </a:r>
            <a:endParaRPr lang="en-GB" spc="-35" dirty="0"/>
          </a:p>
        </p:txBody>
      </p:sp>
    </p:spTree>
    <p:extLst>
      <p:ext uri="{BB962C8B-B14F-4D97-AF65-F5344CB8AC3E}">
        <p14:creationId xmlns:p14="http://schemas.microsoft.com/office/powerpoint/2010/main" val="3179563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GB"/>
              <a:t>Ahmed</a:t>
            </a:r>
            <a:r>
              <a:rPr lang="en-GB" spc="5"/>
              <a:t> </a:t>
            </a:r>
            <a:r>
              <a:rPr lang="en-GB" spc="-10"/>
              <a:t>Abubahia,</a:t>
            </a:r>
            <a:r>
              <a:rPr lang="en-GB" spc="10"/>
              <a:t> </a:t>
            </a:r>
            <a:r>
              <a:rPr lang="en-GB" spc="-25"/>
              <a:t>PhD</a:t>
            </a:r>
            <a:endParaRPr lang="en-GB" spc="-25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GB" smtClean="0"/>
              <a:t>‹#›</a:t>
            </a:fld>
            <a:r>
              <a:rPr lang="en-GB" spc="-10"/>
              <a:t> </a:t>
            </a:r>
            <a:r>
              <a:rPr lang="en-GB"/>
              <a:t>/</a:t>
            </a:r>
            <a:r>
              <a:rPr lang="en-GB" spc="-10"/>
              <a:t> </a:t>
            </a:r>
            <a:r>
              <a:rPr lang="en-GB" spc="-35"/>
              <a:t>27</a:t>
            </a:r>
            <a:endParaRPr lang="en-GB" spc="-35" dirty="0"/>
          </a:p>
        </p:txBody>
      </p:sp>
    </p:spTree>
    <p:extLst>
      <p:ext uri="{BB962C8B-B14F-4D97-AF65-F5344CB8AC3E}">
        <p14:creationId xmlns:p14="http://schemas.microsoft.com/office/powerpoint/2010/main" val="4224208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339" y="756240"/>
            <a:ext cx="1406717" cy="645152"/>
          </a:xfrm>
        </p:spPr>
        <p:txBody>
          <a:bodyPr anchor="b">
            <a:normAutofit/>
          </a:bodyPr>
          <a:lstStyle>
            <a:lvl1pPr>
              <a:defRPr sz="100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0518" y="259847"/>
            <a:ext cx="1707127" cy="278880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7339" y="1401391"/>
            <a:ext cx="1406717" cy="1304190"/>
          </a:xfrm>
        </p:spPr>
        <p:txBody>
          <a:bodyPr>
            <a:normAutofit/>
          </a:bodyPr>
          <a:lstStyle>
            <a:lvl1pPr marL="0" indent="0">
              <a:buNone/>
              <a:defRPr sz="706"/>
            </a:lvl1pPr>
            <a:lvl2pPr marL="172890" indent="0">
              <a:buNone/>
              <a:defRPr sz="529"/>
            </a:lvl2pPr>
            <a:lvl3pPr marL="345780" indent="0">
              <a:buNone/>
              <a:defRPr sz="454"/>
            </a:lvl3pPr>
            <a:lvl4pPr marL="518671" indent="0">
              <a:buNone/>
              <a:defRPr sz="378"/>
            </a:lvl4pPr>
            <a:lvl5pPr marL="691561" indent="0">
              <a:buNone/>
              <a:defRPr sz="378"/>
            </a:lvl5pPr>
            <a:lvl6pPr marL="864451" indent="0">
              <a:buNone/>
              <a:defRPr sz="378"/>
            </a:lvl6pPr>
            <a:lvl7pPr marL="1037341" indent="0">
              <a:buNone/>
              <a:defRPr sz="378"/>
            </a:lvl7pPr>
            <a:lvl8pPr marL="1210231" indent="0">
              <a:buNone/>
              <a:defRPr sz="378"/>
            </a:lvl8pPr>
            <a:lvl9pPr marL="1383121" indent="0">
              <a:buNone/>
              <a:defRPr sz="3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GB"/>
              <a:t>Ahmed</a:t>
            </a:r>
            <a:r>
              <a:rPr lang="en-GB" spc="5"/>
              <a:t> </a:t>
            </a:r>
            <a:r>
              <a:rPr lang="en-GB" spc="-10"/>
              <a:t>Abubahia,</a:t>
            </a:r>
            <a:r>
              <a:rPr lang="en-GB" spc="10"/>
              <a:t> </a:t>
            </a:r>
            <a:r>
              <a:rPr lang="en-GB" spc="-25"/>
              <a:t>PhD</a:t>
            </a:r>
            <a:endParaRPr lang="en-GB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GB" smtClean="0"/>
              <a:t>‹#›</a:t>
            </a:fld>
            <a:r>
              <a:rPr lang="en-GB" spc="-10"/>
              <a:t> </a:t>
            </a:r>
            <a:r>
              <a:rPr lang="en-GB"/>
              <a:t>/</a:t>
            </a:r>
            <a:r>
              <a:rPr lang="en-GB" spc="-10"/>
              <a:t> </a:t>
            </a:r>
            <a:r>
              <a:rPr lang="en-GB" spc="-35"/>
              <a:t>27</a:t>
            </a:r>
            <a:endParaRPr lang="en-GB" spc="-35" dirty="0"/>
          </a:p>
        </p:txBody>
      </p:sp>
    </p:spTree>
    <p:extLst>
      <p:ext uri="{BB962C8B-B14F-4D97-AF65-F5344CB8AC3E}">
        <p14:creationId xmlns:p14="http://schemas.microsoft.com/office/powerpoint/2010/main" val="574005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339" y="2422525"/>
            <a:ext cx="3200306" cy="285993"/>
          </a:xfrm>
        </p:spPr>
        <p:txBody>
          <a:bodyPr anchor="b">
            <a:normAutofit/>
          </a:bodyPr>
          <a:lstStyle>
            <a:lvl1pPr algn="l">
              <a:defRPr sz="121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7339" y="307622"/>
            <a:ext cx="3200306" cy="1940663"/>
          </a:xfrm>
        </p:spPr>
        <p:txBody>
          <a:bodyPr anchor="t">
            <a:normAutofit/>
          </a:bodyPr>
          <a:lstStyle>
            <a:lvl1pPr marL="0" indent="0" algn="ctr">
              <a:buNone/>
              <a:defRPr sz="807"/>
            </a:lvl1pPr>
            <a:lvl2pPr marL="230520" indent="0">
              <a:buNone/>
              <a:defRPr sz="807"/>
            </a:lvl2pPr>
            <a:lvl3pPr marL="461040" indent="0">
              <a:buNone/>
              <a:defRPr sz="807"/>
            </a:lvl3pPr>
            <a:lvl4pPr marL="691561" indent="0">
              <a:buNone/>
              <a:defRPr sz="807"/>
            </a:lvl4pPr>
            <a:lvl5pPr marL="922081" indent="0">
              <a:buNone/>
              <a:defRPr sz="807"/>
            </a:lvl5pPr>
            <a:lvl6pPr marL="1152601" indent="0">
              <a:buNone/>
              <a:defRPr sz="807"/>
            </a:lvl6pPr>
            <a:lvl7pPr marL="1383121" indent="0">
              <a:buNone/>
              <a:defRPr sz="807"/>
            </a:lvl7pPr>
            <a:lvl8pPr marL="1613642" indent="0">
              <a:buNone/>
              <a:defRPr sz="807"/>
            </a:lvl8pPr>
            <a:lvl9pPr marL="1844162" indent="0">
              <a:buNone/>
              <a:defRPr sz="80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7339" y="2708518"/>
            <a:ext cx="3200306" cy="340132"/>
          </a:xfrm>
        </p:spPr>
        <p:txBody>
          <a:bodyPr>
            <a:normAutofit/>
          </a:bodyPr>
          <a:lstStyle>
            <a:lvl1pPr marL="0" indent="0">
              <a:buNone/>
              <a:defRPr sz="605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GB"/>
              <a:t>Ahmed</a:t>
            </a:r>
            <a:r>
              <a:rPr lang="en-GB" spc="5"/>
              <a:t> </a:t>
            </a:r>
            <a:r>
              <a:rPr lang="en-GB" spc="-10"/>
              <a:t>Abubahia,</a:t>
            </a:r>
            <a:r>
              <a:rPr lang="en-GB" spc="10"/>
              <a:t> </a:t>
            </a:r>
            <a:r>
              <a:rPr lang="en-GB" spc="-25"/>
              <a:t>PhD</a:t>
            </a:r>
            <a:endParaRPr lang="en-GB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GB" smtClean="0"/>
              <a:t>‹#›</a:t>
            </a:fld>
            <a:r>
              <a:rPr lang="en-GB" spc="-10"/>
              <a:t> </a:t>
            </a:r>
            <a:r>
              <a:rPr lang="en-GB"/>
              <a:t>/</a:t>
            </a:r>
            <a:r>
              <a:rPr lang="en-GB" spc="-10"/>
              <a:t> </a:t>
            </a:r>
            <a:r>
              <a:rPr lang="en-GB" spc="-35"/>
              <a:t>27</a:t>
            </a:r>
            <a:endParaRPr lang="en-GB" spc="-35" dirty="0"/>
          </a:p>
        </p:txBody>
      </p:sp>
    </p:spTree>
    <p:extLst>
      <p:ext uri="{BB962C8B-B14F-4D97-AF65-F5344CB8AC3E}">
        <p14:creationId xmlns:p14="http://schemas.microsoft.com/office/powerpoint/2010/main" val="4261633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340" y="307622"/>
            <a:ext cx="3200306" cy="1717557"/>
          </a:xfrm>
        </p:spPr>
        <p:txBody>
          <a:bodyPr anchor="ctr">
            <a:normAutofit/>
          </a:bodyPr>
          <a:lstStyle>
            <a:lvl1pPr algn="l">
              <a:defRPr sz="2218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7340" y="2255896"/>
            <a:ext cx="3200306" cy="792754"/>
          </a:xfrm>
        </p:spPr>
        <p:txBody>
          <a:bodyPr anchor="ctr">
            <a:normAutofit/>
          </a:bodyPr>
          <a:lstStyle>
            <a:lvl1pPr marL="0" indent="0" algn="l">
              <a:buNone/>
              <a:defRPr sz="9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30520" indent="0">
              <a:buNone/>
              <a:defRPr sz="908">
                <a:solidFill>
                  <a:schemeClr val="tx1">
                    <a:tint val="75000"/>
                  </a:schemeClr>
                </a:solidFill>
              </a:defRPr>
            </a:lvl2pPr>
            <a:lvl3pPr marL="46104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3pPr>
            <a:lvl4pPr marL="69156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4pPr>
            <a:lvl5pPr marL="92208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5pPr>
            <a:lvl6pPr marL="115260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6pPr>
            <a:lvl7pPr marL="138312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7pPr>
            <a:lvl8pPr marL="161364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8pPr>
            <a:lvl9pPr marL="184416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GB"/>
              <a:t>Ahmed</a:t>
            </a:r>
            <a:r>
              <a:rPr lang="en-GB" spc="5"/>
              <a:t> </a:t>
            </a:r>
            <a:r>
              <a:rPr lang="en-GB" spc="-10"/>
              <a:t>Abubahia,</a:t>
            </a:r>
            <a:r>
              <a:rPr lang="en-GB" spc="10"/>
              <a:t> </a:t>
            </a:r>
            <a:r>
              <a:rPr lang="en-GB" spc="-25"/>
              <a:t>PhD</a:t>
            </a:r>
            <a:endParaRPr lang="en-GB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GB" smtClean="0"/>
              <a:t>‹#›</a:t>
            </a:fld>
            <a:r>
              <a:rPr lang="en-GB" spc="-10"/>
              <a:t> </a:t>
            </a:r>
            <a:r>
              <a:rPr lang="en-GB"/>
              <a:t>/</a:t>
            </a:r>
            <a:r>
              <a:rPr lang="en-GB" spc="-10"/>
              <a:t> </a:t>
            </a:r>
            <a:r>
              <a:rPr lang="en-GB" spc="-35"/>
              <a:t>27</a:t>
            </a:r>
            <a:endParaRPr lang="en-GB" spc="-35" dirty="0"/>
          </a:p>
        </p:txBody>
      </p:sp>
    </p:spTree>
    <p:extLst>
      <p:ext uri="{BB962C8B-B14F-4D97-AF65-F5344CB8AC3E}">
        <p14:creationId xmlns:p14="http://schemas.microsoft.com/office/powerpoint/2010/main" val="651942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671" y="307622"/>
            <a:ext cx="3061392" cy="1525294"/>
          </a:xfrm>
        </p:spPr>
        <p:txBody>
          <a:bodyPr anchor="ctr">
            <a:normAutofit/>
          </a:bodyPr>
          <a:lstStyle>
            <a:lvl1pPr algn="l">
              <a:defRPr sz="2218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55125" y="1832916"/>
            <a:ext cx="2732485" cy="192264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80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30520" indent="0">
              <a:buFontTx/>
              <a:buNone/>
              <a:defRPr/>
            </a:lvl2pPr>
            <a:lvl3pPr marL="461040" indent="0">
              <a:buFontTx/>
              <a:buNone/>
              <a:defRPr/>
            </a:lvl3pPr>
            <a:lvl4pPr marL="691561" indent="0">
              <a:buFontTx/>
              <a:buNone/>
              <a:defRPr/>
            </a:lvl4pPr>
            <a:lvl5pPr marL="92208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7339" y="2255896"/>
            <a:ext cx="3200306" cy="792754"/>
          </a:xfrm>
        </p:spPr>
        <p:txBody>
          <a:bodyPr anchor="ctr">
            <a:normAutofit/>
          </a:bodyPr>
          <a:lstStyle>
            <a:lvl1pPr marL="0" indent="0" algn="l">
              <a:buNone/>
              <a:defRPr sz="9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30520" indent="0">
              <a:buNone/>
              <a:defRPr sz="908">
                <a:solidFill>
                  <a:schemeClr val="tx1">
                    <a:tint val="75000"/>
                  </a:schemeClr>
                </a:solidFill>
              </a:defRPr>
            </a:lvl2pPr>
            <a:lvl3pPr marL="46104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3pPr>
            <a:lvl4pPr marL="69156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4pPr>
            <a:lvl5pPr marL="92208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5pPr>
            <a:lvl6pPr marL="115260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6pPr>
            <a:lvl7pPr marL="138312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7pPr>
            <a:lvl8pPr marL="161364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8pPr>
            <a:lvl9pPr marL="184416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GB"/>
              <a:t>Ahmed</a:t>
            </a:r>
            <a:r>
              <a:rPr lang="en-GB" spc="5"/>
              <a:t> </a:t>
            </a:r>
            <a:r>
              <a:rPr lang="en-GB" spc="-10"/>
              <a:t>Abubahia,</a:t>
            </a:r>
            <a:r>
              <a:rPr lang="en-GB" spc="10"/>
              <a:t> </a:t>
            </a:r>
            <a:r>
              <a:rPr lang="en-GB" spc="-25"/>
              <a:t>PhD</a:t>
            </a:r>
            <a:endParaRPr lang="en-GB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GB" smtClean="0"/>
              <a:t>‹#›</a:t>
            </a:fld>
            <a:r>
              <a:rPr lang="en-GB" spc="-10"/>
              <a:t> </a:t>
            </a:r>
            <a:r>
              <a:rPr lang="en-GB"/>
              <a:t>/</a:t>
            </a:r>
            <a:r>
              <a:rPr lang="en-GB" spc="-10"/>
              <a:t> </a:t>
            </a:r>
            <a:r>
              <a:rPr lang="en-GB" spc="-35"/>
              <a:t>27</a:t>
            </a:r>
            <a:endParaRPr lang="en-GB" spc="-35" dirty="0"/>
          </a:p>
        </p:txBody>
      </p:sp>
      <p:sp>
        <p:nvSpPr>
          <p:cNvPr id="24" name="TextBox 23"/>
          <p:cNvSpPr txBox="1"/>
          <p:nvPr/>
        </p:nvSpPr>
        <p:spPr>
          <a:xfrm>
            <a:off x="243367" y="398848"/>
            <a:ext cx="230565" cy="295095"/>
          </a:xfrm>
          <a:prstGeom prst="rect">
            <a:avLst/>
          </a:prstGeom>
        </p:spPr>
        <p:txBody>
          <a:bodyPr vert="horz" lIns="46101" tIns="23051" rIns="46101" bIns="23051" rtlCol="0" anchor="ctr">
            <a:noAutofit/>
          </a:bodyPr>
          <a:lstStyle/>
          <a:p>
            <a:pPr lvl="0"/>
            <a:r>
              <a:rPr lang="en-US" sz="4034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1965" y="1456642"/>
            <a:ext cx="230565" cy="295095"/>
          </a:xfrm>
          <a:prstGeom prst="rect">
            <a:avLst/>
          </a:prstGeom>
        </p:spPr>
        <p:txBody>
          <a:bodyPr vert="horz" lIns="46101" tIns="23051" rIns="46101" bIns="23051" rtlCol="0" anchor="ctr">
            <a:noAutofit/>
          </a:bodyPr>
          <a:lstStyle/>
          <a:p>
            <a:pPr lvl="0"/>
            <a:r>
              <a:rPr lang="en-US" sz="4034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776916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339" y="974938"/>
            <a:ext cx="3200306" cy="1309746"/>
          </a:xfrm>
        </p:spPr>
        <p:txBody>
          <a:bodyPr anchor="b">
            <a:normAutofit/>
          </a:bodyPr>
          <a:lstStyle>
            <a:lvl1pPr algn="l">
              <a:defRPr sz="2218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7339" y="2284684"/>
            <a:ext cx="3200306" cy="763966"/>
          </a:xfrm>
        </p:spPr>
        <p:txBody>
          <a:bodyPr anchor="t">
            <a:normAutofit/>
          </a:bodyPr>
          <a:lstStyle>
            <a:lvl1pPr marL="0" indent="0" algn="l">
              <a:buNone/>
              <a:defRPr sz="9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30520" indent="0">
              <a:buNone/>
              <a:defRPr sz="908">
                <a:solidFill>
                  <a:schemeClr val="tx1">
                    <a:tint val="75000"/>
                  </a:schemeClr>
                </a:solidFill>
              </a:defRPr>
            </a:lvl2pPr>
            <a:lvl3pPr marL="46104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3pPr>
            <a:lvl4pPr marL="69156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4pPr>
            <a:lvl5pPr marL="92208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5pPr>
            <a:lvl6pPr marL="115260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6pPr>
            <a:lvl7pPr marL="138312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7pPr>
            <a:lvl8pPr marL="161364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8pPr>
            <a:lvl9pPr marL="184416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GB"/>
              <a:t>Ahmed</a:t>
            </a:r>
            <a:r>
              <a:rPr lang="en-GB" spc="5"/>
              <a:t> </a:t>
            </a:r>
            <a:r>
              <a:rPr lang="en-GB" spc="-10"/>
              <a:t>Abubahia,</a:t>
            </a:r>
            <a:r>
              <a:rPr lang="en-GB" spc="10"/>
              <a:t> </a:t>
            </a:r>
            <a:r>
              <a:rPr lang="en-GB" spc="-25"/>
              <a:t>PhD</a:t>
            </a:r>
            <a:endParaRPr lang="en-GB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GB" smtClean="0"/>
              <a:t>‹#›</a:t>
            </a:fld>
            <a:r>
              <a:rPr lang="en-GB" spc="-10"/>
              <a:t> </a:t>
            </a:r>
            <a:r>
              <a:rPr lang="en-GB"/>
              <a:t>/</a:t>
            </a:r>
            <a:r>
              <a:rPr lang="en-GB" spc="-10"/>
              <a:t> </a:t>
            </a:r>
            <a:r>
              <a:rPr lang="en-GB" spc="-35"/>
              <a:t>27</a:t>
            </a:r>
            <a:endParaRPr lang="en-GB" spc="-35" dirty="0"/>
          </a:p>
        </p:txBody>
      </p:sp>
    </p:spTree>
    <p:extLst>
      <p:ext uri="{BB962C8B-B14F-4D97-AF65-F5344CB8AC3E}">
        <p14:creationId xmlns:p14="http://schemas.microsoft.com/office/powerpoint/2010/main" val="1145371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671" y="307622"/>
            <a:ext cx="3061392" cy="1525294"/>
          </a:xfrm>
        </p:spPr>
        <p:txBody>
          <a:bodyPr anchor="ctr">
            <a:normAutofit/>
          </a:bodyPr>
          <a:lstStyle>
            <a:lvl1pPr algn="l">
              <a:defRPr sz="2218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07338" y="2025180"/>
            <a:ext cx="3200307" cy="259505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21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30520" indent="0">
              <a:buFontTx/>
              <a:buNone/>
              <a:defRPr/>
            </a:lvl2pPr>
            <a:lvl3pPr marL="461040" indent="0">
              <a:buFontTx/>
              <a:buNone/>
              <a:defRPr/>
            </a:lvl3pPr>
            <a:lvl4pPr marL="691561" indent="0">
              <a:buFontTx/>
              <a:buNone/>
              <a:defRPr/>
            </a:lvl4pPr>
            <a:lvl5pPr marL="92208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7339" y="2284684"/>
            <a:ext cx="3200306" cy="763966"/>
          </a:xfrm>
        </p:spPr>
        <p:txBody>
          <a:bodyPr anchor="t">
            <a:normAutofit/>
          </a:bodyPr>
          <a:lstStyle>
            <a:lvl1pPr marL="0" indent="0" algn="l">
              <a:buNone/>
              <a:defRPr sz="908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30520" indent="0">
              <a:buNone/>
              <a:defRPr sz="908">
                <a:solidFill>
                  <a:schemeClr val="tx1">
                    <a:tint val="75000"/>
                  </a:schemeClr>
                </a:solidFill>
              </a:defRPr>
            </a:lvl2pPr>
            <a:lvl3pPr marL="46104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3pPr>
            <a:lvl4pPr marL="69156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4pPr>
            <a:lvl5pPr marL="92208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5pPr>
            <a:lvl6pPr marL="115260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6pPr>
            <a:lvl7pPr marL="138312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7pPr>
            <a:lvl8pPr marL="161364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8pPr>
            <a:lvl9pPr marL="184416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GB"/>
              <a:t>Ahmed</a:t>
            </a:r>
            <a:r>
              <a:rPr lang="en-GB" spc="5"/>
              <a:t> </a:t>
            </a:r>
            <a:r>
              <a:rPr lang="en-GB" spc="-10"/>
              <a:t>Abubahia,</a:t>
            </a:r>
            <a:r>
              <a:rPr lang="en-GB" spc="10"/>
              <a:t> </a:t>
            </a:r>
            <a:r>
              <a:rPr lang="en-GB" spc="-25"/>
              <a:t>PhD</a:t>
            </a:r>
            <a:endParaRPr lang="en-GB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GB" smtClean="0"/>
              <a:t>‹#›</a:t>
            </a:fld>
            <a:r>
              <a:rPr lang="en-GB" spc="-10"/>
              <a:t> </a:t>
            </a:r>
            <a:r>
              <a:rPr lang="en-GB"/>
              <a:t>/</a:t>
            </a:r>
            <a:r>
              <a:rPr lang="en-GB" spc="-10"/>
              <a:t> </a:t>
            </a:r>
            <a:r>
              <a:rPr lang="en-GB" spc="-35"/>
              <a:t>27</a:t>
            </a:r>
            <a:endParaRPr lang="en-GB" spc="-35" dirty="0"/>
          </a:p>
        </p:txBody>
      </p:sp>
      <p:sp>
        <p:nvSpPr>
          <p:cNvPr id="24" name="TextBox 23"/>
          <p:cNvSpPr txBox="1"/>
          <p:nvPr/>
        </p:nvSpPr>
        <p:spPr>
          <a:xfrm>
            <a:off x="243367" y="398848"/>
            <a:ext cx="230565" cy="295095"/>
          </a:xfrm>
          <a:prstGeom prst="rect">
            <a:avLst/>
          </a:prstGeom>
        </p:spPr>
        <p:txBody>
          <a:bodyPr vert="horz" lIns="46101" tIns="23051" rIns="46101" bIns="23051" rtlCol="0" anchor="ctr">
            <a:noAutofit/>
          </a:bodyPr>
          <a:lstStyle/>
          <a:p>
            <a:pPr lvl="0"/>
            <a:r>
              <a:rPr lang="en-US" sz="4034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1965" y="1456642"/>
            <a:ext cx="230565" cy="295095"/>
          </a:xfrm>
          <a:prstGeom prst="rect">
            <a:avLst/>
          </a:prstGeom>
        </p:spPr>
        <p:txBody>
          <a:bodyPr vert="horz" lIns="46101" tIns="23051" rIns="46101" bIns="23051" rtlCol="0" anchor="ctr">
            <a:noAutofit/>
          </a:bodyPr>
          <a:lstStyle/>
          <a:p>
            <a:pPr lvl="0"/>
            <a:r>
              <a:rPr lang="en-US" sz="4034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05633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490" y="307622"/>
            <a:ext cx="3197155" cy="1525294"/>
          </a:xfrm>
        </p:spPr>
        <p:txBody>
          <a:bodyPr anchor="ctr">
            <a:normAutofit/>
          </a:bodyPr>
          <a:lstStyle>
            <a:lvl1pPr algn="l">
              <a:defRPr sz="2218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07338" y="2025180"/>
            <a:ext cx="3200307" cy="259505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210">
                <a:solidFill>
                  <a:schemeClr val="accent1"/>
                </a:solidFill>
              </a:defRPr>
            </a:lvl1pPr>
            <a:lvl2pPr marL="230520" indent="0">
              <a:buFontTx/>
              <a:buNone/>
              <a:defRPr/>
            </a:lvl2pPr>
            <a:lvl3pPr marL="461040" indent="0">
              <a:buFontTx/>
              <a:buNone/>
              <a:defRPr/>
            </a:lvl3pPr>
            <a:lvl4pPr marL="691561" indent="0">
              <a:buFontTx/>
              <a:buNone/>
              <a:defRPr/>
            </a:lvl4pPr>
            <a:lvl5pPr marL="92208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7339" y="2284684"/>
            <a:ext cx="3200306" cy="763966"/>
          </a:xfrm>
        </p:spPr>
        <p:txBody>
          <a:bodyPr anchor="t">
            <a:normAutofit/>
          </a:bodyPr>
          <a:lstStyle>
            <a:lvl1pPr marL="0" indent="0" algn="l">
              <a:buNone/>
              <a:defRPr sz="908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30520" indent="0">
              <a:buNone/>
              <a:defRPr sz="908">
                <a:solidFill>
                  <a:schemeClr val="tx1">
                    <a:tint val="75000"/>
                  </a:schemeClr>
                </a:solidFill>
              </a:defRPr>
            </a:lvl2pPr>
            <a:lvl3pPr marL="461040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3pPr>
            <a:lvl4pPr marL="69156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4pPr>
            <a:lvl5pPr marL="92208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5pPr>
            <a:lvl6pPr marL="115260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6pPr>
            <a:lvl7pPr marL="1383121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7pPr>
            <a:lvl8pPr marL="161364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8pPr>
            <a:lvl9pPr marL="1844162" indent="0">
              <a:buNone/>
              <a:defRPr sz="7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GB"/>
              <a:t>Ahmed</a:t>
            </a:r>
            <a:r>
              <a:rPr lang="en-GB" spc="5"/>
              <a:t> </a:t>
            </a:r>
            <a:r>
              <a:rPr lang="en-GB" spc="-10"/>
              <a:t>Abubahia,</a:t>
            </a:r>
            <a:r>
              <a:rPr lang="en-GB" spc="10"/>
              <a:t> </a:t>
            </a:r>
            <a:r>
              <a:rPr lang="en-GB" spc="-25"/>
              <a:t>PhD</a:t>
            </a:r>
            <a:endParaRPr lang="en-GB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GB" smtClean="0"/>
              <a:t>‹#›</a:t>
            </a:fld>
            <a:r>
              <a:rPr lang="en-GB" spc="-10"/>
              <a:t> </a:t>
            </a:r>
            <a:r>
              <a:rPr lang="en-GB"/>
              <a:t>/</a:t>
            </a:r>
            <a:r>
              <a:rPr lang="en-GB" spc="-10"/>
              <a:t> </a:t>
            </a:r>
            <a:r>
              <a:rPr lang="en-GB" spc="-35"/>
              <a:t>27</a:t>
            </a:r>
            <a:endParaRPr lang="en-GB" spc="-35" dirty="0"/>
          </a:p>
        </p:txBody>
      </p:sp>
    </p:spTree>
    <p:extLst>
      <p:ext uri="{BB962C8B-B14F-4D97-AF65-F5344CB8AC3E}">
        <p14:creationId xmlns:p14="http://schemas.microsoft.com/office/powerpoint/2010/main" val="9478849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GB"/>
              <a:t>Ahmed</a:t>
            </a:r>
            <a:r>
              <a:rPr lang="en-GB" spc="5"/>
              <a:t> </a:t>
            </a:r>
            <a:r>
              <a:rPr lang="en-GB" spc="-10"/>
              <a:t>Abubahia,</a:t>
            </a:r>
            <a:r>
              <a:rPr lang="en-GB" spc="10"/>
              <a:t> </a:t>
            </a:r>
            <a:r>
              <a:rPr lang="en-GB" spc="-25"/>
              <a:t>PhD</a:t>
            </a:r>
            <a:endParaRPr lang="en-GB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GB" smtClean="0"/>
              <a:t>‹#›</a:t>
            </a:fld>
            <a:r>
              <a:rPr lang="en-GB" spc="-10"/>
              <a:t> </a:t>
            </a:r>
            <a:r>
              <a:rPr lang="en-GB"/>
              <a:t>/</a:t>
            </a:r>
            <a:r>
              <a:rPr lang="en-GB" spc="-10"/>
              <a:t> </a:t>
            </a:r>
            <a:r>
              <a:rPr lang="en-GB" spc="-35"/>
              <a:t>27</a:t>
            </a:r>
            <a:endParaRPr lang="en-GB" spc="-35" dirty="0"/>
          </a:p>
        </p:txBody>
      </p:sp>
    </p:spTree>
    <p:extLst>
      <p:ext uri="{BB962C8B-B14F-4D97-AF65-F5344CB8AC3E}">
        <p14:creationId xmlns:p14="http://schemas.microsoft.com/office/powerpoint/2010/main" val="13654709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13562" y="307622"/>
            <a:ext cx="493484" cy="265003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7339" y="307622"/>
            <a:ext cx="2619159" cy="26500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GB"/>
              <a:t>Ahmed</a:t>
            </a:r>
            <a:r>
              <a:rPr lang="en-GB" spc="5"/>
              <a:t> </a:t>
            </a:r>
            <a:r>
              <a:rPr lang="en-GB" spc="-10"/>
              <a:t>Abubahia,</a:t>
            </a:r>
            <a:r>
              <a:rPr lang="en-GB" spc="10"/>
              <a:t> </a:t>
            </a:r>
            <a:r>
              <a:rPr lang="en-GB" spc="-25"/>
              <a:t>PhD</a:t>
            </a:r>
            <a:endParaRPr lang="en-GB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GB" smtClean="0"/>
              <a:t>‹#›</a:t>
            </a:fld>
            <a:r>
              <a:rPr lang="en-GB" spc="-10"/>
              <a:t> </a:t>
            </a:r>
            <a:r>
              <a:rPr lang="en-GB"/>
              <a:t>/</a:t>
            </a:r>
            <a:r>
              <a:rPr lang="en-GB" spc="-10"/>
              <a:t> </a:t>
            </a:r>
            <a:r>
              <a:rPr lang="en-GB" spc="-35"/>
              <a:t>27</a:t>
            </a:r>
            <a:endParaRPr lang="en-GB" spc="-35" dirty="0"/>
          </a:p>
        </p:txBody>
      </p:sp>
    </p:spTree>
    <p:extLst>
      <p:ext uri="{BB962C8B-B14F-4D97-AF65-F5344CB8AC3E}">
        <p14:creationId xmlns:p14="http://schemas.microsoft.com/office/powerpoint/2010/main" val="11266655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ncashire Divider 2">
    <p:bg>
      <p:bgPr>
        <a:solidFill>
          <a:srgbClr val="0D6B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ey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7247" y="0"/>
            <a:ext cx="1872853" cy="34607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27773" y="907049"/>
            <a:ext cx="2197374" cy="1397318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90000"/>
              </a:lnSpc>
              <a:defRPr sz="1815" b="1" i="0" baseline="0">
                <a:solidFill>
                  <a:srgbClr val="FFFFFF"/>
                </a:solidFill>
                <a:latin typeface="Figtree Lancashire" pitchFamily="2" charset="0"/>
                <a:cs typeface="Figtree Lancashire" pitchFamily="2" charset="0"/>
              </a:defRPr>
            </a:lvl1pPr>
          </a:lstStyle>
          <a:p>
            <a:r>
              <a:rPr lang="en-US" dirty="0"/>
              <a:t>Divider slides can act as breaks between sections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41054" y="192658"/>
            <a:ext cx="594491" cy="297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934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4269" y="-4273"/>
            <a:ext cx="4623110" cy="3469296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7340" y="307622"/>
            <a:ext cx="3200305" cy="6665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7339" y="1090298"/>
            <a:ext cx="3200306" cy="19583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25151" y="3048651"/>
            <a:ext cx="344917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7340" y="3048651"/>
            <a:ext cx="2330749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GB"/>
              <a:t>Ahmed</a:t>
            </a:r>
            <a:r>
              <a:rPr lang="en-GB" spc="5"/>
              <a:t> </a:t>
            </a:r>
            <a:r>
              <a:rPr lang="en-GB" spc="-10"/>
              <a:t>Abubahia,</a:t>
            </a:r>
            <a:r>
              <a:rPr lang="en-GB" spc="10"/>
              <a:t> </a:t>
            </a:r>
            <a:r>
              <a:rPr lang="en-GB" spc="-25"/>
              <a:t>PhD</a:t>
            </a:r>
            <a:endParaRPr lang="en-GB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49191" y="3048651"/>
            <a:ext cx="258455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4">
                <a:solidFill>
                  <a:schemeClr val="accent1"/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GB" smtClean="0"/>
              <a:t>‹#›</a:t>
            </a:fld>
            <a:r>
              <a:rPr lang="en-GB" spc="-10"/>
              <a:t> </a:t>
            </a:r>
            <a:r>
              <a:rPr lang="en-GB"/>
              <a:t>/</a:t>
            </a:r>
            <a:r>
              <a:rPr lang="en-GB" spc="-10"/>
              <a:t> </a:t>
            </a:r>
            <a:r>
              <a:rPr lang="en-GB" spc="-35"/>
              <a:t>27</a:t>
            </a:r>
            <a:endParaRPr lang="en-GB" spc="-35" dirty="0"/>
          </a:p>
        </p:txBody>
      </p:sp>
    </p:spTree>
    <p:extLst>
      <p:ext uri="{BB962C8B-B14F-4D97-AF65-F5344CB8AC3E}">
        <p14:creationId xmlns:p14="http://schemas.microsoft.com/office/powerpoint/2010/main" val="2113833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p:txStyles>
    <p:titleStyle>
      <a:lvl1pPr algn="l" defTabSz="230520" rtl="0" eaLnBrk="1" latinLnBrk="0" hangingPunct="1">
        <a:spcBef>
          <a:spcPct val="0"/>
        </a:spcBef>
        <a:buNone/>
        <a:defRPr sz="1815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72890" indent="-172890" algn="l" defTabSz="230520" rtl="0" eaLnBrk="1" latinLnBrk="0" hangingPunct="1">
        <a:spcBef>
          <a:spcPts val="504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8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74595" indent="-144075" algn="l" defTabSz="230520" rtl="0" eaLnBrk="1" latinLnBrk="0" hangingPunct="1">
        <a:spcBef>
          <a:spcPts val="504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80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76301" indent="-115260" algn="l" defTabSz="230520" rtl="0" eaLnBrk="1" latinLnBrk="0" hangingPunct="1">
        <a:spcBef>
          <a:spcPts val="504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706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6821" indent="-115260" algn="l" defTabSz="230520" rtl="0" eaLnBrk="1" latinLnBrk="0" hangingPunct="1">
        <a:spcBef>
          <a:spcPts val="504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60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37341" indent="-115260" algn="l" defTabSz="230520" rtl="0" eaLnBrk="1" latinLnBrk="0" hangingPunct="1">
        <a:spcBef>
          <a:spcPts val="504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60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67861" indent="-115260" algn="l" defTabSz="230520" rtl="0" eaLnBrk="1" latinLnBrk="0" hangingPunct="1">
        <a:spcBef>
          <a:spcPts val="504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60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498382" indent="-115260" algn="l" defTabSz="230520" rtl="0" eaLnBrk="1" latinLnBrk="0" hangingPunct="1">
        <a:spcBef>
          <a:spcPts val="504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60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728902" indent="-115260" algn="l" defTabSz="230520" rtl="0" eaLnBrk="1" latinLnBrk="0" hangingPunct="1">
        <a:spcBef>
          <a:spcPts val="504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60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959422" indent="-115260" algn="l" defTabSz="230520" rtl="0" eaLnBrk="1" latinLnBrk="0" hangingPunct="1">
        <a:spcBef>
          <a:spcPts val="504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60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3052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1pPr>
      <a:lvl2pPr marL="230520" algn="l" defTabSz="23052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2pPr>
      <a:lvl3pPr marL="461040" algn="l" defTabSz="23052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691561" algn="l" defTabSz="23052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922081" algn="l" defTabSz="23052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152601" algn="l" defTabSz="23052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383121" algn="l" defTabSz="23052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613642" algn="l" defTabSz="23052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844162" algn="l" defTabSz="23052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csrc.nist.gov/about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saca.org/credentialing/cisa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rm-inv.enisa.europa.eu/methods/rm_ra_methods.html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enisa.europa.eu/activities/risk-management/current-risk/risk-management-inventory/rm-isms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nisa.europa.eu/activities/risk-management/current-risk/risk-management-inventory/rm-isms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mc.com/blogs/risk-assessment-vs-vulnerability-assessment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vlpubs.nist.gov/nistpubs/Legacy/SP/nistspecialpublication800-30r1.pdf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cop.edu/information-technology-services/initiatives/resources-and-tools/sp800-30.pdf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cop.edu/information-technology-services/initiatives/resources-and-tools/sp800-30.pdf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nvlpubs.nist.gov/nistpubs/Legacy/SP/nistspecialpublication800-30r1.pdf" TargetMode="External"/><Relationship Id="rId2" Type="http://schemas.openxmlformats.org/officeDocument/2006/relationships/hyperlink" Target="http://www.iso27001security.com/html/27005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rocess.st/deming-cycle/#:~:text=The%20Deming%20cycle%20is%20a,Do%2C%20Study%2C%20and%20Act" TargetMode="External"/><Relationship Id="rId5" Type="http://schemas.openxmlformats.org/officeDocument/2006/relationships/hyperlink" Target="https://www.ucop.edu/information-technology-services/initiatives/resources-and-tools/sp800-30.pdf" TargetMode="External"/><Relationship Id="rId4" Type="http://schemas.openxmlformats.org/officeDocument/2006/relationships/hyperlink" Target="http://rminv.enisa.europa.eu/methods/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39CA08B-BCBE-83EE-5233-B6A659F2684F}"/>
              </a:ext>
            </a:extLst>
          </p:cNvPr>
          <p:cNvSpPr txBox="1">
            <a:spLocks/>
          </p:cNvSpPr>
          <p:nvPr/>
        </p:nvSpPr>
        <p:spPr>
          <a:xfrm>
            <a:off x="219248" y="2517920"/>
            <a:ext cx="4296303" cy="20013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8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67" b="1" i="0" kern="1200" baseline="0">
                <a:solidFill>
                  <a:srgbClr val="FFFFFF"/>
                </a:solidFill>
                <a:latin typeface="Avenir Next LT Pro" panose="020B0504020202020204" pitchFamily="34" charset="0"/>
                <a:ea typeface="+mj-ea"/>
                <a:cs typeface="Avenir Next LT Pro" panose="020B0504020202020204" pitchFamily="34" charset="0"/>
              </a:defRPr>
            </a:lvl1pPr>
          </a:lstStyle>
          <a:p>
            <a:pPr defTabSz="307305">
              <a:spcBef>
                <a:spcPct val="20000"/>
              </a:spcBef>
              <a:defRPr/>
            </a:pPr>
            <a:r>
              <a:rPr lang="en-GB" sz="1210" dirty="0"/>
              <a:t>Lecture 05 : IT Risk Management</a:t>
            </a:r>
          </a:p>
          <a:p>
            <a:pPr defTabSz="307305">
              <a:spcBef>
                <a:spcPct val="20000"/>
              </a:spcBef>
              <a:defRPr/>
            </a:pPr>
            <a:br>
              <a:rPr lang="en-US" sz="2420" dirty="0"/>
            </a:br>
            <a:endParaRPr lang="en-US" sz="242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4A13E6-850E-DB7F-1AED-806080FE3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498" y="1199603"/>
            <a:ext cx="2707253" cy="11647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CB99A95-0DF4-D72E-9384-DB33E3134C2C}"/>
              </a:ext>
            </a:extLst>
          </p:cNvPr>
          <p:cNvSpPr txBox="1">
            <a:spLocks/>
          </p:cNvSpPr>
          <p:nvPr/>
        </p:nvSpPr>
        <p:spPr>
          <a:xfrm>
            <a:off x="121000" y="955225"/>
            <a:ext cx="4296303" cy="29089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8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67" b="1" i="0" kern="1200" baseline="0">
                <a:solidFill>
                  <a:srgbClr val="FFFFFF"/>
                </a:solidFill>
                <a:latin typeface="Avenir Next LT Pro" panose="020B0504020202020204" pitchFamily="34" charset="0"/>
                <a:ea typeface="+mj-ea"/>
                <a:cs typeface="Avenir Next LT Pro" panose="020B0504020202020204" pitchFamily="34" charset="0"/>
              </a:defRPr>
            </a:lvl1pPr>
          </a:lstStyle>
          <a:p>
            <a:pPr defTabSz="307305">
              <a:spcBef>
                <a:spcPct val="20000"/>
              </a:spcBef>
              <a:defRPr/>
            </a:pPr>
            <a:r>
              <a:rPr lang="en-GB" sz="1411" dirty="0">
                <a:latin typeface="Avenir Next LT Pro"/>
              </a:rPr>
              <a:t>CO4512: Information Security Management</a:t>
            </a:r>
            <a:br>
              <a:rPr lang="en-US" sz="2420" dirty="0"/>
            </a:br>
            <a:endParaRPr lang="en-US" sz="242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E8AA5E-41AA-0D08-011F-FA999A4121C6}"/>
              </a:ext>
            </a:extLst>
          </p:cNvPr>
          <p:cNvSpPr txBox="1"/>
          <p:nvPr/>
        </p:nvSpPr>
        <p:spPr>
          <a:xfrm>
            <a:off x="184216" y="2718051"/>
            <a:ext cx="2305522" cy="255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230484">
              <a:spcBef>
                <a:spcPct val="20000"/>
              </a:spcBef>
              <a:defRPr/>
            </a:pPr>
            <a:r>
              <a:rPr lang="en-US" sz="1059" dirty="0">
                <a:solidFill>
                  <a:srgbClr val="FFFFFF"/>
                </a:solidFill>
                <a:latin typeface="Avenir Next LT Pro" panose="020B0504020202020204" pitchFamily="34" charset="0"/>
              </a:rPr>
              <a:t>Dr. Timi Enamamu</a:t>
            </a:r>
          </a:p>
        </p:txBody>
      </p:sp>
    </p:spTree>
    <p:extLst>
      <p:ext uri="{BB962C8B-B14F-4D97-AF65-F5344CB8AC3E}">
        <p14:creationId xmlns:p14="http://schemas.microsoft.com/office/powerpoint/2010/main" val="160726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338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0"/>
              </a:spcBef>
            </a:pPr>
            <a:r>
              <a:rPr sz="1400" dirty="0"/>
              <a:t>This</a:t>
            </a:r>
            <a:r>
              <a:rPr sz="1400" spc="-10" dirty="0"/>
              <a:t> </a:t>
            </a:r>
            <a:r>
              <a:rPr sz="1400" dirty="0"/>
              <a:t>lecture</a:t>
            </a:r>
            <a:r>
              <a:rPr sz="1400" spc="-5" dirty="0"/>
              <a:t> </a:t>
            </a:r>
            <a:r>
              <a:rPr sz="1400" dirty="0"/>
              <a:t>will</a:t>
            </a:r>
            <a:r>
              <a:rPr sz="1400" spc="-5" dirty="0"/>
              <a:t> </a:t>
            </a:r>
            <a:r>
              <a:rPr sz="1400" spc="-10" dirty="0"/>
              <a:t>cover</a:t>
            </a:r>
            <a:endParaRPr sz="1400" dirty="0"/>
          </a:p>
        </p:txBody>
      </p:sp>
      <p:sp>
        <p:nvSpPr>
          <p:cNvPr id="3" name="object 3"/>
          <p:cNvSpPr txBox="1"/>
          <p:nvPr/>
        </p:nvSpPr>
        <p:spPr>
          <a:xfrm>
            <a:off x="339686" y="788162"/>
            <a:ext cx="4175164" cy="917558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84150" indent="-172085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/>
              <a:buChar char=""/>
              <a:tabLst>
                <a:tab pos="184785" algn="l"/>
              </a:tabLst>
            </a:pPr>
            <a:r>
              <a:rPr sz="1200" dirty="0">
                <a:latin typeface="+mn-lt"/>
                <a:cs typeface="Arial"/>
              </a:rPr>
              <a:t>Risk</a:t>
            </a:r>
            <a:r>
              <a:rPr sz="1200" spc="-5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management</a:t>
            </a:r>
            <a:r>
              <a:rPr sz="1200" spc="-5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elements</a:t>
            </a:r>
            <a:r>
              <a:rPr sz="1200" spc="-45" dirty="0">
                <a:latin typeface="+mn-lt"/>
                <a:cs typeface="Arial"/>
              </a:rPr>
              <a:t> </a:t>
            </a:r>
            <a:r>
              <a:rPr lang="en-GB" sz="1200" spc="-45" dirty="0">
                <a:latin typeface="+mn-lt"/>
                <a:cs typeface="Arial"/>
              </a:rPr>
              <a:t>and</a:t>
            </a:r>
            <a:r>
              <a:rPr sz="1200" spc="-65" dirty="0">
                <a:latin typeface="+mn-lt"/>
                <a:cs typeface="Arial"/>
              </a:rPr>
              <a:t> </a:t>
            </a:r>
            <a:r>
              <a:rPr sz="1200" spc="-10" dirty="0">
                <a:latin typeface="+mn-lt"/>
                <a:cs typeface="Arial"/>
              </a:rPr>
              <a:t>relationships</a:t>
            </a:r>
            <a:endParaRPr sz="1200" dirty="0">
              <a:latin typeface="+mn-lt"/>
              <a:cs typeface="Arial"/>
            </a:endParaRPr>
          </a:p>
          <a:p>
            <a:pPr marL="184150" indent="-172085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/>
              <a:buChar char=""/>
              <a:tabLst>
                <a:tab pos="184785" algn="l"/>
              </a:tabLst>
            </a:pPr>
            <a:r>
              <a:rPr sz="1200" dirty="0">
                <a:latin typeface="+mn-lt"/>
                <a:cs typeface="Arial"/>
              </a:rPr>
              <a:t>Generic</a:t>
            </a:r>
            <a:r>
              <a:rPr sz="1200" spc="-55" dirty="0">
                <a:latin typeface="+mn-lt"/>
                <a:cs typeface="Arial"/>
              </a:rPr>
              <a:t> </a:t>
            </a:r>
            <a:r>
              <a:rPr lang="en-GB" sz="1200" spc="-55" dirty="0">
                <a:latin typeface="+mn-lt"/>
                <a:cs typeface="Arial"/>
              </a:rPr>
              <a:t>'</a:t>
            </a:r>
            <a:r>
              <a:rPr sz="1200" dirty="0">
                <a:latin typeface="+mn-lt"/>
                <a:cs typeface="Arial"/>
              </a:rPr>
              <a:t>risk</a:t>
            </a:r>
            <a:r>
              <a:rPr sz="1200" spc="-5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management</a:t>
            </a:r>
            <a:r>
              <a:rPr sz="1200" spc="-40" dirty="0">
                <a:latin typeface="+mn-lt"/>
                <a:cs typeface="Arial"/>
              </a:rPr>
              <a:t> </a:t>
            </a:r>
            <a:r>
              <a:rPr sz="1200" spc="-10" dirty="0">
                <a:latin typeface="+mn-lt"/>
                <a:cs typeface="Arial"/>
              </a:rPr>
              <a:t>cycle</a:t>
            </a:r>
            <a:r>
              <a:rPr lang="en-GB" sz="1200" spc="-10" dirty="0">
                <a:latin typeface="+mn-lt"/>
                <a:cs typeface="Arial"/>
              </a:rPr>
              <a:t>'</a:t>
            </a:r>
            <a:endParaRPr sz="1200" dirty="0">
              <a:latin typeface="+mn-lt"/>
              <a:cs typeface="Arial"/>
            </a:endParaRPr>
          </a:p>
          <a:p>
            <a:pPr marL="184150" marR="189865" indent="-172085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/>
              <a:buChar char=""/>
              <a:tabLst>
                <a:tab pos="184785" algn="l"/>
              </a:tabLst>
            </a:pPr>
            <a:r>
              <a:rPr sz="1200" dirty="0">
                <a:latin typeface="+mn-lt"/>
                <a:cs typeface="Arial"/>
              </a:rPr>
              <a:t>Different</a:t>
            </a:r>
            <a:r>
              <a:rPr sz="1200" spc="-1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approaches</a:t>
            </a:r>
            <a:r>
              <a:rPr sz="1200" spc="-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for</a:t>
            </a:r>
            <a:r>
              <a:rPr sz="1200" spc="-1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risk </a:t>
            </a:r>
            <a:r>
              <a:rPr sz="1200" spc="-10" dirty="0">
                <a:latin typeface="+mn-lt"/>
                <a:cs typeface="Arial"/>
              </a:rPr>
              <a:t>assessment </a:t>
            </a:r>
            <a:r>
              <a:rPr sz="1200" dirty="0">
                <a:latin typeface="+mn-lt"/>
                <a:cs typeface="Arial"/>
              </a:rPr>
              <a:t>(</a:t>
            </a:r>
            <a:r>
              <a:rPr sz="1200" dirty="0" err="1">
                <a:latin typeface="+mn-lt"/>
                <a:cs typeface="Arial"/>
              </a:rPr>
              <a:t>cont</a:t>
            </a:r>
            <a:r>
              <a:rPr lang="en-GB" sz="1200" dirty="0">
                <a:latin typeface="+mn-lt"/>
                <a:cs typeface="Arial"/>
              </a:rPr>
              <a:t>. next week)</a:t>
            </a:r>
            <a:endParaRPr sz="1200" dirty="0">
              <a:latin typeface="+mn-lt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26968"/>
            <a:ext cx="4608195" cy="129539"/>
          </a:xfrm>
          <a:custGeom>
            <a:avLst/>
            <a:gdLst/>
            <a:ahLst/>
            <a:cxnLst/>
            <a:rect l="l" t="t" r="r" b="b"/>
            <a:pathLst>
              <a:path w="4608195" h="129539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129032"/>
                </a:lnTo>
                <a:lnTo>
                  <a:pt x="1520647" y="129032"/>
                </a:lnTo>
                <a:lnTo>
                  <a:pt x="3087344" y="129032"/>
                </a:lnTo>
                <a:lnTo>
                  <a:pt x="3087344" y="0"/>
                </a:lnTo>
                <a:close/>
              </a:path>
              <a:path w="4608195" h="129539">
                <a:moveTo>
                  <a:pt x="4608004" y="0"/>
                </a:moveTo>
                <a:lnTo>
                  <a:pt x="3087357" y="0"/>
                </a:lnTo>
                <a:lnTo>
                  <a:pt x="3087357" y="129032"/>
                </a:lnTo>
                <a:lnTo>
                  <a:pt x="4608004" y="129032"/>
                </a:lnTo>
                <a:lnTo>
                  <a:pt x="4608004" y="0"/>
                </a:lnTo>
                <a:close/>
              </a:path>
            </a:pathLst>
          </a:custGeom>
          <a:solidFill>
            <a:srgbClr val="387BB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338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0"/>
              </a:spcBef>
            </a:pPr>
            <a:r>
              <a:rPr sz="1400" dirty="0"/>
              <a:t>Reminder:</a:t>
            </a:r>
            <a:r>
              <a:rPr sz="1400" spc="-55" dirty="0"/>
              <a:t> </a:t>
            </a:r>
            <a:r>
              <a:rPr sz="1400" dirty="0"/>
              <a:t>Asset,</a:t>
            </a:r>
            <a:r>
              <a:rPr sz="1400" spc="-65" dirty="0"/>
              <a:t> </a:t>
            </a:r>
            <a:r>
              <a:rPr sz="1400" spc="-10" dirty="0"/>
              <a:t>Vulnerability</a:t>
            </a:r>
            <a:endParaRPr sz="1400"/>
          </a:p>
        </p:txBody>
      </p:sp>
      <p:sp>
        <p:nvSpPr>
          <p:cNvPr id="3" name="object 3"/>
          <p:cNvSpPr txBox="1"/>
          <p:nvPr/>
        </p:nvSpPr>
        <p:spPr>
          <a:xfrm>
            <a:off x="383578" y="731164"/>
            <a:ext cx="4086225" cy="19466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marR="5080" indent="-17145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184150" algn="l"/>
              </a:tabLst>
            </a:pPr>
            <a:r>
              <a:rPr sz="1200" dirty="0">
                <a:solidFill>
                  <a:srgbClr val="0000FF"/>
                </a:solidFill>
                <a:latin typeface="+mn-lt"/>
                <a:cs typeface="Arial"/>
              </a:rPr>
              <a:t>Asset:</a:t>
            </a:r>
            <a:r>
              <a:rPr sz="1200" spc="-15" dirty="0">
                <a:solidFill>
                  <a:srgbClr val="0000FF"/>
                </a:solidFill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anything that</a:t>
            </a:r>
            <a:r>
              <a:rPr sz="1200" spc="-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has value</a:t>
            </a:r>
            <a:r>
              <a:rPr sz="1200" spc="-1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to the</a:t>
            </a:r>
            <a:r>
              <a:rPr sz="1200" spc="10" dirty="0">
                <a:latin typeface="+mn-lt"/>
                <a:cs typeface="Arial"/>
              </a:rPr>
              <a:t> </a:t>
            </a:r>
            <a:r>
              <a:rPr sz="1200" spc="-10" dirty="0">
                <a:latin typeface="+mn-lt"/>
                <a:cs typeface="Arial"/>
              </a:rPr>
              <a:t>organization </a:t>
            </a:r>
            <a:r>
              <a:rPr sz="1200" dirty="0">
                <a:latin typeface="+mn-lt"/>
                <a:cs typeface="Arial"/>
              </a:rPr>
              <a:t>and</a:t>
            </a:r>
            <a:r>
              <a:rPr sz="1200" spc="-5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which</a:t>
            </a:r>
            <a:r>
              <a:rPr sz="1200" spc="-4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therefore</a:t>
            </a:r>
            <a:r>
              <a:rPr sz="1200" spc="-5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requires</a:t>
            </a:r>
            <a:r>
              <a:rPr sz="1200" spc="-45" dirty="0">
                <a:latin typeface="+mn-lt"/>
                <a:cs typeface="Arial"/>
              </a:rPr>
              <a:t> </a:t>
            </a:r>
            <a:r>
              <a:rPr sz="1200" spc="-10" dirty="0">
                <a:latin typeface="+mn-lt"/>
                <a:cs typeface="Arial"/>
              </a:rPr>
              <a:t>protection</a:t>
            </a:r>
            <a:endParaRPr sz="1200" dirty="0">
              <a:latin typeface="+mn-lt"/>
              <a:cs typeface="Arial"/>
            </a:endParaRPr>
          </a:p>
          <a:p>
            <a:pPr marL="384175" lvl="1" indent="-143510">
              <a:lnSpc>
                <a:spcPct val="100000"/>
              </a:lnSpc>
              <a:spcBef>
                <a:spcPts val="270"/>
              </a:spcBef>
              <a:buChar char="–"/>
              <a:tabLst>
                <a:tab pos="384810" algn="l"/>
              </a:tabLst>
            </a:pPr>
            <a:r>
              <a:rPr sz="1200" dirty="0">
                <a:latin typeface="+mn-lt"/>
                <a:cs typeface="Arial"/>
              </a:rPr>
              <a:t>The</a:t>
            </a:r>
            <a:r>
              <a:rPr sz="1200" spc="-3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asset</a:t>
            </a:r>
            <a:r>
              <a:rPr sz="1200" spc="-3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owner</a:t>
            </a:r>
            <a:r>
              <a:rPr sz="1200" spc="-2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may</a:t>
            </a:r>
            <a:r>
              <a:rPr sz="1200" spc="-2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not</a:t>
            </a:r>
            <a:r>
              <a:rPr sz="1200" spc="-2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have</a:t>
            </a:r>
            <a:r>
              <a:rPr sz="1200" spc="-20" dirty="0">
                <a:latin typeface="+mn-lt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+mn-lt"/>
                <a:cs typeface="Arial"/>
              </a:rPr>
              <a:t>property</a:t>
            </a:r>
            <a:r>
              <a:rPr sz="1200" spc="-25" dirty="0">
                <a:solidFill>
                  <a:srgbClr val="0000FF"/>
                </a:solidFill>
                <a:latin typeface="+mn-lt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+mn-lt"/>
                <a:cs typeface="Arial"/>
              </a:rPr>
              <a:t>rights</a:t>
            </a:r>
            <a:r>
              <a:rPr sz="1200" spc="-20" dirty="0">
                <a:solidFill>
                  <a:srgbClr val="0000FF"/>
                </a:solidFill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to</a:t>
            </a:r>
            <a:r>
              <a:rPr sz="1200" spc="-2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the</a:t>
            </a:r>
            <a:r>
              <a:rPr sz="1200" spc="-30" dirty="0">
                <a:latin typeface="+mn-lt"/>
                <a:cs typeface="Arial"/>
              </a:rPr>
              <a:t> </a:t>
            </a:r>
            <a:r>
              <a:rPr sz="1200" spc="-10" dirty="0">
                <a:latin typeface="+mn-lt"/>
                <a:cs typeface="Arial"/>
              </a:rPr>
              <a:t>asset</a:t>
            </a:r>
            <a:endParaRPr sz="1200" dirty="0">
              <a:latin typeface="+mn-lt"/>
              <a:cs typeface="Arial"/>
            </a:endParaRPr>
          </a:p>
          <a:p>
            <a:pPr marL="384175" lvl="1" indent="-143510">
              <a:lnSpc>
                <a:spcPct val="100000"/>
              </a:lnSpc>
              <a:spcBef>
                <a:spcPts val="265"/>
              </a:spcBef>
              <a:buChar char="–"/>
              <a:tabLst>
                <a:tab pos="384810" algn="l"/>
              </a:tabLst>
            </a:pPr>
            <a:r>
              <a:rPr sz="1200" dirty="0">
                <a:latin typeface="+mn-lt"/>
                <a:cs typeface="Arial"/>
              </a:rPr>
              <a:t>but</a:t>
            </a:r>
            <a:r>
              <a:rPr sz="1200" spc="-1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has </a:t>
            </a:r>
            <a:r>
              <a:rPr sz="1200" dirty="0">
                <a:solidFill>
                  <a:srgbClr val="0000FF"/>
                </a:solidFill>
                <a:latin typeface="+mn-lt"/>
                <a:cs typeface="Arial"/>
              </a:rPr>
              <a:t>responsibility</a:t>
            </a:r>
            <a:r>
              <a:rPr sz="1200" spc="-5" dirty="0">
                <a:solidFill>
                  <a:srgbClr val="0000FF"/>
                </a:solidFill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for</a:t>
            </a:r>
            <a:r>
              <a:rPr sz="1200" spc="-1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its</a:t>
            </a:r>
            <a:r>
              <a:rPr sz="1200" spc="-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production,</a:t>
            </a:r>
            <a:r>
              <a:rPr sz="1200" spc="-5" dirty="0">
                <a:latin typeface="+mn-lt"/>
                <a:cs typeface="Arial"/>
              </a:rPr>
              <a:t> </a:t>
            </a:r>
            <a:r>
              <a:rPr sz="1200" spc="-10" dirty="0">
                <a:latin typeface="+mn-lt"/>
                <a:cs typeface="Arial"/>
              </a:rPr>
              <a:t>development,</a:t>
            </a:r>
            <a:endParaRPr sz="1200" dirty="0">
              <a:latin typeface="+mn-lt"/>
              <a:cs typeface="Arial"/>
            </a:endParaRPr>
          </a:p>
          <a:p>
            <a:pPr marL="384175">
              <a:lnSpc>
                <a:spcPct val="100000"/>
              </a:lnSpc>
            </a:pPr>
            <a:r>
              <a:rPr sz="1200" spc="-10" dirty="0">
                <a:latin typeface="+mn-lt"/>
                <a:cs typeface="Arial"/>
              </a:rPr>
              <a:t>maintenance,</a:t>
            </a:r>
            <a:r>
              <a:rPr sz="1200" dirty="0">
                <a:latin typeface="+mn-lt"/>
                <a:cs typeface="Arial"/>
              </a:rPr>
              <a:t> use</a:t>
            </a:r>
            <a:r>
              <a:rPr sz="1200" spc="-1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and</a:t>
            </a:r>
            <a:r>
              <a:rPr sz="1200" spc="-5" dirty="0">
                <a:latin typeface="+mn-lt"/>
                <a:cs typeface="Arial"/>
              </a:rPr>
              <a:t> </a:t>
            </a:r>
            <a:r>
              <a:rPr sz="1200" spc="-10" dirty="0">
                <a:latin typeface="+mn-lt"/>
                <a:cs typeface="Arial"/>
              </a:rPr>
              <a:t>security.</a:t>
            </a:r>
            <a:endParaRPr sz="1200" dirty="0">
              <a:latin typeface="+mn-lt"/>
              <a:cs typeface="Arial"/>
            </a:endParaRPr>
          </a:p>
          <a:p>
            <a:pPr>
              <a:lnSpc>
                <a:spcPct val="100000"/>
              </a:lnSpc>
            </a:pPr>
            <a:endParaRPr sz="1200" dirty="0">
              <a:latin typeface="+mn-lt"/>
              <a:cs typeface="Arial"/>
            </a:endParaRPr>
          </a:p>
          <a:p>
            <a:pPr marL="184150" indent="-171450">
              <a:lnSpc>
                <a:spcPct val="100000"/>
              </a:lnSpc>
              <a:spcBef>
                <a:spcPts val="819"/>
              </a:spcBef>
              <a:buFont typeface="Wingdings"/>
              <a:buChar char=""/>
              <a:tabLst>
                <a:tab pos="184150" algn="l"/>
              </a:tabLst>
            </a:pPr>
            <a:r>
              <a:rPr sz="1200" dirty="0">
                <a:solidFill>
                  <a:srgbClr val="0000FF"/>
                </a:solidFill>
                <a:latin typeface="+mn-lt"/>
                <a:cs typeface="Arial"/>
              </a:rPr>
              <a:t>Vulnerability:</a:t>
            </a:r>
            <a:r>
              <a:rPr sz="1200" spc="-5" dirty="0">
                <a:solidFill>
                  <a:srgbClr val="0000FF"/>
                </a:solidFill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a</a:t>
            </a:r>
            <a:r>
              <a:rPr sz="1200" spc="-1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weakness</a:t>
            </a:r>
            <a:r>
              <a:rPr sz="1200" spc="-1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that</a:t>
            </a:r>
            <a:r>
              <a:rPr sz="1200" spc="-1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might</a:t>
            </a:r>
            <a:r>
              <a:rPr sz="1200" spc="-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be</a:t>
            </a:r>
            <a:r>
              <a:rPr sz="1200" spc="-5" dirty="0">
                <a:latin typeface="+mn-lt"/>
                <a:cs typeface="Arial"/>
              </a:rPr>
              <a:t> </a:t>
            </a:r>
            <a:r>
              <a:rPr sz="1200" spc="-10" dirty="0">
                <a:latin typeface="+mn-lt"/>
                <a:cs typeface="Arial"/>
              </a:rPr>
              <a:t>exploited</a:t>
            </a:r>
            <a:endParaRPr sz="1200" dirty="0">
              <a:latin typeface="+mn-lt"/>
              <a:cs typeface="Arial"/>
            </a:endParaRPr>
          </a:p>
          <a:p>
            <a:pPr marL="384175" lvl="1" indent="-143510">
              <a:lnSpc>
                <a:spcPct val="100000"/>
              </a:lnSpc>
              <a:spcBef>
                <a:spcPts val="270"/>
              </a:spcBef>
              <a:buChar char="–"/>
              <a:tabLst>
                <a:tab pos="384810" algn="l"/>
              </a:tabLst>
            </a:pPr>
            <a:r>
              <a:rPr sz="1200" dirty="0">
                <a:latin typeface="+mn-lt"/>
                <a:cs typeface="Arial"/>
              </a:rPr>
              <a:t>an</a:t>
            </a:r>
            <a:r>
              <a:rPr sz="1200" spc="-1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incorrectly </a:t>
            </a:r>
            <a:r>
              <a:rPr sz="1200" spc="-10" dirty="0">
                <a:latin typeface="+mn-lt"/>
                <a:cs typeface="Arial"/>
              </a:rPr>
              <a:t>implemented</a:t>
            </a:r>
            <a:r>
              <a:rPr sz="1200" spc="1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or</a:t>
            </a:r>
            <a:r>
              <a:rPr sz="1200" spc="-5" dirty="0">
                <a:latin typeface="+mn-lt"/>
                <a:cs typeface="Arial"/>
              </a:rPr>
              <a:t> </a:t>
            </a:r>
            <a:r>
              <a:rPr sz="1200" spc="-10" dirty="0">
                <a:latin typeface="+mn-lt"/>
                <a:cs typeface="Arial"/>
              </a:rPr>
              <a:t>malfunctioning</a:t>
            </a:r>
            <a:r>
              <a:rPr sz="1200" dirty="0">
                <a:latin typeface="+mn-lt"/>
                <a:cs typeface="Arial"/>
              </a:rPr>
              <a:t> </a:t>
            </a:r>
            <a:r>
              <a:rPr sz="1200" spc="-10" dirty="0">
                <a:latin typeface="+mn-lt"/>
                <a:cs typeface="Arial"/>
              </a:rPr>
              <a:t>control,</a:t>
            </a:r>
            <a:endParaRPr sz="1200" dirty="0">
              <a:latin typeface="+mn-lt"/>
              <a:cs typeface="Arial"/>
            </a:endParaRPr>
          </a:p>
          <a:p>
            <a:pPr marL="384175" lvl="1" indent="-143510">
              <a:lnSpc>
                <a:spcPct val="100000"/>
              </a:lnSpc>
              <a:spcBef>
                <a:spcPts val="265"/>
              </a:spcBef>
              <a:buChar char="–"/>
              <a:tabLst>
                <a:tab pos="384810" algn="l"/>
              </a:tabLst>
            </a:pPr>
            <a:r>
              <a:rPr sz="1200" dirty="0">
                <a:latin typeface="+mn-lt"/>
                <a:cs typeface="Arial"/>
              </a:rPr>
              <a:t>good</a:t>
            </a:r>
            <a:r>
              <a:rPr sz="1200" spc="-4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control</a:t>
            </a:r>
            <a:r>
              <a:rPr sz="1200" spc="-4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being</a:t>
            </a:r>
            <a:r>
              <a:rPr sz="1200" spc="-3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used</a:t>
            </a:r>
            <a:r>
              <a:rPr sz="1200" spc="-35" dirty="0">
                <a:latin typeface="+mn-lt"/>
                <a:cs typeface="Arial"/>
              </a:rPr>
              <a:t> </a:t>
            </a:r>
            <a:r>
              <a:rPr sz="1200" spc="-10" dirty="0">
                <a:latin typeface="+mn-lt"/>
                <a:cs typeface="Arial"/>
              </a:rPr>
              <a:t>incorrectly.</a:t>
            </a:r>
            <a:endParaRPr sz="1200" dirty="0">
              <a:latin typeface="+mn-lt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26968"/>
            <a:ext cx="4608195" cy="129539"/>
          </a:xfrm>
          <a:custGeom>
            <a:avLst/>
            <a:gdLst/>
            <a:ahLst/>
            <a:cxnLst/>
            <a:rect l="l" t="t" r="r" b="b"/>
            <a:pathLst>
              <a:path w="4608195" h="129539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129032"/>
                </a:lnTo>
                <a:lnTo>
                  <a:pt x="1520647" y="129032"/>
                </a:lnTo>
                <a:lnTo>
                  <a:pt x="3087344" y="129032"/>
                </a:lnTo>
                <a:lnTo>
                  <a:pt x="3087344" y="0"/>
                </a:lnTo>
                <a:close/>
              </a:path>
              <a:path w="4608195" h="129539">
                <a:moveTo>
                  <a:pt x="4608004" y="0"/>
                </a:moveTo>
                <a:lnTo>
                  <a:pt x="3087357" y="0"/>
                </a:lnTo>
                <a:lnTo>
                  <a:pt x="3087357" y="129032"/>
                </a:lnTo>
                <a:lnTo>
                  <a:pt x="4608004" y="129032"/>
                </a:lnTo>
                <a:lnTo>
                  <a:pt x="4608004" y="0"/>
                </a:lnTo>
                <a:close/>
              </a:path>
            </a:pathLst>
          </a:custGeom>
          <a:solidFill>
            <a:srgbClr val="387BB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179" y="192112"/>
            <a:ext cx="4004945" cy="340028"/>
          </a:xfrm>
          <a:prstGeom prst="rect">
            <a:avLst/>
          </a:prstGeom>
        </p:spPr>
        <p:txBody>
          <a:bodyPr vert="horz" wrap="square" lIns="0" tIns="12338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0"/>
              </a:spcBef>
            </a:pPr>
            <a:r>
              <a:rPr lang="en-GB" sz="1400" spc="-10" dirty="0"/>
              <a:t>Terminology: ‘</a:t>
            </a:r>
            <a:r>
              <a:rPr sz="1400" spc="-10" dirty="0" err="1"/>
              <a:t>Threa</a:t>
            </a:r>
            <a:r>
              <a:rPr lang="en-GB" sz="1400" spc="-10" dirty="0"/>
              <a:t>t’</a:t>
            </a:r>
            <a:endParaRPr sz="1400" dirty="0"/>
          </a:p>
        </p:txBody>
      </p:sp>
      <p:sp>
        <p:nvSpPr>
          <p:cNvPr id="3" name="object 3"/>
          <p:cNvSpPr txBox="1"/>
          <p:nvPr/>
        </p:nvSpPr>
        <p:spPr>
          <a:xfrm>
            <a:off x="339686" y="831900"/>
            <a:ext cx="4298950" cy="21572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marR="5080" indent="-172085">
              <a:lnSpc>
                <a:spcPct val="114000"/>
              </a:lnSpc>
              <a:spcBef>
                <a:spcPts val="100"/>
              </a:spcBef>
              <a:buFont typeface="Wingdings"/>
              <a:buChar char=""/>
              <a:tabLst>
                <a:tab pos="184785" algn="l"/>
              </a:tabLst>
            </a:pPr>
            <a:r>
              <a:rPr sz="1200" dirty="0">
                <a:latin typeface="+mn-lt"/>
                <a:cs typeface="Arial"/>
              </a:rPr>
              <a:t>Def</a:t>
            </a:r>
            <a:r>
              <a:rPr sz="1200" spc="-1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(Generic):</a:t>
            </a:r>
            <a:r>
              <a:rPr sz="1200" spc="-25" dirty="0">
                <a:latin typeface="+mn-lt"/>
                <a:cs typeface="Arial"/>
              </a:rPr>
              <a:t> </a:t>
            </a:r>
            <a:r>
              <a:rPr sz="1200" i="1" dirty="0">
                <a:latin typeface="+mn-lt"/>
                <a:cs typeface="Arial"/>
              </a:rPr>
              <a:t>A</a:t>
            </a:r>
            <a:r>
              <a:rPr sz="1200" i="1" spc="-15" dirty="0">
                <a:latin typeface="+mn-lt"/>
                <a:cs typeface="Arial"/>
              </a:rPr>
              <a:t> </a:t>
            </a:r>
            <a:r>
              <a:rPr sz="1200" i="1" dirty="0">
                <a:latin typeface="+mn-lt"/>
                <a:cs typeface="Arial"/>
              </a:rPr>
              <a:t>possibility</a:t>
            </a:r>
            <a:r>
              <a:rPr sz="1200" i="1" spc="5" dirty="0">
                <a:latin typeface="+mn-lt"/>
                <a:cs typeface="Arial"/>
              </a:rPr>
              <a:t> </a:t>
            </a:r>
            <a:r>
              <a:rPr sz="1200" i="1" dirty="0">
                <a:latin typeface="+mn-lt"/>
                <a:cs typeface="Arial"/>
              </a:rPr>
              <a:t>that</a:t>
            </a:r>
            <a:r>
              <a:rPr sz="1200" i="1" spc="-15" dirty="0">
                <a:latin typeface="+mn-lt"/>
                <a:cs typeface="Arial"/>
              </a:rPr>
              <a:t> </a:t>
            </a:r>
            <a:r>
              <a:rPr sz="1200" i="1" dirty="0">
                <a:latin typeface="+mn-lt"/>
                <a:cs typeface="Arial"/>
              </a:rPr>
              <a:t>a</a:t>
            </a:r>
            <a:r>
              <a:rPr sz="1200" i="1" spc="-20" dirty="0">
                <a:latin typeface="+mn-lt"/>
                <a:cs typeface="Arial"/>
              </a:rPr>
              <a:t> </a:t>
            </a:r>
            <a:r>
              <a:rPr sz="1200" i="1" dirty="0">
                <a:solidFill>
                  <a:srgbClr val="0000FF"/>
                </a:solidFill>
                <a:latin typeface="+mn-lt"/>
                <a:cs typeface="Arial"/>
              </a:rPr>
              <a:t>vulnerability</a:t>
            </a:r>
            <a:r>
              <a:rPr sz="1200" i="1" spc="10" dirty="0">
                <a:solidFill>
                  <a:srgbClr val="0000FF"/>
                </a:solidFill>
                <a:latin typeface="+mn-lt"/>
                <a:cs typeface="Arial"/>
              </a:rPr>
              <a:t> </a:t>
            </a:r>
            <a:r>
              <a:rPr sz="1200" i="1" dirty="0">
                <a:latin typeface="+mn-lt"/>
                <a:cs typeface="Arial"/>
              </a:rPr>
              <a:t>in</a:t>
            </a:r>
            <a:r>
              <a:rPr sz="1200" i="1" spc="-20" dirty="0">
                <a:latin typeface="+mn-lt"/>
                <a:cs typeface="Arial"/>
              </a:rPr>
              <a:t> </a:t>
            </a:r>
            <a:r>
              <a:rPr sz="1200" i="1" dirty="0">
                <a:latin typeface="+mn-lt"/>
                <a:cs typeface="Arial"/>
              </a:rPr>
              <a:t>your</a:t>
            </a:r>
            <a:r>
              <a:rPr sz="1200" i="1" spc="-15" dirty="0">
                <a:latin typeface="+mn-lt"/>
                <a:cs typeface="Arial"/>
              </a:rPr>
              <a:t> </a:t>
            </a:r>
            <a:r>
              <a:rPr sz="1200" i="1" spc="-10" dirty="0">
                <a:latin typeface="+mn-lt"/>
                <a:cs typeface="Arial"/>
              </a:rPr>
              <a:t>system </a:t>
            </a:r>
            <a:r>
              <a:rPr sz="1200" i="1" dirty="0">
                <a:latin typeface="+mn-lt"/>
                <a:cs typeface="Arial"/>
              </a:rPr>
              <a:t>is</a:t>
            </a:r>
            <a:r>
              <a:rPr sz="1200" i="1" spc="-10" dirty="0">
                <a:latin typeface="+mn-lt"/>
                <a:cs typeface="Arial"/>
              </a:rPr>
              <a:t> </a:t>
            </a:r>
            <a:r>
              <a:rPr sz="1200" i="1" dirty="0">
                <a:solidFill>
                  <a:srgbClr val="0000FF"/>
                </a:solidFill>
                <a:latin typeface="+mn-lt"/>
                <a:cs typeface="Arial"/>
              </a:rPr>
              <a:t>exploited </a:t>
            </a:r>
            <a:r>
              <a:rPr sz="1200" i="1" dirty="0">
                <a:latin typeface="+mn-lt"/>
                <a:cs typeface="Arial"/>
              </a:rPr>
              <a:t>causing harm</a:t>
            </a:r>
            <a:r>
              <a:rPr sz="1200" i="1" spc="-10" dirty="0">
                <a:latin typeface="+mn-lt"/>
                <a:cs typeface="Arial"/>
              </a:rPr>
              <a:t> </a:t>
            </a:r>
            <a:r>
              <a:rPr sz="1200" i="1" dirty="0">
                <a:latin typeface="+mn-lt"/>
                <a:cs typeface="Arial"/>
              </a:rPr>
              <a:t>to</a:t>
            </a:r>
            <a:r>
              <a:rPr sz="1200" i="1" spc="-20" dirty="0">
                <a:latin typeface="+mn-lt"/>
                <a:cs typeface="Arial"/>
              </a:rPr>
              <a:t> </a:t>
            </a:r>
            <a:r>
              <a:rPr sz="1200" i="1" dirty="0">
                <a:latin typeface="+mn-lt"/>
                <a:cs typeface="Arial"/>
              </a:rPr>
              <a:t>your</a:t>
            </a:r>
            <a:r>
              <a:rPr sz="1200" i="1" spc="-5" dirty="0">
                <a:latin typeface="+mn-lt"/>
                <a:cs typeface="Arial"/>
              </a:rPr>
              <a:t> </a:t>
            </a:r>
            <a:r>
              <a:rPr sz="1200" i="1" spc="-10" dirty="0">
                <a:latin typeface="+mn-lt"/>
                <a:cs typeface="Arial"/>
              </a:rPr>
              <a:t>organization.</a:t>
            </a:r>
            <a:endParaRPr sz="1200" i="1" dirty="0">
              <a:latin typeface="+mn-lt"/>
              <a:cs typeface="Arial"/>
            </a:endParaRPr>
          </a:p>
          <a:p>
            <a:pPr>
              <a:lnSpc>
                <a:spcPct val="114000"/>
              </a:lnSpc>
              <a:buFont typeface="Wingdings"/>
              <a:buChar char=""/>
            </a:pPr>
            <a:endParaRPr sz="1200" dirty="0">
              <a:latin typeface="+mn-lt"/>
              <a:cs typeface="Arial"/>
            </a:endParaRPr>
          </a:p>
          <a:p>
            <a:pPr marL="184150" marR="31750" indent="-172085">
              <a:lnSpc>
                <a:spcPct val="114000"/>
              </a:lnSpc>
              <a:spcBef>
                <a:spcPts val="5"/>
              </a:spcBef>
              <a:buFont typeface="Wingdings"/>
              <a:buChar char=""/>
              <a:tabLst>
                <a:tab pos="184785" algn="l"/>
              </a:tabLst>
            </a:pPr>
            <a:r>
              <a:rPr sz="1200" dirty="0">
                <a:latin typeface="+mn-lt"/>
                <a:cs typeface="Arial"/>
              </a:rPr>
              <a:t>Def</a:t>
            </a:r>
            <a:r>
              <a:rPr sz="1200" spc="-1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(ENISA):</a:t>
            </a:r>
            <a:r>
              <a:rPr sz="1200" spc="-15" dirty="0">
                <a:latin typeface="+mn-lt"/>
                <a:cs typeface="Arial"/>
              </a:rPr>
              <a:t> </a:t>
            </a:r>
            <a:r>
              <a:rPr sz="1200" i="1" dirty="0">
                <a:latin typeface="+mn-lt"/>
                <a:cs typeface="Arial"/>
              </a:rPr>
              <a:t>Any</a:t>
            </a:r>
            <a:r>
              <a:rPr sz="1200" i="1" spc="-10" dirty="0">
                <a:latin typeface="+mn-lt"/>
                <a:cs typeface="Arial"/>
              </a:rPr>
              <a:t> </a:t>
            </a:r>
            <a:r>
              <a:rPr sz="1200" i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+mn-lt"/>
                <a:cs typeface="Arial"/>
              </a:rPr>
              <a:t>circumstance or</a:t>
            </a:r>
            <a:r>
              <a:rPr sz="1200" i="1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+mn-lt"/>
                <a:cs typeface="Arial"/>
              </a:rPr>
              <a:t> </a:t>
            </a:r>
            <a:r>
              <a:rPr sz="1200" i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+mn-lt"/>
                <a:cs typeface="Arial"/>
              </a:rPr>
              <a:t>event</a:t>
            </a:r>
            <a:r>
              <a:rPr sz="1200" i="1" spc="-10" dirty="0">
                <a:solidFill>
                  <a:srgbClr val="0000FF"/>
                </a:solidFill>
                <a:latin typeface="+mn-lt"/>
                <a:cs typeface="Arial"/>
              </a:rPr>
              <a:t> </a:t>
            </a:r>
            <a:r>
              <a:rPr sz="1200" i="1" dirty="0">
                <a:latin typeface="+mn-lt"/>
                <a:cs typeface="Arial"/>
              </a:rPr>
              <a:t>with</a:t>
            </a:r>
            <a:r>
              <a:rPr sz="1200" i="1" spc="-10" dirty="0">
                <a:latin typeface="+mn-lt"/>
                <a:cs typeface="Arial"/>
              </a:rPr>
              <a:t> </a:t>
            </a:r>
            <a:r>
              <a:rPr sz="1200" i="1" dirty="0">
                <a:latin typeface="+mn-lt"/>
                <a:cs typeface="Arial"/>
              </a:rPr>
              <a:t>the</a:t>
            </a:r>
            <a:r>
              <a:rPr sz="1200" i="1" spc="-10" dirty="0">
                <a:latin typeface="+mn-lt"/>
                <a:cs typeface="Arial"/>
              </a:rPr>
              <a:t> </a:t>
            </a:r>
            <a:r>
              <a:rPr sz="1200" i="1" dirty="0">
                <a:latin typeface="+mn-lt"/>
                <a:cs typeface="Arial"/>
              </a:rPr>
              <a:t>potential</a:t>
            </a:r>
            <a:r>
              <a:rPr sz="1200" i="1" spc="-15" dirty="0">
                <a:latin typeface="+mn-lt"/>
                <a:cs typeface="Arial"/>
              </a:rPr>
              <a:t> </a:t>
            </a:r>
            <a:r>
              <a:rPr sz="1200" i="1" spc="-25" dirty="0">
                <a:latin typeface="+mn-lt"/>
                <a:cs typeface="Arial"/>
              </a:rPr>
              <a:t>to </a:t>
            </a:r>
            <a:r>
              <a:rPr sz="1200" i="1" dirty="0">
                <a:latin typeface="+mn-lt"/>
                <a:cs typeface="Arial"/>
              </a:rPr>
              <a:t>adversely</a:t>
            </a:r>
            <a:r>
              <a:rPr sz="1200" i="1" spc="-20" dirty="0">
                <a:latin typeface="+mn-lt"/>
                <a:cs typeface="Arial"/>
              </a:rPr>
              <a:t> </a:t>
            </a:r>
            <a:r>
              <a:rPr sz="1200" i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+mn-lt"/>
                <a:cs typeface="Arial"/>
              </a:rPr>
              <a:t>impact</a:t>
            </a:r>
            <a:r>
              <a:rPr sz="1200" i="1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+mn-lt"/>
                <a:cs typeface="Arial"/>
              </a:rPr>
              <a:t> </a:t>
            </a:r>
            <a:r>
              <a:rPr sz="1200" i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+mn-lt"/>
                <a:cs typeface="Arial"/>
              </a:rPr>
              <a:t>an</a:t>
            </a:r>
            <a:r>
              <a:rPr sz="1200" i="1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+mn-lt"/>
                <a:cs typeface="Arial"/>
              </a:rPr>
              <a:t> </a:t>
            </a:r>
            <a:r>
              <a:rPr sz="1200" i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+mn-lt"/>
                <a:cs typeface="Arial"/>
              </a:rPr>
              <a:t>asset</a:t>
            </a:r>
            <a:r>
              <a:rPr sz="1200" i="1" spc="-20" dirty="0">
                <a:solidFill>
                  <a:srgbClr val="0000FF"/>
                </a:solidFill>
                <a:latin typeface="+mn-lt"/>
                <a:cs typeface="Arial"/>
              </a:rPr>
              <a:t> </a:t>
            </a:r>
            <a:r>
              <a:rPr lang="en-GB" sz="1200" i="1" spc="-20" dirty="0">
                <a:solidFill>
                  <a:srgbClr val="0000FF"/>
                </a:solidFill>
                <a:latin typeface="+mn-lt"/>
                <a:cs typeface="Arial"/>
              </a:rPr>
              <a:t>via </a:t>
            </a:r>
            <a:r>
              <a:rPr sz="1200" i="1" dirty="0" err="1">
                <a:latin typeface="+mn-lt"/>
                <a:cs typeface="Arial"/>
              </a:rPr>
              <a:t>unauthori</a:t>
            </a:r>
            <a:r>
              <a:rPr lang="en-GB" sz="1200" i="1" dirty="0">
                <a:latin typeface="+mn-lt"/>
                <a:cs typeface="Arial"/>
              </a:rPr>
              <a:t>s</a:t>
            </a:r>
            <a:r>
              <a:rPr sz="1200" i="1" dirty="0">
                <a:latin typeface="+mn-lt"/>
                <a:cs typeface="Arial"/>
              </a:rPr>
              <a:t>ed</a:t>
            </a:r>
            <a:r>
              <a:rPr sz="1200" i="1" spc="-15" dirty="0">
                <a:latin typeface="+mn-lt"/>
                <a:cs typeface="Arial"/>
              </a:rPr>
              <a:t> </a:t>
            </a:r>
            <a:r>
              <a:rPr sz="1200" i="1" spc="-10" dirty="0">
                <a:latin typeface="+mn-lt"/>
                <a:cs typeface="Arial"/>
              </a:rPr>
              <a:t>access, </a:t>
            </a:r>
            <a:r>
              <a:rPr sz="1200" i="1" dirty="0">
                <a:latin typeface="+mn-lt"/>
                <a:cs typeface="Arial"/>
              </a:rPr>
              <a:t>destruction,</a:t>
            </a:r>
            <a:r>
              <a:rPr sz="1200" i="1" spc="-25" dirty="0">
                <a:latin typeface="+mn-lt"/>
                <a:cs typeface="Arial"/>
              </a:rPr>
              <a:t> </a:t>
            </a:r>
            <a:r>
              <a:rPr sz="1200" i="1" dirty="0">
                <a:latin typeface="+mn-lt"/>
                <a:cs typeface="Arial"/>
              </a:rPr>
              <a:t>disclosure,</a:t>
            </a:r>
            <a:r>
              <a:rPr sz="1200" i="1" spc="-15" dirty="0">
                <a:latin typeface="+mn-lt"/>
                <a:cs typeface="Arial"/>
              </a:rPr>
              <a:t> </a:t>
            </a:r>
            <a:r>
              <a:rPr sz="1200" i="1" dirty="0">
                <a:latin typeface="+mn-lt"/>
                <a:cs typeface="Arial"/>
              </a:rPr>
              <a:t>modification of</a:t>
            </a:r>
            <a:r>
              <a:rPr sz="1200" i="1" spc="-30" dirty="0">
                <a:latin typeface="+mn-lt"/>
                <a:cs typeface="Arial"/>
              </a:rPr>
              <a:t> </a:t>
            </a:r>
            <a:r>
              <a:rPr sz="1200" i="1" dirty="0">
                <a:latin typeface="+mn-lt"/>
                <a:cs typeface="Arial"/>
              </a:rPr>
              <a:t>data,</a:t>
            </a:r>
            <a:r>
              <a:rPr sz="1200" i="1" spc="-25" dirty="0">
                <a:latin typeface="+mn-lt"/>
                <a:cs typeface="Arial"/>
              </a:rPr>
              <a:t> </a:t>
            </a:r>
            <a:r>
              <a:rPr sz="1200" i="1" dirty="0">
                <a:latin typeface="+mn-lt"/>
                <a:cs typeface="Arial"/>
              </a:rPr>
              <a:t>and/or</a:t>
            </a:r>
            <a:r>
              <a:rPr sz="1200" i="1" spc="-25" dirty="0">
                <a:latin typeface="+mn-lt"/>
                <a:cs typeface="Arial"/>
              </a:rPr>
              <a:t> </a:t>
            </a:r>
            <a:r>
              <a:rPr sz="1200" i="1" dirty="0">
                <a:latin typeface="+mn-lt"/>
                <a:cs typeface="Arial"/>
              </a:rPr>
              <a:t>denial</a:t>
            </a:r>
            <a:r>
              <a:rPr sz="1200" i="1" spc="-10" dirty="0">
                <a:latin typeface="+mn-lt"/>
                <a:cs typeface="Arial"/>
              </a:rPr>
              <a:t> </a:t>
            </a:r>
            <a:r>
              <a:rPr sz="1200" i="1" spc="-25" dirty="0">
                <a:latin typeface="+mn-lt"/>
                <a:cs typeface="Arial"/>
              </a:rPr>
              <a:t>of </a:t>
            </a:r>
            <a:r>
              <a:rPr sz="1200" i="1" spc="-10" dirty="0">
                <a:latin typeface="+mn-lt"/>
                <a:cs typeface="Arial"/>
              </a:rPr>
              <a:t>service.</a:t>
            </a:r>
            <a:endParaRPr sz="1200" dirty="0">
              <a:latin typeface="+mn-lt"/>
              <a:cs typeface="Arial"/>
            </a:endParaRPr>
          </a:p>
          <a:p>
            <a:pPr>
              <a:lnSpc>
                <a:spcPct val="114000"/>
              </a:lnSpc>
              <a:buFont typeface="Wingdings"/>
              <a:buChar char=""/>
            </a:pPr>
            <a:endParaRPr sz="1200" dirty="0">
              <a:latin typeface="+mn-lt"/>
              <a:cs typeface="Arial"/>
            </a:endParaRPr>
          </a:p>
          <a:p>
            <a:pPr marL="184150" indent="-172085">
              <a:lnSpc>
                <a:spcPct val="114000"/>
              </a:lnSpc>
              <a:spcBef>
                <a:spcPts val="5"/>
              </a:spcBef>
              <a:buFont typeface="Wingdings"/>
              <a:buChar char=""/>
              <a:tabLst>
                <a:tab pos="184785" algn="l"/>
              </a:tabLst>
            </a:pPr>
            <a:r>
              <a:rPr sz="1200" dirty="0">
                <a:latin typeface="+mn-lt"/>
                <a:cs typeface="Arial"/>
              </a:rPr>
              <a:t>A</a:t>
            </a:r>
            <a:r>
              <a:rPr sz="1200" spc="-1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threat</a:t>
            </a:r>
            <a:r>
              <a:rPr sz="1200" spc="-1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can</a:t>
            </a:r>
            <a:r>
              <a:rPr sz="1200" spc="-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be</a:t>
            </a:r>
            <a:r>
              <a:rPr sz="1200" spc="-5" dirty="0">
                <a:latin typeface="+mn-lt"/>
                <a:cs typeface="Arial"/>
              </a:rPr>
              <a:t> </a:t>
            </a:r>
            <a:r>
              <a:rPr sz="1200" spc="-10" dirty="0">
                <a:latin typeface="+mn-lt"/>
                <a:cs typeface="Arial"/>
              </a:rPr>
              <a:t>either</a:t>
            </a:r>
            <a:endParaRPr sz="1200" dirty="0">
              <a:latin typeface="+mn-lt"/>
              <a:cs typeface="Arial"/>
            </a:endParaRPr>
          </a:p>
          <a:p>
            <a:pPr marL="384175" lvl="1" indent="-143510">
              <a:lnSpc>
                <a:spcPct val="114000"/>
              </a:lnSpc>
              <a:spcBef>
                <a:spcPts val="240"/>
              </a:spcBef>
              <a:buFont typeface="Arial"/>
              <a:buChar char="–"/>
              <a:tabLst>
                <a:tab pos="384810" algn="l"/>
              </a:tabLst>
            </a:pPr>
            <a:r>
              <a:rPr sz="1200" i="1" dirty="0">
                <a:latin typeface="+mn-lt"/>
                <a:cs typeface="Arial"/>
              </a:rPr>
              <a:t>Intentional</a:t>
            </a:r>
            <a:r>
              <a:rPr sz="1200" i="1" spc="-1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(e.g.,</a:t>
            </a:r>
            <a:r>
              <a:rPr sz="1200" spc="-20" dirty="0">
                <a:latin typeface="+mn-lt"/>
                <a:cs typeface="Arial"/>
              </a:rPr>
              <a:t> </a:t>
            </a:r>
            <a:r>
              <a:rPr sz="1200" spc="-10" dirty="0">
                <a:latin typeface="+mn-lt"/>
                <a:cs typeface="Arial"/>
              </a:rPr>
              <a:t>intelligent;</a:t>
            </a:r>
            <a:r>
              <a:rPr sz="1200" spc="-1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hacker)</a:t>
            </a:r>
            <a:r>
              <a:rPr sz="1200" spc="-25" dirty="0">
                <a:latin typeface="+mn-lt"/>
                <a:cs typeface="Arial"/>
              </a:rPr>
              <a:t> or</a:t>
            </a:r>
            <a:endParaRPr sz="1200" dirty="0">
              <a:latin typeface="+mn-lt"/>
              <a:cs typeface="Arial"/>
            </a:endParaRPr>
          </a:p>
          <a:p>
            <a:pPr marL="384175" lvl="1" indent="-143510">
              <a:lnSpc>
                <a:spcPct val="114000"/>
              </a:lnSpc>
              <a:spcBef>
                <a:spcPts val="240"/>
              </a:spcBef>
              <a:buFont typeface="Arial"/>
              <a:buChar char="–"/>
              <a:tabLst>
                <a:tab pos="384810" algn="l"/>
              </a:tabLst>
            </a:pPr>
            <a:r>
              <a:rPr sz="1200" i="1" dirty="0">
                <a:latin typeface="+mn-lt"/>
                <a:cs typeface="Arial"/>
              </a:rPr>
              <a:t>Accidental</a:t>
            </a:r>
            <a:r>
              <a:rPr sz="1200" i="1" spc="-3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(e.g.,</a:t>
            </a:r>
            <a:r>
              <a:rPr sz="1200" spc="-3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fire;</a:t>
            </a:r>
            <a:r>
              <a:rPr sz="1200" spc="-25" dirty="0">
                <a:latin typeface="+mn-lt"/>
                <a:cs typeface="Arial"/>
              </a:rPr>
              <a:t> </a:t>
            </a:r>
            <a:r>
              <a:rPr sz="1200" spc="-10" dirty="0">
                <a:latin typeface="+mn-lt"/>
                <a:cs typeface="Arial"/>
              </a:rPr>
              <a:t>disaster)</a:t>
            </a:r>
            <a:endParaRPr sz="1200" dirty="0">
              <a:latin typeface="+mn-lt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26968"/>
            <a:ext cx="4608195" cy="129539"/>
          </a:xfrm>
          <a:custGeom>
            <a:avLst/>
            <a:gdLst/>
            <a:ahLst/>
            <a:cxnLst/>
            <a:rect l="l" t="t" r="r" b="b"/>
            <a:pathLst>
              <a:path w="4608195" h="129539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129032"/>
                </a:lnTo>
                <a:lnTo>
                  <a:pt x="1520647" y="129032"/>
                </a:lnTo>
                <a:lnTo>
                  <a:pt x="3087344" y="129032"/>
                </a:lnTo>
                <a:lnTo>
                  <a:pt x="3087344" y="0"/>
                </a:lnTo>
                <a:close/>
              </a:path>
              <a:path w="4608195" h="129539">
                <a:moveTo>
                  <a:pt x="4608004" y="0"/>
                </a:moveTo>
                <a:lnTo>
                  <a:pt x="3087357" y="0"/>
                </a:lnTo>
                <a:lnTo>
                  <a:pt x="3087357" y="129032"/>
                </a:lnTo>
                <a:lnTo>
                  <a:pt x="4608004" y="129032"/>
                </a:lnTo>
                <a:lnTo>
                  <a:pt x="4608004" y="0"/>
                </a:lnTo>
                <a:close/>
              </a:path>
            </a:pathLst>
          </a:custGeom>
          <a:solidFill>
            <a:srgbClr val="387BB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179" y="192112"/>
            <a:ext cx="4004945" cy="340028"/>
          </a:xfrm>
          <a:prstGeom prst="rect">
            <a:avLst/>
          </a:prstGeom>
        </p:spPr>
        <p:txBody>
          <a:bodyPr vert="horz" wrap="square" lIns="0" tIns="12338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0"/>
              </a:spcBef>
            </a:pPr>
            <a:r>
              <a:rPr lang="en-GB" sz="1400" spc="-20" dirty="0"/>
              <a:t>Terminology: ‘</a:t>
            </a:r>
            <a:r>
              <a:rPr sz="1400" spc="-20" dirty="0" err="1"/>
              <a:t>Ris</a:t>
            </a:r>
            <a:r>
              <a:rPr lang="en-GB" sz="1400" spc="-20" dirty="0"/>
              <a:t>k’</a:t>
            </a:r>
            <a:endParaRPr sz="1400" dirty="0"/>
          </a:p>
        </p:txBody>
      </p:sp>
      <p:sp>
        <p:nvSpPr>
          <p:cNvPr id="3" name="object 3"/>
          <p:cNvSpPr txBox="1"/>
          <p:nvPr/>
        </p:nvSpPr>
        <p:spPr>
          <a:xfrm>
            <a:off x="339686" y="793446"/>
            <a:ext cx="3771900" cy="1985159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84150" indent="-172085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/>
              <a:buChar char=""/>
              <a:tabLst>
                <a:tab pos="184785" algn="l"/>
              </a:tabLst>
            </a:pPr>
            <a:r>
              <a:rPr lang="en-GB" sz="1200" b="1" i="1" spc="-10" dirty="0">
                <a:solidFill>
                  <a:schemeClr val="tx1"/>
                </a:solidFill>
                <a:latin typeface="+mn-lt"/>
                <a:cs typeface="Arial"/>
              </a:rPr>
              <a:t>“</a:t>
            </a:r>
            <a:r>
              <a:rPr lang="en-US" sz="1200" b="0" i="1" dirty="0">
                <a:solidFill>
                  <a:schemeClr val="tx1"/>
                </a:solidFill>
                <a:effectLst/>
                <a:latin typeface="+mn-lt"/>
              </a:rPr>
              <a:t>A measure of the extent to which an entity is threatened by a potential circumstance or event, and typically a function of: (</a:t>
            </a:r>
            <a:r>
              <a:rPr lang="en-US" sz="1200" b="0" i="1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200" b="0" i="1" dirty="0">
                <a:solidFill>
                  <a:schemeClr val="tx1"/>
                </a:solidFill>
                <a:effectLst/>
                <a:latin typeface="+mn-lt"/>
              </a:rPr>
              <a:t>) the adverse impacts that would arise if the circumstance or event occurs; and (ii) the likelihood of occurrence.”</a:t>
            </a:r>
          </a:p>
          <a:p>
            <a:pPr marL="12065">
              <a:lnSpc>
                <a:spcPct val="100000"/>
              </a:lnSpc>
              <a:spcBef>
                <a:spcPts val="400"/>
              </a:spcBef>
              <a:tabLst>
                <a:tab pos="184785" algn="l"/>
              </a:tabLst>
            </a:pPr>
            <a:endParaRPr lang="en-US" sz="1200" i="1" dirty="0">
              <a:solidFill>
                <a:srgbClr val="333333"/>
              </a:solidFill>
              <a:latin typeface="Source Sans Pro" panose="020B0503030403020204" pitchFamily="34" charset="0"/>
              <a:cs typeface="Arial"/>
            </a:endParaRPr>
          </a:p>
          <a:p>
            <a:pPr marL="183515" indent="-171450">
              <a:lnSpc>
                <a:spcPct val="100000"/>
              </a:lnSpc>
              <a:spcBef>
                <a:spcPts val="400"/>
              </a:spcBef>
              <a:buFontTx/>
              <a:buChar char="-"/>
              <a:tabLst>
                <a:tab pos="184785" algn="l"/>
              </a:tabLst>
            </a:pPr>
            <a:r>
              <a:rPr lang="en-US" sz="1200" i="1" dirty="0">
                <a:solidFill>
                  <a:srgbClr val="333333"/>
                </a:solidFill>
                <a:latin typeface="Source Sans Pro" panose="020B0503030403020204" pitchFamily="34" charset="0"/>
                <a:cs typeface="Arial"/>
                <a:hlinkClick r:id="rId2"/>
              </a:rPr>
              <a:t>Computer Security Resource Centre (CSRC)</a:t>
            </a:r>
            <a:endParaRPr lang="en-US" sz="1200" i="1" dirty="0">
              <a:solidFill>
                <a:srgbClr val="333333"/>
              </a:solidFill>
              <a:latin typeface="Source Sans Pro" panose="020B0503030403020204" pitchFamily="34" charset="0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26968"/>
            <a:ext cx="4608195" cy="129539"/>
          </a:xfrm>
          <a:custGeom>
            <a:avLst/>
            <a:gdLst/>
            <a:ahLst/>
            <a:cxnLst/>
            <a:rect l="l" t="t" r="r" b="b"/>
            <a:pathLst>
              <a:path w="4608195" h="129539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129032"/>
                </a:lnTo>
                <a:lnTo>
                  <a:pt x="1520647" y="129032"/>
                </a:lnTo>
                <a:lnTo>
                  <a:pt x="3087344" y="129032"/>
                </a:lnTo>
                <a:lnTo>
                  <a:pt x="3087344" y="0"/>
                </a:lnTo>
                <a:close/>
              </a:path>
              <a:path w="4608195" h="129539">
                <a:moveTo>
                  <a:pt x="4608004" y="0"/>
                </a:moveTo>
                <a:lnTo>
                  <a:pt x="3087357" y="0"/>
                </a:lnTo>
                <a:lnTo>
                  <a:pt x="3087357" y="129032"/>
                </a:lnTo>
                <a:lnTo>
                  <a:pt x="4608004" y="129032"/>
                </a:lnTo>
                <a:lnTo>
                  <a:pt x="4608004" y="0"/>
                </a:lnTo>
                <a:close/>
              </a:path>
            </a:pathLst>
          </a:custGeom>
          <a:solidFill>
            <a:srgbClr val="387BB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7764" y="302793"/>
            <a:ext cx="4013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latin typeface="Arial"/>
                <a:cs typeface="Arial"/>
              </a:rPr>
              <a:t>Risk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D2D67A-40D8-240E-0F8B-B03236956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37" y="663575"/>
            <a:ext cx="3585426" cy="22105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389DC2-1CA7-A0C1-228B-AD7F25BC5D5C}"/>
              </a:ext>
            </a:extLst>
          </p:cNvPr>
          <p:cNvSpPr txBox="1"/>
          <p:nvPr/>
        </p:nvSpPr>
        <p:spPr>
          <a:xfrm>
            <a:off x="3143250" y="608374"/>
            <a:ext cx="10358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i="1" dirty="0">
                <a:latin typeface="+mn-lt"/>
              </a:rPr>
              <a:t>https://pixabay.com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338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0"/>
              </a:spcBef>
            </a:pPr>
            <a:r>
              <a:rPr sz="1400" dirty="0"/>
              <a:t>IT</a:t>
            </a:r>
            <a:r>
              <a:rPr sz="1400" spc="-20" dirty="0"/>
              <a:t> </a:t>
            </a:r>
            <a:r>
              <a:rPr sz="1400" dirty="0"/>
              <a:t>(Security)</a:t>
            </a:r>
            <a:r>
              <a:rPr sz="1400" spc="20" dirty="0"/>
              <a:t> </a:t>
            </a:r>
            <a:r>
              <a:rPr sz="1400" spc="-20" dirty="0"/>
              <a:t>Risk</a:t>
            </a:r>
            <a:endParaRPr sz="1400"/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xfrm>
            <a:off x="301663" y="831138"/>
            <a:ext cx="4006773" cy="17767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0980" indent="-1714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22885" algn="l"/>
              </a:tabLst>
            </a:pPr>
            <a:r>
              <a:rPr sz="1200" dirty="0">
                <a:latin typeface="+mn-lt"/>
              </a:rPr>
              <a:t>Risk</a:t>
            </a:r>
            <a:r>
              <a:rPr sz="1200" spc="-40" dirty="0">
                <a:latin typeface="+mn-lt"/>
              </a:rPr>
              <a:t> </a:t>
            </a:r>
            <a:r>
              <a:rPr sz="1200" dirty="0">
                <a:latin typeface="+mn-lt"/>
              </a:rPr>
              <a:t>is</a:t>
            </a:r>
            <a:r>
              <a:rPr sz="1200" spc="-40" dirty="0">
                <a:latin typeface="+mn-lt"/>
              </a:rPr>
              <a:t> </a:t>
            </a:r>
            <a:r>
              <a:rPr sz="1200" dirty="0">
                <a:latin typeface="+mn-lt"/>
              </a:rPr>
              <a:t>the</a:t>
            </a:r>
            <a:r>
              <a:rPr sz="1200" spc="-35" dirty="0">
                <a:latin typeface="+mn-lt"/>
              </a:rPr>
              <a:t> </a:t>
            </a:r>
            <a:r>
              <a:rPr sz="1200" dirty="0">
                <a:latin typeface="+mn-lt"/>
              </a:rPr>
              <a:t>product</a:t>
            </a:r>
            <a:r>
              <a:rPr sz="1200" spc="-35" dirty="0">
                <a:latin typeface="+mn-lt"/>
              </a:rPr>
              <a:t> </a:t>
            </a:r>
            <a:r>
              <a:rPr sz="1200" dirty="0">
                <a:latin typeface="+mn-lt"/>
              </a:rPr>
              <a:t>of</a:t>
            </a:r>
            <a:r>
              <a:rPr sz="1200" spc="-45" dirty="0">
                <a:latin typeface="+mn-lt"/>
              </a:rPr>
              <a:t> </a:t>
            </a:r>
            <a:r>
              <a:rPr sz="1200" dirty="0">
                <a:latin typeface="+mn-lt"/>
              </a:rPr>
              <a:t>likelihood</a:t>
            </a:r>
            <a:r>
              <a:rPr sz="1200" spc="-40" dirty="0">
                <a:latin typeface="+mn-lt"/>
              </a:rPr>
              <a:t> </a:t>
            </a:r>
            <a:r>
              <a:rPr lang="en-GB" sz="1200" spc="-40" dirty="0">
                <a:latin typeface="+mn-lt"/>
              </a:rPr>
              <a:t>and </a:t>
            </a:r>
            <a:r>
              <a:rPr sz="1200" spc="-10" dirty="0">
                <a:latin typeface="+mn-lt"/>
              </a:rPr>
              <a:t>impact:</a:t>
            </a:r>
            <a:endParaRPr lang="en-GB" sz="1200" spc="-10" dirty="0">
              <a:latin typeface="+mn-lt"/>
            </a:endParaRPr>
          </a:p>
          <a:p>
            <a:pPr marL="49530">
              <a:lnSpc>
                <a:spcPct val="100000"/>
              </a:lnSpc>
              <a:spcBef>
                <a:spcPts val="95"/>
              </a:spcBef>
              <a:tabLst>
                <a:tab pos="222885" algn="l"/>
              </a:tabLst>
            </a:pPr>
            <a:endParaRPr lang="en-GB" sz="1200" b="1" spc="-10" dirty="0">
              <a:latin typeface="+mn-lt"/>
              <a:cs typeface="Arial"/>
            </a:endParaRPr>
          </a:p>
          <a:p>
            <a:pPr marL="49530">
              <a:lnSpc>
                <a:spcPct val="100000"/>
              </a:lnSpc>
              <a:spcBef>
                <a:spcPts val="95"/>
              </a:spcBef>
              <a:tabLst>
                <a:tab pos="222885" algn="l"/>
              </a:tabLst>
            </a:pPr>
            <a:r>
              <a:rPr sz="1200" b="1" dirty="0">
                <a:latin typeface="+mn-lt"/>
                <a:cs typeface="Arial"/>
              </a:rPr>
              <a:t>Risk</a:t>
            </a:r>
            <a:r>
              <a:rPr sz="1200" b="1" spc="-20" dirty="0">
                <a:latin typeface="+mn-lt"/>
                <a:cs typeface="Arial"/>
              </a:rPr>
              <a:t> </a:t>
            </a:r>
            <a:r>
              <a:rPr sz="1200" b="1" dirty="0">
                <a:latin typeface="+mn-lt"/>
                <a:cs typeface="Arial"/>
              </a:rPr>
              <a:t>=</a:t>
            </a:r>
            <a:r>
              <a:rPr sz="1200" b="1" spc="-30" dirty="0">
                <a:latin typeface="+mn-lt"/>
                <a:cs typeface="Arial"/>
              </a:rPr>
              <a:t> </a:t>
            </a:r>
            <a:r>
              <a:rPr sz="1200" b="1" dirty="0">
                <a:latin typeface="+mn-lt"/>
                <a:cs typeface="Arial"/>
              </a:rPr>
              <a:t>Likelihood</a:t>
            </a:r>
            <a:r>
              <a:rPr sz="1200" b="1" spc="-10" dirty="0">
                <a:latin typeface="+mn-lt"/>
                <a:cs typeface="Arial"/>
              </a:rPr>
              <a:t> </a:t>
            </a:r>
            <a:r>
              <a:rPr sz="1200" b="1" dirty="0">
                <a:latin typeface="+mn-lt"/>
                <a:cs typeface="Arial"/>
              </a:rPr>
              <a:t>*</a:t>
            </a:r>
            <a:r>
              <a:rPr sz="1200" b="1" spc="-30" dirty="0">
                <a:latin typeface="+mn-lt"/>
                <a:cs typeface="Arial"/>
              </a:rPr>
              <a:t> </a:t>
            </a:r>
            <a:r>
              <a:rPr sz="1200" b="1" spc="-10" dirty="0">
                <a:latin typeface="+mn-lt"/>
                <a:cs typeface="Arial"/>
              </a:rPr>
              <a:t>Impact</a:t>
            </a:r>
            <a:endParaRPr lang="en-GB" sz="1200" spc="-10" dirty="0">
              <a:latin typeface="+mn-lt"/>
            </a:endParaRPr>
          </a:p>
          <a:p>
            <a:pPr marL="49530">
              <a:lnSpc>
                <a:spcPct val="100000"/>
              </a:lnSpc>
              <a:spcBef>
                <a:spcPts val="95"/>
              </a:spcBef>
              <a:tabLst>
                <a:tab pos="222885" algn="l"/>
              </a:tabLst>
            </a:pPr>
            <a:endParaRPr lang="en-GB" sz="1200" b="1" spc="-10" dirty="0">
              <a:latin typeface="+mn-lt"/>
              <a:cs typeface="Arial"/>
            </a:endParaRPr>
          </a:p>
          <a:p>
            <a:pPr marL="49530">
              <a:lnSpc>
                <a:spcPct val="100000"/>
              </a:lnSpc>
              <a:spcBef>
                <a:spcPts val="95"/>
              </a:spcBef>
              <a:tabLst>
                <a:tab pos="222885" algn="l"/>
              </a:tabLst>
            </a:pPr>
            <a:r>
              <a:rPr sz="1200" b="1" dirty="0">
                <a:latin typeface="+mn-lt"/>
                <a:cs typeface="Arial"/>
              </a:rPr>
              <a:t>Likelihood</a:t>
            </a:r>
            <a:r>
              <a:rPr sz="1200" b="1" spc="5" dirty="0">
                <a:latin typeface="+mn-lt"/>
                <a:cs typeface="Arial"/>
              </a:rPr>
              <a:t> </a:t>
            </a:r>
            <a:r>
              <a:rPr sz="1200" b="1" dirty="0">
                <a:latin typeface="+mn-lt"/>
                <a:cs typeface="Arial"/>
              </a:rPr>
              <a:t>=</a:t>
            </a:r>
            <a:r>
              <a:rPr sz="1200" b="1" spc="-15" dirty="0">
                <a:latin typeface="+mn-lt"/>
                <a:cs typeface="Arial"/>
              </a:rPr>
              <a:t> </a:t>
            </a:r>
            <a:r>
              <a:rPr sz="1200" b="1" dirty="0">
                <a:latin typeface="+mn-lt"/>
                <a:cs typeface="Arial"/>
              </a:rPr>
              <a:t>Threat</a:t>
            </a:r>
            <a:r>
              <a:rPr sz="1200" b="1" spc="-5" dirty="0">
                <a:latin typeface="+mn-lt"/>
                <a:cs typeface="Arial"/>
              </a:rPr>
              <a:t> </a:t>
            </a:r>
            <a:r>
              <a:rPr sz="1200" b="1" dirty="0">
                <a:latin typeface="+mn-lt"/>
                <a:cs typeface="Arial"/>
              </a:rPr>
              <a:t>*</a:t>
            </a:r>
            <a:r>
              <a:rPr sz="1200" b="1" spc="-15" dirty="0">
                <a:latin typeface="+mn-lt"/>
                <a:cs typeface="Arial"/>
              </a:rPr>
              <a:t> </a:t>
            </a:r>
            <a:r>
              <a:rPr sz="1200" b="1" spc="-10" dirty="0">
                <a:latin typeface="+mn-lt"/>
                <a:cs typeface="Arial"/>
              </a:rPr>
              <a:t>Attractiveness</a:t>
            </a:r>
            <a:r>
              <a:rPr sz="1200" b="1" dirty="0">
                <a:latin typeface="+mn-lt"/>
                <a:cs typeface="Arial"/>
              </a:rPr>
              <a:t> *</a:t>
            </a:r>
            <a:r>
              <a:rPr sz="1200" b="1" spc="-15" dirty="0">
                <a:latin typeface="+mn-lt"/>
                <a:cs typeface="Arial"/>
              </a:rPr>
              <a:t> </a:t>
            </a:r>
            <a:r>
              <a:rPr sz="1200" b="1" spc="-10" dirty="0">
                <a:latin typeface="+mn-lt"/>
                <a:cs typeface="Arial"/>
              </a:rPr>
              <a:t>Vulnerability</a:t>
            </a:r>
            <a:endParaRPr lang="en-GB" sz="1200" b="1" dirty="0">
              <a:latin typeface="+mn-lt"/>
            </a:endParaRPr>
          </a:p>
          <a:p>
            <a:pPr marL="49530">
              <a:lnSpc>
                <a:spcPct val="100000"/>
              </a:lnSpc>
              <a:spcBef>
                <a:spcPts val="95"/>
              </a:spcBef>
              <a:tabLst>
                <a:tab pos="222885" algn="l"/>
              </a:tabLst>
            </a:pPr>
            <a:endParaRPr lang="en-GB" sz="1200" b="1" spc="-10" dirty="0">
              <a:latin typeface="+mn-lt"/>
            </a:endParaRPr>
          </a:p>
          <a:p>
            <a:pPr marL="220980" indent="-1714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22885" algn="l"/>
              </a:tabLst>
            </a:pPr>
            <a:r>
              <a:rPr lang="en-GB" sz="1200" spc="-10" dirty="0">
                <a:latin typeface="+mn-lt"/>
              </a:rPr>
              <a:t>H</a:t>
            </a:r>
            <a:r>
              <a:rPr sz="1200" spc="-10" dirty="0" err="1">
                <a:latin typeface="+mn-lt"/>
              </a:rPr>
              <a:t>ence</a:t>
            </a:r>
            <a:r>
              <a:rPr lang="en-GB" sz="1200" spc="-10" dirty="0">
                <a:latin typeface="+mn-lt"/>
              </a:rPr>
              <a:t>:</a:t>
            </a:r>
          </a:p>
          <a:p>
            <a:pPr marL="49530">
              <a:lnSpc>
                <a:spcPct val="100000"/>
              </a:lnSpc>
              <a:spcBef>
                <a:spcPts val="95"/>
              </a:spcBef>
              <a:tabLst>
                <a:tab pos="222885" algn="l"/>
              </a:tabLst>
            </a:pPr>
            <a:endParaRPr lang="en-GB" sz="1200" b="1" spc="-10" dirty="0">
              <a:solidFill>
                <a:srgbClr val="0000FF"/>
              </a:solidFill>
              <a:latin typeface="+mn-lt"/>
              <a:cs typeface="Lucida Sans"/>
            </a:endParaRPr>
          </a:p>
          <a:p>
            <a:pPr marL="49530">
              <a:lnSpc>
                <a:spcPct val="100000"/>
              </a:lnSpc>
              <a:spcBef>
                <a:spcPts val="95"/>
              </a:spcBef>
              <a:tabLst>
                <a:tab pos="222885" algn="l"/>
              </a:tabLst>
            </a:pPr>
            <a:r>
              <a:rPr sz="1200" b="1" dirty="0">
                <a:solidFill>
                  <a:srgbClr val="0000FF"/>
                </a:solidFill>
                <a:latin typeface="+mn-lt"/>
                <a:cs typeface="Lucida Sans"/>
              </a:rPr>
              <a:t>Risk</a:t>
            </a:r>
            <a:r>
              <a:rPr sz="1200" b="1" spc="-35" dirty="0">
                <a:solidFill>
                  <a:srgbClr val="0000FF"/>
                </a:solidFill>
                <a:latin typeface="+mn-lt"/>
                <a:cs typeface="Lucida Sans"/>
              </a:rPr>
              <a:t> </a:t>
            </a:r>
            <a:r>
              <a:rPr sz="1200" b="1" dirty="0">
                <a:solidFill>
                  <a:srgbClr val="0000FF"/>
                </a:solidFill>
                <a:latin typeface="+mn-lt"/>
                <a:cs typeface="Lucida Sans"/>
              </a:rPr>
              <a:t>=</a:t>
            </a:r>
            <a:r>
              <a:rPr sz="1200" b="1" spc="-25" dirty="0">
                <a:solidFill>
                  <a:srgbClr val="0000FF"/>
                </a:solidFill>
                <a:latin typeface="+mn-lt"/>
                <a:cs typeface="Lucida Sans"/>
              </a:rPr>
              <a:t> </a:t>
            </a:r>
            <a:r>
              <a:rPr sz="1200" b="1" dirty="0">
                <a:solidFill>
                  <a:srgbClr val="0000FF"/>
                </a:solidFill>
                <a:latin typeface="+mn-lt"/>
                <a:cs typeface="Lucida Sans"/>
              </a:rPr>
              <a:t>Threat</a:t>
            </a:r>
            <a:r>
              <a:rPr sz="1200" b="1" spc="-20" dirty="0">
                <a:solidFill>
                  <a:srgbClr val="0000FF"/>
                </a:solidFill>
                <a:latin typeface="+mn-lt"/>
                <a:cs typeface="Lucida Sans"/>
              </a:rPr>
              <a:t> </a:t>
            </a:r>
            <a:r>
              <a:rPr lang="en-GB" sz="1200" b="1" dirty="0">
                <a:solidFill>
                  <a:srgbClr val="0000FF"/>
                </a:solidFill>
                <a:latin typeface="+mn-lt"/>
                <a:cs typeface="Lucida Sans"/>
              </a:rPr>
              <a:t>*</a:t>
            </a:r>
            <a:r>
              <a:rPr sz="1200" b="1" spc="-20" dirty="0">
                <a:solidFill>
                  <a:srgbClr val="0000FF"/>
                </a:solidFill>
                <a:latin typeface="+mn-lt"/>
                <a:cs typeface="Lucida Sans"/>
              </a:rPr>
              <a:t> </a:t>
            </a:r>
            <a:r>
              <a:rPr sz="1200" b="1" dirty="0">
                <a:solidFill>
                  <a:srgbClr val="0000FF"/>
                </a:solidFill>
                <a:latin typeface="+mn-lt"/>
                <a:cs typeface="Lucida Sans"/>
              </a:rPr>
              <a:t>Vulnerability</a:t>
            </a:r>
            <a:r>
              <a:rPr sz="1200" b="1" spc="-25" dirty="0">
                <a:solidFill>
                  <a:srgbClr val="0000FF"/>
                </a:solidFill>
                <a:latin typeface="+mn-lt"/>
                <a:cs typeface="Lucida Sans"/>
              </a:rPr>
              <a:t> </a:t>
            </a:r>
            <a:r>
              <a:rPr sz="1200" b="1" dirty="0">
                <a:solidFill>
                  <a:srgbClr val="0000FF"/>
                </a:solidFill>
                <a:latin typeface="+mn-lt"/>
                <a:cs typeface="Lucida Sans"/>
              </a:rPr>
              <a:t>*</a:t>
            </a:r>
            <a:r>
              <a:rPr sz="1200" b="1" spc="-15" dirty="0">
                <a:solidFill>
                  <a:srgbClr val="0000FF"/>
                </a:solidFill>
                <a:latin typeface="+mn-lt"/>
                <a:cs typeface="Lucida Sans"/>
              </a:rPr>
              <a:t> </a:t>
            </a:r>
            <a:r>
              <a:rPr sz="1200" b="1" dirty="0">
                <a:solidFill>
                  <a:srgbClr val="0000FF"/>
                </a:solidFill>
                <a:latin typeface="+mn-lt"/>
                <a:cs typeface="Lucida Sans"/>
              </a:rPr>
              <a:t>Attractiveness</a:t>
            </a:r>
            <a:r>
              <a:rPr sz="1200" b="1" spc="-30" dirty="0">
                <a:solidFill>
                  <a:srgbClr val="0000FF"/>
                </a:solidFill>
                <a:latin typeface="+mn-lt"/>
                <a:cs typeface="Lucida Sans"/>
              </a:rPr>
              <a:t> </a:t>
            </a:r>
            <a:r>
              <a:rPr sz="1200" b="1" dirty="0">
                <a:solidFill>
                  <a:srgbClr val="0000FF"/>
                </a:solidFill>
                <a:latin typeface="+mn-lt"/>
                <a:cs typeface="Lucida Sans"/>
              </a:rPr>
              <a:t>*</a:t>
            </a:r>
            <a:r>
              <a:rPr sz="1200" b="1" spc="-15" dirty="0">
                <a:solidFill>
                  <a:srgbClr val="0000FF"/>
                </a:solidFill>
                <a:latin typeface="+mn-lt"/>
                <a:cs typeface="Lucida Sans"/>
              </a:rPr>
              <a:t> </a:t>
            </a:r>
            <a:r>
              <a:rPr sz="1200" b="1" spc="-10" dirty="0">
                <a:solidFill>
                  <a:srgbClr val="0000FF"/>
                </a:solidFill>
                <a:latin typeface="+mn-lt"/>
                <a:cs typeface="Lucida Sans"/>
              </a:rPr>
              <a:t>Impact</a:t>
            </a:r>
            <a:endParaRPr sz="1200" dirty="0">
              <a:latin typeface="+mn-lt"/>
              <a:cs typeface="Lucida San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26968"/>
            <a:ext cx="4608195" cy="129539"/>
          </a:xfrm>
          <a:custGeom>
            <a:avLst/>
            <a:gdLst/>
            <a:ahLst/>
            <a:cxnLst/>
            <a:rect l="l" t="t" r="r" b="b"/>
            <a:pathLst>
              <a:path w="4608195" h="129539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129032"/>
                </a:lnTo>
                <a:lnTo>
                  <a:pt x="1520647" y="129032"/>
                </a:lnTo>
                <a:lnTo>
                  <a:pt x="3087344" y="129032"/>
                </a:lnTo>
                <a:lnTo>
                  <a:pt x="3087344" y="0"/>
                </a:lnTo>
                <a:close/>
              </a:path>
              <a:path w="4608195" h="129539">
                <a:moveTo>
                  <a:pt x="4608004" y="0"/>
                </a:moveTo>
                <a:lnTo>
                  <a:pt x="3087357" y="0"/>
                </a:lnTo>
                <a:lnTo>
                  <a:pt x="3087357" y="129032"/>
                </a:lnTo>
                <a:lnTo>
                  <a:pt x="4608004" y="129032"/>
                </a:lnTo>
                <a:lnTo>
                  <a:pt x="4608004" y="0"/>
                </a:lnTo>
                <a:close/>
              </a:path>
            </a:pathLst>
          </a:custGeom>
          <a:solidFill>
            <a:srgbClr val="387BB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338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0"/>
              </a:spcBef>
            </a:pPr>
            <a:r>
              <a:rPr sz="1400" dirty="0"/>
              <a:t>Risk</a:t>
            </a:r>
            <a:r>
              <a:rPr sz="1400" spc="-45" dirty="0"/>
              <a:t> </a:t>
            </a:r>
            <a:r>
              <a:rPr sz="1400" dirty="0"/>
              <a:t>according</a:t>
            </a:r>
            <a:r>
              <a:rPr sz="1400" spc="-30" dirty="0"/>
              <a:t> </a:t>
            </a:r>
            <a:r>
              <a:rPr sz="1400" dirty="0"/>
              <a:t>to</a:t>
            </a:r>
            <a:r>
              <a:rPr sz="1400" spc="-40" dirty="0"/>
              <a:t> </a:t>
            </a:r>
            <a:r>
              <a:rPr sz="1400" dirty="0"/>
              <a:t>ISO</a:t>
            </a:r>
            <a:r>
              <a:rPr sz="1400" spc="-40" dirty="0"/>
              <a:t> </a:t>
            </a:r>
            <a:r>
              <a:rPr sz="1400" spc="-10" dirty="0"/>
              <a:t>27005</a:t>
            </a:r>
            <a:endParaRPr sz="1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8250" y="638112"/>
            <a:ext cx="2013788" cy="17386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8902" y="2410519"/>
            <a:ext cx="4107498" cy="8152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sz="1200" dirty="0">
                <a:latin typeface="+mn-lt"/>
                <a:cs typeface="Lucida Sans"/>
              </a:rPr>
              <a:t>Risk</a:t>
            </a:r>
            <a:r>
              <a:rPr sz="1200" spc="-10" dirty="0">
                <a:latin typeface="+mn-lt"/>
                <a:cs typeface="Lucida Sans"/>
              </a:rPr>
              <a:t> </a:t>
            </a:r>
            <a:r>
              <a:rPr sz="1200" dirty="0">
                <a:latin typeface="+mn-lt"/>
                <a:cs typeface="Lucida Sans"/>
              </a:rPr>
              <a:t>associated</a:t>
            </a:r>
            <a:r>
              <a:rPr sz="1200" spc="-25" dirty="0">
                <a:latin typeface="+mn-lt"/>
                <a:cs typeface="Lucida Sans"/>
              </a:rPr>
              <a:t> </a:t>
            </a:r>
            <a:r>
              <a:rPr sz="1200" dirty="0">
                <a:latin typeface="+mn-lt"/>
                <a:cs typeface="Lucida Sans"/>
              </a:rPr>
              <a:t>with</a:t>
            </a:r>
            <a:r>
              <a:rPr sz="1200" spc="-15" dirty="0">
                <a:latin typeface="+mn-lt"/>
                <a:cs typeface="Lucida Sans"/>
              </a:rPr>
              <a:t> </a:t>
            </a:r>
            <a:r>
              <a:rPr sz="1200" dirty="0">
                <a:latin typeface="+mn-lt"/>
                <a:cs typeface="Lucida Sans"/>
              </a:rPr>
              <a:t>the</a:t>
            </a:r>
            <a:r>
              <a:rPr sz="1200" spc="-25" dirty="0">
                <a:latin typeface="+mn-lt"/>
                <a:cs typeface="Lucida Sans"/>
              </a:rPr>
              <a:t> </a:t>
            </a:r>
            <a:r>
              <a:rPr sz="1200" dirty="0">
                <a:latin typeface="+mn-lt"/>
                <a:cs typeface="Lucida Sans"/>
              </a:rPr>
              <a:t>potential</a:t>
            </a:r>
            <a:r>
              <a:rPr sz="1200" spc="-30" dirty="0">
                <a:latin typeface="+mn-lt"/>
                <a:cs typeface="Lucida Sans"/>
              </a:rPr>
              <a:t> </a:t>
            </a:r>
            <a:r>
              <a:rPr sz="1200" spc="-20" dirty="0">
                <a:latin typeface="+mn-lt"/>
                <a:cs typeface="Lucida Sans"/>
              </a:rPr>
              <a:t>that 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+mn-lt"/>
                <a:cs typeface="Lucida Sans"/>
              </a:rPr>
              <a:t>threats</a:t>
            </a:r>
            <a:r>
              <a:rPr sz="1200" spc="-45" dirty="0">
                <a:solidFill>
                  <a:srgbClr val="0000FF"/>
                </a:solidFill>
                <a:latin typeface="+mn-lt"/>
                <a:cs typeface="Lucida Sans"/>
              </a:rPr>
              <a:t> </a:t>
            </a:r>
            <a:r>
              <a:rPr sz="1200" dirty="0">
                <a:latin typeface="+mn-lt"/>
                <a:cs typeface="Lucida Sans"/>
              </a:rPr>
              <a:t>will</a:t>
            </a:r>
            <a:r>
              <a:rPr sz="1200" spc="-15" dirty="0">
                <a:latin typeface="+mn-lt"/>
                <a:cs typeface="Lucida Sans"/>
              </a:rPr>
              <a:t> </a:t>
            </a:r>
            <a:r>
              <a:rPr sz="1200" dirty="0">
                <a:latin typeface="+mn-lt"/>
                <a:cs typeface="Lucida Sans"/>
              </a:rPr>
              <a:t>exploit</a:t>
            </a:r>
            <a:r>
              <a:rPr sz="1200" spc="-30" dirty="0">
                <a:latin typeface="+mn-lt"/>
                <a:cs typeface="Lucida Sans"/>
              </a:rPr>
              <a:t> 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+mn-lt"/>
                <a:cs typeface="Lucida Sans"/>
              </a:rPr>
              <a:t>vulnerabilities</a:t>
            </a:r>
            <a:r>
              <a:rPr sz="1200" spc="-35" dirty="0">
                <a:solidFill>
                  <a:srgbClr val="0000FF"/>
                </a:solidFill>
                <a:latin typeface="+mn-lt"/>
                <a:cs typeface="Lucida Sans"/>
              </a:rPr>
              <a:t> </a:t>
            </a:r>
            <a:r>
              <a:rPr sz="1200" dirty="0">
                <a:latin typeface="+mn-lt"/>
                <a:cs typeface="Lucida Sans"/>
              </a:rPr>
              <a:t>of</a:t>
            </a:r>
            <a:r>
              <a:rPr sz="1200" spc="-30" dirty="0">
                <a:latin typeface="+mn-lt"/>
                <a:cs typeface="Lucida Sans"/>
              </a:rPr>
              <a:t> </a:t>
            </a:r>
            <a:r>
              <a:rPr sz="1200" spc="-25" dirty="0">
                <a:latin typeface="+mn-lt"/>
                <a:cs typeface="Lucida Sans"/>
              </a:rPr>
              <a:t>an </a:t>
            </a:r>
            <a:r>
              <a:rPr sz="1200" dirty="0">
                <a:latin typeface="+mn-lt"/>
                <a:cs typeface="Lucida Sans"/>
              </a:rPr>
              <a:t>information</a:t>
            </a:r>
            <a:r>
              <a:rPr sz="1200" spc="-35" dirty="0">
                <a:latin typeface="+mn-lt"/>
                <a:cs typeface="Lucida Sans"/>
              </a:rPr>
              <a:t> 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+mn-lt"/>
                <a:cs typeface="Lucida Sans"/>
              </a:rPr>
              <a:t>asset</a:t>
            </a:r>
            <a:r>
              <a:rPr sz="1200" dirty="0">
                <a:solidFill>
                  <a:srgbClr val="0000FF"/>
                </a:solidFill>
                <a:latin typeface="+mn-lt"/>
                <a:cs typeface="Lucida Sans"/>
              </a:rPr>
              <a:t>,</a:t>
            </a:r>
            <a:r>
              <a:rPr sz="1200" spc="-25" dirty="0">
                <a:solidFill>
                  <a:srgbClr val="0000FF"/>
                </a:solidFill>
                <a:latin typeface="+mn-lt"/>
                <a:cs typeface="Lucida Sans"/>
              </a:rPr>
              <a:t> </a:t>
            </a:r>
            <a:r>
              <a:rPr sz="1200" dirty="0">
                <a:latin typeface="+mn-lt"/>
                <a:cs typeface="Lucida Sans"/>
              </a:rPr>
              <a:t>thereby</a:t>
            </a:r>
            <a:r>
              <a:rPr sz="1200" spc="-30" dirty="0">
                <a:latin typeface="+mn-lt"/>
                <a:cs typeface="Lucida Sans"/>
              </a:rPr>
              <a:t> </a:t>
            </a:r>
            <a:r>
              <a:rPr sz="1200" dirty="0">
                <a:latin typeface="+mn-lt"/>
                <a:cs typeface="Lucida Sans"/>
              </a:rPr>
              <a:t>cause</a:t>
            </a:r>
            <a:r>
              <a:rPr sz="1200" spc="-10" dirty="0">
                <a:latin typeface="+mn-lt"/>
                <a:cs typeface="Lucida Sans"/>
              </a:rPr>
              <a:t> </a:t>
            </a:r>
            <a:r>
              <a:rPr sz="1200" dirty="0">
                <a:latin typeface="+mn-lt"/>
                <a:cs typeface="Lucida Sans"/>
              </a:rPr>
              <a:t>harm</a:t>
            </a:r>
            <a:r>
              <a:rPr sz="1200" spc="-25" dirty="0">
                <a:latin typeface="+mn-lt"/>
                <a:cs typeface="Lucida Sans"/>
              </a:rPr>
              <a:t> to </a:t>
            </a:r>
            <a:r>
              <a:rPr sz="1200" dirty="0">
                <a:latin typeface="+mn-lt"/>
                <a:cs typeface="Lucida Sans"/>
              </a:rPr>
              <a:t>an</a:t>
            </a:r>
            <a:r>
              <a:rPr sz="1200" spc="-30" dirty="0">
                <a:latin typeface="+mn-lt"/>
                <a:cs typeface="Lucida Sans"/>
              </a:rPr>
              <a:t> </a:t>
            </a:r>
            <a:r>
              <a:rPr sz="1200" dirty="0">
                <a:latin typeface="+mn-lt"/>
                <a:cs typeface="Lucida Sans"/>
              </a:rPr>
              <a:t>organization</a:t>
            </a:r>
            <a:r>
              <a:rPr sz="1200" spc="-40" dirty="0">
                <a:latin typeface="+mn-lt"/>
                <a:cs typeface="Lucida Sans"/>
              </a:rPr>
              <a:t> </a:t>
            </a:r>
            <a:r>
              <a:rPr sz="1200" dirty="0">
                <a:latin typeface="+mn-lt"/>
                <a:cs typeface="Lucida Sans"/>
              </a:rPr>
              <a:t>[ISO</a:t>
            </a:r>
            <a:r>
              <a:rPr sz="1200" spc="-20" dirty="0">
                <a:latin typeface="+mn-lt"/>
                <a:cs typeface="Lucida Sans"/>
              </a:rPr>
              <a:t> </a:t>
            </a:r>
            <a:r>
              <a:rPr sz="1200" spc="-10" dirty="0">
                <a:latin typeface="+mn-lt"/>
                <a:cs typeface="Lucida Sans"/>
              </a:rPr>
              <a:t>27005]</a:t>
            </a:r>
            <a:endParaRPr sz="1200" dirty="0">
              <a:latin typeface="+mn-lt"/>
              <a:cs typeface="Lucida San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26968"/>
            <a:ext cx="4608195" cy="129539"/>
          </a:xfrm>
          <a:custGeom>
            <a:avLst/>
            <a:gdLst/>
            <a:ahLst/>
            <a:cxnLst/>
            <a:rect l="l" t="t" r="r" b="b"/>
            <a:pathLst>
              <a:path w="4608195" h="129539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129032"/>
                </a:lnTo>
                <a:lnTo>
                  <a:pt x="1520647" y="129032"/>
                </a:lnTo>
                <a:lnTo>
                  <a:pt x="3087344" y="129032"/>
                </a:lnTo>
                <a:lnTo>
                  <a:pt x="3087344" y="0"/>
                </a:lnTo>
                <a:close/>
              </a:path>
              <a:path w="4608195" h="129539">
                <a:moveTo>
                  <a:pt x="4608004" y="0"/>
                </a:moveTo>
                <a:lnTo>
                  <a:pt x="3087357" y="0"/>
                </a:lnTo>
                <a:lnTo>
                  <a:pt x="3087357" y="129032"/>
                </a:lnTo>
                <a:lnTo>
                  <a:pt x="4608004" y="129032"/>
                </a:lnTo>
                <a:lnTo>
                  <a:pt x="4608004" y="0"/>
                </a:lnTo>
                <a:close/>
              </a:path>
            </a:pathLst>
          </a:custGeom>
          <a:solidFill>
            <a:srgbClr val="387BB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764" y="302793"/>
            <a:ext cx="24860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/>
              <a:t>Security</a:t>
            </a:r>
            <a:r>
              <a:rPr sz="1400" spc="-5" dirty="0"/>
              <a:t> </a:t>
            </a:r>
            <a:r>
              <a:rPr sz="1400" dirty="0"/>
              <a:t>is</a:t>
            </a:r>
            <a:r>
              <a:rPr sz="1400" spc="-5" dirty="0"/>
              <a:t> </a:t>
            </a:r>
            <a:r>
              <a:rPr sz="1400" dirty="0"/>
              <a:t>Risk</a:t>
            </a:r>
            <a:r>
              <a:rPr sz="1400" spc="-15" dirty="0"/>
              <a:t> </a:t>
            </a:r>
            <a:r>
              <a:rPr sz="1400" spc="-10" dirty="0"/>
              <a:t>Management</a:t>
            </a:r>
            <a:endParaRPr sz="1400"/>
          </a:p>
        </p:txBody>
      </p:sp>
      <p:sp>
        <p:nvSpPr>
          <p:cNvPr id="3" name="object 3"/>
          <p:cNvSpPr txBox="1"/>
          <p:nvPr/>
        </p:nvSpPr>
        <p:spPr>
          <a:xfrm>
            <a:off x="356298" y="548559"/>
            <a:ext cx="3733800" cy="2430858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680"/>
              </a:spcBef>
              <a:buFont typeface="Wingdings"/>
              <a:buChar char=""/>
              <a:tabLst>
                <a:tab pos="184150" algn="l"/>
              </a:tabLst>
            </a:pPr>
            <a:r>
              <a:rPr sz="1200" dirty="0">
                <a:latin typeface="+mn-lt"/>
                <a:cs typeface="Arial"/>
              </a:rPr>
              <a:t>Risk</a:t>
            </a:r>
            <a:r>
              <a:rPr sz="1200" spc="-15" dirty="0">
                <a:latin typeface="+mn-lt"/>
                <a:cs typeface="Arial"/>
              </a:rPr>
              <a:t> </a:t>
            </a:r>
            <a:r>
              <a:rPr sz="1200" spc="-10" dirty="0">
                <a:latin typeface="+mn-lt"/>
                <a:cs typeface="Arial"/>
              </a:rPr>
              <a:t>management:</a:t>
            </a:r>
            <a:endParaRPr sz="1200" dirty="0">
              <a:latin typeface="+mn-lt"/>
              <a:cs typeface="Arial"/>
            </a:endParaRPr>
          </a:p>
          <a:p>
            <a:pPr>
              <a:lnSpc>
                <a:spcPct val="100000"/>
              </a:lnSpc>
            </a:pPr>
            <a:endParaRPr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Arial"/>
            </a:endParaRPr>
          </a:p>
          <a:p>
            <a:pPr marL="12065" marR="5080" algn="just">
              <a:lnSpc>
                <a:spcPct val="120000"/>
              </a:lnSpc>
              <a:spcBef>
                <a:spcPts val="5"/>
              </a:spcBef>
              <a:tabLst>
                <a:tab pos="535940" algn="l"/>
              </a:tabLst>
            </a:pPr>
            <a:r>
              <a:rPr lang="en-GB" sz="1200" i="1" dirty="0">
                <a:solidFill>
                  <a:schemeClr val="tx1"/>
                </a:solidFill>
                <a:latin typeface="+mn-lt"/>
                <a:cs typeface="Arial"/>
              </a:rPr>
              <a:t>R</a:t>
            </a:r>
            <a:r>
              <a:rPr sz="1200" i="1" dirty="0" err="1">
                <a:solidFill>
                  <a:schemeClr val="tx1"/>
                </a:solidFill>
                <a:latin typeface="+mn-lt"/>
                <a:cs typeface="Arial"/>
              </a:rPr>
              <a:t>isk</a:t>
            </a:r>
            <a:r>
              <a:rPr sz="1200" i="1" spc="-20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dirty="0">
                <a:solidFill>
                  <a:schemeClr val="tx1"/>
                </a:solidFill>
                <a:latin typeface="+mn-lt"/>
                <a:cs typeface="Arial"/>
              </a:rPr>
              <a:t>management</a:t>
            </a:r>
            <a:r>
              <a:rPr sz="1200" i="1" spc="-30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dirty="0">
                <a:solidFill>
                  <a:schemeClr val="tx1"/>
                </a:solidFill>
                <a:latin typeface="+mn-lt"/>
                <a:cs typeface="Arial"/>
              </a:rPr>
              <a:t>is</a:t>
            </a:r>
            <a:r>
              <a:rPr sz="1200" i="1" spc="-5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dirty="0">
                <a:solidFill>
                  <a:schemeClr val="tx1"/>
                </a:solidFill>
                <a:latin typeface="+mn-lt"/>
                <a:cs typeface="Arial"/>
              </a:rPr>
              <a:t>the</a:t>
            </a:r>
            <a:r>
              <a:rPr sz="1200" i="1" spc="-15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dirty="0">
                <a:solidFill>
                  <a:schemeClr val="tx1"/>
                </a:solidFill>
                <a:latin typeface="+mn-lt"/>
                <a:cs typeface="Arial"/>
              </a:rPr>
              <a:t>process</a:t>
            </a:r>
            <a:r>
              <a:rPr sz="1200" i="1" spc="-25" dirty="0">
                <a:solidFill>
                  <a:schemeClr val="tx1"/>
                </a:solidFill>
                <a:latin typeface="+mn-lt"/>
                <a:cs typeface="Arial"/>
              </a:rPr>
              <a:t> of </a:t>
            </a:r>
            <a:r>
              <a:rPr lang="en-GB" sz="1200" i="1" spc="-25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dirty="0">
                <a:solidFill>
                  <a:schemeClr val="tx1"/>
                </a:solidFill>
                <a:latin typeface="+mn-lt"/>
                <a:cs typeface="Arial"/>
              </a:rPr>
              <a:t>identifying</a:t>
            </a:r>
            <a:r>
              <a:rPr sz="1200" i="1" spc="-5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spc="-10" dirty="0">
                <a:solidFill>
                  <a:schemeClr val="tx1"/>
                </a:solidFill>
                <a:latin typeface="+mn-lt"/>
                <a:cs typeface="Arial"/>
              </a:rPr>
              <a:t>vulnerabilities</a:t>
            </a:r>
            <a:r>
              <a:rPr sz="1200" i="1" spc="5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dirty="0">
                <a:solidFill>
                  <a:schemeClr val="tx1"/>
                </a:solidFill>
                <a:latin typeface="+mn-lt"/>
                <a:cs typeface="Arial"/>
              </a:rPr>
              <a:t>and</a:t>
            </a:r>
            <a:r>
              <a:rPr sz="1200" i="1" spc="-5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dirty="0">
                <a:solidFill>
                  <a:schemeClr val="tx1"/>
                </a:solidFill>
                <a:latin typeface="+mn-lt"/>
                <a:cs typeface="Arial"/>
              </a:rPr>
              <a:t>threats</a:t>
            </a:r>
            <a:r>
              <a:rPr sz="1200" i="1" spc="-20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dirty="0">
                <a:solidFill>
                  <a:schemeClr val="tx1"/>
                </a:solidFill>
                <a:latin typeface="+mn-lt"/>
                <a:cs typeface="Arial"/>
              </a:rPr>
              <a:t>to</a:t>
            </a:r>
            <a:r>
              <a:rPr sz="1200" i="1" spc="-5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dirty="0">
                <a:solidFill>
                  <a:schemeClr val="tx1"/>
                </a:solidFill>
                <a:latin typeface="+mn-lt"/>
                <a:cs typeface="Arial"/>
              </a:rPr>
              <a:t>the</a:t>
            </a:r>
            <a:r>
              <a:rPr sz="1200" i="1" spc="-10" dirty="0">
                <a:solidFill>
                  <a:schemeClr val="tx1"/>
                </a:solidFill>
                <a:latin typeface="+mn-lt"/>
                <a:cs typeface="Arial"/>
              </a:rPr>
              <a:t> information </a:t>
            </a:r>
            <a:r>
              <a:rPr sz="1200" i="1" dirty="0">
                <a:solidFill>
                  <a:schemeClr val="tx1"/>
                </a:solidFill>
                <a:latin typeface="+mn-lt"/>
                <a:cs typeface="Arial"/>
              </a:rPr>
              <a:t>resources</a:t>
            </a:r>
            <a:r>
              <a:rPr sz="1200" i="1" spc="-30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dirty="0">
                <a:solidFill>
                  <a:schemeClr val="tx1"/>
                </a:solidFill>
                <a:latin typeface="+mn-lt"/>
                <a:cs typeface="Arial"/>
              </a:rPr>
              <a:t>used</a:t>
            </a:r>
            <a:r>
              <a:rPr sz="1200" i="1" spc="-30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dirty="0">
                <a:solidFill>
                  <a:schemeClr val="tx1"/>
                </a:solidFill>
                <a:latin typeface="+mn-lt"/>
                <a:cs typeface="Arial"/>
              </a:rPr>
              <a:t>by</a:t>
            </a:r>
            <a:r>
              <a:rPr sz="1200" i="1" spc="-20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dirty="0">
                <a:solidFill>
                  <a:schemeClr val="tx1"/>
                </a:solidFill>
                <a:latin typeface="+mn-lt"/>
                <a:cs typeface="Arial"/>
              </a:rPr>
              <a:t>an</a:t>
            </a:r>
            <a:r>
              <a:rPr sz="1200" i="1" spc="-25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dirty="0">
                <a:solidFill>
                  <a:schemeClr val="tx1"/>
                </a:solidFill>
                <a:latin typeface="+mn-lt"/>
                <a:cs typeface="Arial"/>
              </a:rPr>
              <a:t>organization</a:t>
            </a:r>
            <a:r>
              <a:rPr sz="1200" i="1" spc="-35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dirty="0">
                <a:solidFill>
                  <a:schemeClr val="tx1"/>
                </a:solidFill>
                <a:latin typeface="+mn-lt"/>
                <a:cs typeface="Arial"/>
              </a:rPr>
              <a:t>in</a:t>
            </a:r>
            <a:r>
              <a:rPr sz="1200" i="1" spc="-20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dirty="0">
                <a:solidFill>
                  <a:schemeClr val="tx1"/>
                </a:solidFill>
                <a:latin typeface="+mn-lt"/>
                <a:cs typeface="Arial"/>
              </a:rPr>
              <a:t>achieving</a:t>
            </a:r>
            <a:r>
              <a:rPr sz="1200" i="1" spc="-20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spc="-10" dirty="0">
                <a:solidFill>
                  <a:schemeClr val="tx1"/>
                </a:solidFill>
                <a:latin typeface="+mn-lt"/>
                <a:cs typeface="Arial"/>
              </a:rPr>
              <a:t>business </a:t>
            </a:r>
            <a:r>
              <a:rPr sz="1200" i="1" dirty="0">
                <a:solidFill>
                  <a:schemeClr val="tx1"/>
                </a:solidFill>
                <a:latin typeface="+mn-lt"/>
                <a:cs typeface="Arial"/>
              </a:rPr>
              <a:t>objectives,</a:t>
            </a:r>
            <a:r>
              <a:rPr sz="1200" i="1" spc="-15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dirty="0">
                <a:solidFill>
                  <a:schemeClr val="tx1"/>
                </a:solidFill>
                <a:latin typeface="+mn-lt"/>
                <a:cs typeface="Arial"/>
              </a:rPr>
              <a:t>and</a:t>
            </a:r>
            <a:r>
              <a:rPr sz="1200" i="1" spc="-5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dirty="0">
                <a:solidFill>
                  <a:schemeClr val="tx1"/>
                </a:solidFill>
                <a:latin typeface="+mn-lt"/>
                <a:cs typeface="Arial"/>
              </a:rPr>
              <a:t>deciding what</a:t>
            </a:r>
            <a:r>
              <a:rPr sz="1200" i="1" spc="-10" dirty="0">
                <a:solidFill>
                  <a:schemeClr val="tx1"/>
                </a:solidFill>
                <a:latin typeface="+mn-lt"/>
                <a:cs typeface="Arial"/>
              </a:rPr>
              <a:t> countermeasures,</a:t>
            </a:r>
            <a:r>
              <a:rPr sz="1200" i="1" spc="-25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dirty="0">
                <a:solidFill>
                  <a:schemeClr val="tx1"/>
                </a:solidFill>
                <a:latin typeface="+mn-lt"/>
                <a:cs typeface="Arial"/>
              </a:rPr>
              <a:t>if</a:t>
            </a:r>
            <a:r>
              <a:rPr sz="1200" i="1" spc="5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spc="-20" dirty="0">
                <a:solidFill>
                  <a:schemeClr val="tx1"/>
                </a:solidFill>
                <a:latin typeface="+mn-lt"/>
                <a:cs typeface="Arial"/>
              </a:rPr>
              <a:t>any,</a:t>
            </a:r>
            <a:r>
              <a:rPr lang="en-GB" sz="1200" i="1" spc="500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dirty="0">
                <a:solidFill>
                  <a:schemeClr val="tx1"/>
                </a:solidFill>
                <a:latin typeface="+mn-lt"/>
                <a:cs typeface="Arial"/>
              </a:rPr>
              <a:t>to</a:t>
            </a:r>
            <a:r>
              <a:rPr sz="1200" i="1" spc="-25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dirty="0">
                <a:solidFill>
                  <a:schemeClr val="tx1"/>
                </a:solidFill>
                <a:latin typeface="+mn-lt"/>
                <a:cs typeface="Arial"/>
              </a:rPr>
              <a:t>take</a:t>
            </a:r>
            <a:r>
              <a:rPr sz="1200" i="1" spc="-25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dirty="0">
                <a:solidFill>
                  <a:schemeClr val="tx1"/>
                </a:solidFill>
                <a:latin typeface="+mn-lt"/>
                <a:cs typeface="Arial"/>
              </a:rPr>
              <a:t>in</a:t>
            </a:r>
            <a:r>
              <a:rPr sz="1200" i="1" spc="-15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dirty="0">
                <a:solidFill>
                  <a:schemeClr val="tx1"/>
                </a:solidFill>
                <a:latin typeface="+mn-lt"/>
                <a:cs typeface="Arial"/>
              </a:rPr>
              <a:t>reducing</a:t>
            </a:r>
            <a:r>
              <a:rPr sz="1200" i="1" spc="-20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dirty="0">
                <a:solidFill>
                  <a:schemeClr val="tx1"/>
                </a:solidFill>
                <a:latin typeface="+mn-lt"/>
                <a:cs typeface="Arial"/>
              </a:rPr>
              <a:t>risk</a:t>
            </a:r>
            <a:r>
              <a:rPr sz="1200" i="1" spc="-25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dirty="0">
                <a:solidFill>
                  <a:schemeClr val="tx1"/>
                </a:solidFill>
                <a:latin typeface="+mn-lt"/>
                <a:cs typeface="Arial"/>
              </a:rPr>
              <a:t>to</a:t>
            </a:r>
            <a:r>
              <a:rPr sz="1200" i="1" spc="-20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dirty="0">
                <a:solidFill>
                  <a:schemeClr val="tx1"/>
                </a:solidFill>
                <a:latin typeface="+mn-lt"/>
                <a:cs typeface="Arial"/>
              </a:rPr>
              <a:t>an</a:t>
            </a:r>
            <a:r>
              <a:rPr sz="1200" i="1" spc="-15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dirty="0">
                <a:solidFill>
                  <a:schemeClr val="tx1"/>
                </a:solidFill>
                <a:latin typeface="+mn-lt"/>
                <a:cs typeface="Arial"/>
              </a:rPr>
              <a:t>acceptable</a:t>
            </a:r>
            <a:r>
              <a:rPr lang="en-GB" sz="1200" i="1" spc="-30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dirty="0">
                <a:solidFill>
                  <a:schemeClr val="tx1"/>
                </a:solidFill>
                <a:latin typeface="+mn-lt"/>
                <a:cs typeface="Arial"/>
              </a:rPr>
              <a:t>level,</a:t>
            </a:r>
            <a:r>
              <a:rPr sz="1200" i="1" spc="-15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dirty="0">
                <a:solidFill>
                  <a:schemeClr val="tx1"/>
                </a:solidFill>
                <a:latin typeface="+mn-lt"/>
                <a:cs typeface="Arial"/>
              </a:rPr>
              <a:t>based</a:t>
            </a:r>
            <a:r>
              <a:rPr sz="1200" i="1" spc="-20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spc="-25" dirty="0">
                <a:solidFill>
                  <a:schemeClr val="tx1"/>
                </a:solidFill>
                <a:latin typeface="+mn-lt"/>
                <a:cs typeface="Arial"/>
              </a:rPr>
              <a:t>on </a:t>
            </a:r>
            <a:r>
              <a:rPr sz="1200" i="1" dirty="0">
                <a:solidFill>
                  <a:schemeClr val="tx1"/>
                </a:solidFill>
                <a:latin typeface="+mn-lt"/>
                <a:cs typeface="Arial"/>
              </a:rPr>
              <a:t>the</a:t>
            </a:r>
            <a:r>
              <a:rPr sz="1200" i="1" spc="-30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dirty="0">
                <a:solidFill>
                  <a:schemeClr val="tx1"/>
                </a:solidFill>
                <a:latin typeface="+mn-lt"/>
                <a:cs typeface="Arial"/>
              </a:rPr>
              <a:t>value</a:t>
            </a:r>
            <a:r>
              <a:rPr sz="1200" i="1" spc="-20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dirty="0">
                <a:solidFill>
                  <a:schemeClr val="tx1"/>
                </a:solidFill>
                <a:latin typeface="+mn-lt"/>
                <a:cs typeface="Arial"/>
              </a:rPr>
              <a:t>of</a:t>
            </a:r>
            <a:r>
              <a:rPr sz="1200" i="1" spc="-20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dirty="0">
                <a:solidFill>
                  <a:schemeClr val="tx1"/>
                </a:solidFill>
                <a:latin typeface="+mn-lt"/>
                <a:cs typeface="Arial"/>
              </a:rPr>
              <a:t>the</a:t>
            </a:r>
            <a:r>
              <a:rPr sz="1200" i="1" spc="-25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dirty="0">
                <a:solidFill>
                  <a:schemeClr val="tx1"/>
                </a:solidFill>
                <a:latin typeface="+mn-lt"/>
                <a:cs typeface="Arial"/>
              </a:rPr>
              <a:t>information</a:t>
            </a:r>
            <a:r>
              <a:rPr sz="1200" i="1" spc="-25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dirty="0">
                <a:solidFill>
                  <a:schemeClr val="tx1"/>
                </a:solidFill>
                <a:latin typeface="+mn-lt"/>
                <a:cs typeface="Arial"/>
              </a:rPr>
              <a:t>resource</a:t>
            </a:r>
            <a:r>
              <a:rPr sz="1200" i="1" spc="-45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dirty="0">
                <a:solidFill>
                  <a:schemeClr val="tx1"/>
                </a:solidFill>
                <a:latin typeface="+mn-lt"/>
                <a:cs typeface="Arial"/>
              </a:rPr>
              <a:t>to</a:t>
            </a:r>
            <a:r>
              <a:rPr sz="1200" i="1" spc="-15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dirty="0">
                <a:solidFill>
                  <a:schemeClr val="tx1"/>
                </a:solidFill>
                <a:latin typeface="+mn-lt"/>
                <a:cs typeface="Arial"/>
              </a:rPr>
              <a:t>the</a:t>
            </a:r>
            <a:r>
              <a:rPr sz="1200" i="1" spc="-25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sz="1200" i="1" spc="-10" dirty="0" err="1">
                <a:solidFill>
                  <a:schemeClr val="tx1"/>
                </a:solidFill>
                <a:latin typeface="+mn-lt"/>
                <a:cs typeface="Arial"/>
              </a:rPr>
              <a:t>organi</a:t>
            </a:r>
            <a:r>
              <a:rPr lang="en-GB" sz="1200" i="1" spc="-10" dirty="0">
                <a:cs typeface="Arial"/>
              </a:rPr>
              <a:t>z</a:t>
            </a:r>
            <a:r>
              <a:rPr sz="1200" i="1" spc="-10" dirty="0" err="1">
                <a:solidFill>
                  <a:schemeClr val="tx1"/>
                </a:solidFill>
                <a:latin typeface="+mn-lt"/>
                <a:cs typeface="Arial"/>
              </a:rPr>
              <a:t>ation</a:t>
            </a:r>
            <a:r>
              <a:rPr sz="1200" i="1" spc="-10" dirty="0">
                <a:solidFill>
                  <a:schemeClr val="tx1"/>
                </a:solidFill>
                <a:latin typeface="+mn-lt"/>
                <a:cs typeface="Arial"/>
              </a:rPr>
              <a:t>.</a:t>
            </a:r>
            <a:endParaRPr lang="en-GB" sz="1200" i="1" spc="-10" dirty="0">
              <a:solidFill>
                <a:schemeClr val="tx1"/>
              </a:solidFill>
              <a:latin typeface="+mn-lt"/>
              <a:cs typeface="Arial"/>
            </a:endParaRPr>
          </a:p>
          <a:p>
            <a:pPr marL="12065" marR="5080">
              <a:lnSpc>
                <a:spcPct val="120000"/>
              </a:lnSpc>
              <a:spcBef>
                <a:spcPts val="5"/>
              </a:spcBef>
              <a:tabLst>
                <a:tab pos="535940" algn="l"/>
              </a:tabLst>
            </a:pPr>
            <a:endParaRPr lang="en-GB" sz="1200" i="1" spc="-10" dirty="0">
              <a:latin typeface="+mn-lt"/>
              <a:cs typeface="Arial"/>
            </a:endParaRPr>
          </a:p>
          <a:p>
            <a:pPr marL="12065" marR="5080">
              <a:lnSpc>
                <a:spcPct val="120000"/>
              </a:lnSpc>
              <a:spcBef>
                <a:spcPts val="5"/>
              </a:spcBef>
              <a:tabLst>
                <a:tab pos="535940" algn="l"/>
              </a:tabLst>
            </a:pPr>
            <a:r>
              <a:rPr lang="en-US" sz="1200" i="1" spc="-10" dirty="0">
                <a:latin typeface="+mn-lt"/>
                <a:cs typeface="Arial"/>
              </a:rPr>
              <a:t>- </a:t>
            </a:r>
            <a:r>
              <a:rPr lang="en-US" sz="1200" i="1" spc="-10" dirty="0">
                <a:latin typeface="+mn-lt"/>
                <a:cs typeface="Arial"/>
                <a:hlinkClick r:id="rId2"/>
              </a:rPr>
              <a:t>Certified Information Systems Auditor (CISA)</a:t>
            </a:r>
            <a:endParaRPr lang="en-GB" sz="1200" i="1" spc="-10" dirty="0">
              <a:latin typeface="+mn-lt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26968"/>
            <a:ext cx="4608195" cy="129539"/>
          </a:xfrm>
          <a:custGeom>
            <a:avLst/>
            <a:gdLst/>
            <a:ahLst/>
            <a:cxnLst/>
            <a:rect l="l" t="t" r="r" b="b"/>
            <a:pathLst>
              <a:path w="4608195" h="129539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129032"/>
                </a:lnTo>
                <a:lnTo>
                  <a:pt x="1520647" y="129032"/>
                </a:lnTo>
                <a:lnTo>
                  <a:pt x="3087344" y="129032"/>
                </a:lnTo>
                <a:lnTo>
                  <a:pt x="3087344" y="0"/>
                </a:lnTo>
                <a:close/>
              </a:path>
              <a:path w="4608195" h="129539">
                <a:moveTo>
                  <a:pt x="4608004" y="0"/>
                </a:moveTo>
                <a:lnTo>
                  <a:pt x="3087357" y="0"/>
                </a:lnTo>
                <a:lnTo>
                  <a:pt x="3087357" y="129032"/>
                </a:lnTo>
                <a:lnTo>
                  <a:pt x="4608004" y="129032"/>
                </a:lnTo>
                <a:lnTo>
                  <a:pt x="4608004" y="0"/>
                </a:lnTo>
                <a:close/>
              </a:path>
            </a:pathLst>
          </a:custGeom>
          <a:solidFill>
            <a:srgbClr val="387BB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7764" y="302793"/>
            <a:ext cx="2490686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Goal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of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lang="en-GB" sz="1400" b="1" spc="-5" dirty="0">
                <a:latin typeface="Arial"/>
                <a:cs typeface="Arial"/>
              </a:rPr>
              <a:t>R</a:t>
            </a:r>
            <a:r>
              <a:rPr sz="1400" b="1" dirty="0" err="1">
                <a:latin typeface="Arial"/>
                <a:cs typeface="Arial"/>
              </a:rPr>
              <a:t>isk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lang="en-GB" sz="1400" b="1" spc="-10" dirty="0">
                <a:latin typeface="Arial"/>
                <a:cs typeface="Arial"/>
              </a:rPr>
              <a:t>M</a:t>
            </a:r>
            <a:r>
              <a:rPr sz="1400" b="1" spc="-10" dirty="0" err="1">
                <a:latin typeface="Arial"/>
                <a:cs typeface="Arial"/>
              </a:rPr>
              <a:t>anagement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650" y="999374"/>
            <a:ext cx="4147566" cy="92964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326968"/>
            <a:ext cx="4608195" cy="129539"/>
          </a:xfrm>
          <a:custGeom>
            <a:avLst/>
            <a:gdLst/>
            <a:ahLst/>
            <a:cxnLst/>
            <a:rect l="l" t="t" r="r" b="b"/>
            <a:pathLst>
              <a:path w="4608195" h="129539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129032"/>
                </a:lnTo>
                <a:lnTo>
                  <a:pt x="1520647" y="129032"/>
                </a:lnTo>
                <a:lnTo>
                  <a:pt x="3087344" y="129032"/>
                </a:lnTo>
                <a:lnTo>
                  <a:pt x="3087344" y="0"/>
                </a:lnTo>
                <a:close/>
              </a:path>
              <a:path w="4608195" h="129539">
                <a:moveTo>
                  <a:pt x="4608004" y="0"/>
                </a:moveTo>
                <a:lnTo>
                  <a:pt x="3087357" y="0"/>
                </a:lnTo>
                <a:lnTo>
                  <a:pt x="3087357" y="129032"/>
                </a:lnTo>
                <a:lnTo>
                  <a:pt x="4608004" y="129032"/>
                </a:lnTo>
                <a:lnTo>
                  <a:pt x="4608004" y="0"/>
                </a:lnTo>
                <a:close/>
              </a:path>
            </a:pathLst>
          </a:custGeom>
          <a:solidFill>
            <a:srgbClr val="387BB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338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0"/>
              </a:spcBef>
            </a:pPr>
            <a:r>
              <a:rPr sz="1400" spc="-10" dirty="0"/>
              <a:t>Terminology</a:t>
            </a:r>
            <a:endParaRPr sz="1400" dirty="0"/>
          </a:p>
        </p:txBody>
      </p:sp>
      <p:sp>
        <p:nvSpPr>
          <p:cNvPr id="3" name="object 3"/>
          <p:cNvSpPr txBox="1"/>
          <p:nvPr/>
        </p:nvSpPr>
        <p:spPr>
          <a:xfrm>
            <a:off x="345325" y="713750"/>
            <a:ext cx="3754754" cy="1995033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84150" indent="-1714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/>
              <a:buChar char=""/>
              <a:tabLst>
                <a:tab pos="184150" algn="l"/>
              </a:tabLst>
            </a:pPr>
            <a:r>
              <a:rPr sz="1200" dirty="0">
                <a:solidFill>
                  <a:srgbClr val="0000FF"/>
                </a:solidFill>
                <a:latin typeface="+mn-lt"/>
                <a:cs typeface="Arial"/>
              </a:rPr>
              <a:t>Control:</a:t>
            </a:r>
            <a:r>
              <a:rPr sz="1200" spc="-10" dirty="0">
                <a:solidFill>
                  <a:srgbClr val="0000FF"/>
                </a:solidFill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means</a:t>
            </a:r>
            <a:r>
              <a:rPr sz="1200" spc="-2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of</a:t>
            </a:r>
            <a:r>
              <a:rPr sz="1200" spc="-2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managing</a:t>
            </a:r>
            <a:r>
              <a:rPr sz="1200" spc="-20" dirty="0">
                <a:latin typeface="+mn-lt"/>
                <a:cs typeface="Arial"/>
              </a:rPr>
              <a:t> risk</a:t>
            </a:r>
            <a:r>
              <a:rPr lang="en-GB" sz="1200" spc="-20" dirty="0">
                <a:latin typeface="+mn-lt"/>
                <a:cs typeface="Arial"/>
              </a:rPr>
              <a:t>:</a:t>
            </a:r>
            <a:endParaRPr sz="1200" dirty="0">
              <a:latin typeface="+mn-lt"/>
              <a:cs typeface="Arial"/>
            </a:endParaRPr>
          </a:p>
          <a:p>
            <a:pPr marL="384175" marR="5080" lvl="1" indent="-14351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har char="–"/>
              <a:tabLst>
                <a:tab pos="384810" algn="l"/>
              </a:tabLst>
            </a:pPr>
            <a:r>
              <a:rPr sz="1200" dirty="0">
                <a:latin typeface="+mn-lt"/>
                <a:cs typeface="Arial"/>
              </a:rPr>
              <a:t>including</a:t>
            </a:r>
            <a:r>
              <a:rPr sz="1200" spc="-3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policies,</a:t>
            </a:r>
            <a:r>
              <a:rPr sz="1200" spc="-30" dirty="0">
                <a:latin typeface="+mn-lt"/>
                <a:cs typeface="Arial"/>
              </a:rPr>
              <a:t> </a:t>
            </a:r>
            <a:r>
              <a:rPr sz="1200" spc="-10" dirty="0">
                <a:latin typeface="+mn-lt"/>
                <a:cs typeface="Arial"/>
              </a:rPr>
              <a:t>procedures,</a:t>
            </a:r>
            <a:r>
              <a:rPr sz="1200" spc="-30" dirty="0">
                <a:latin typeface="+mn-lt"/>
                <a:cs typeface="Arial"/>
              </a:rPr>
              <a:t> </a:t>
            </a:r>
            <a:r>
              <a:rPr sz="1200" spc="-10" dirty="0">
                <a:latin typeface="+mn-lt"/>
                <a:cs typeface="Arial"/>
              </a:rPr>
              <a:t>guidelines,</a:t>
            </a:r>
            <a:r>
              <a:rPr sz="1200" spc="-3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practices</a:t>
            </a:r>
            <a:r>
              <a:rPr sz="1200" spc="-30" dirty="0">
                <a:latin typeface="+mn-lt"/>
                <a:cs typeface="Arial"/>
              </a:rPr>
              <a:t> </a:t>
            </a:r>
            <a:r>
              <a:rPr sz="1200" spc="-25" dirty="0">
                <a:latin typeface="+mn-lt"/>
                <a:cs typeface="Arial"/>
              </a:rPr>
              <a:t>or </a:t>
            </a:r>
            <a:r>
              <a:rPr sz="1200" spc="-10" dirty="0">
                <a:latin typeface="+mn-lt"/>
                <a:cs typeface="Arial"/>
              </a:rPr>
              <a:t>organizational</a:t>
            </a:r>
            <a:r>
              <a:rPr sz="1200" spc="-2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structures,</a:t>
            </a:r>
            <a:r>
              <a:rPr sz="1200" spc="-1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which</a:t>
            </a:r>
            <a:r>
              <a:rPr sz="1200" spc="-2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can</a:t>
            </a:r>
            <a:r>
              <a:rPr sz="1200" spc="-1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be </a:t>
            </a:r>
            <a:r>
              <a:rPr sz="1200" spc="-10" dirty="0">
                <a:solidFill>
                  <a:srgbClr val="0000FF"/>
                </a:solidFill>
                <a:latin typeface="+mn-lt"/>
                <a:cs typeface="Arial"/>
              </a:rPr>
              <a:t>administrative, </a:t>
            </a:r>
            <a:r>
              <a:rPr sz="1200" dirty="0">
                <a:solidFill>
                  <a:srgbClr val="0000FF"/>
                </a:solidFill>
                <a:latin typeface="+mn-lt"/>
                <a:cs typeface="Arial"/>
              </a:rPr>
              <a:t>technical,</a:t>
            </a:r>
            <a:r>
              <a:rPr sz="1200" spc="-30" dirty="0">
                <a:solidFill>
                  <a:srgbClr val="0000FF"/>
                </a:solidFill>
                <a:latin typeface="+mn-lt"/>
                <a:cs typeface="Arial"/>
              </a:rPr>
              <a:t> </a:t>
            </a:r>
            <a:r>
              <a:rPr sz="1200" spc="-10" dirty="0">
                <a:solidFill>
                  <a:srgbClr val="0000FF"/>
                </a:solidFill>
                <a:latin typeface="+mn-lt"/>
                <a:cs typeface="Arial"/>
              </a:rPr>
              <a:t>management, </a:t>
            </a:r>
            <a:r>
              <a:rPr sz="1200" dirty="0">
                <a:solidFill>
                  <a:srgbClr val="0000FF"/>
                </a:solidFill>
                <a:latin typeface="+mn-lt"/>
                <a:cs typeface="Arial"/>
              </a:rPr>
              <a:t>or</a:t>
            </a:r>
            <a:r>
              <a:rPr sz="1200" spc="-20" dirty="0">
                <a:solidFill>
                  <a:srgbClr val="0000FF"/>
                </a:solidFill>
                <a:latin typeface="+mn-lt"/>
                <a:cs typeface="Arial"/>
              </a:rPr>
              <a:t> </a:t>
            </a:r>
            <a:r>
              <a:rPr sz="1200" dirty="0">
                <a:solidFill>
                  <a:srgbClr val="0000FF"/>
                </a:solidFill>
                <a:latin typeface="+mn-lt"/>
                <a:cs typeface="Arial"/>
              </a:rPr>
              <a:t>legal</a:t>
            </a:r>
            <a:r>
              <a:rPr sz="1200" spc="-15" dirty="0">
                <a:solidFill>
                  <a:srgbClr val="0000FF"/>
                </a:solidFill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in</a:t>
            </a:r>
            <a:r>
              <a:rPr sz="1200" spc="-25" dirty="0">
                <a:latin typeface="+mn-lt"/>
                <a:cs typeface="Arial"/>
              </a:rPr>
              <a:t> </a:t>
            </a:r>
            <a:r>
              <a:rPr sz="1200" spc="-10" dirty="0">
                <a:latin typeface="+mn-lt"/>
                <a:cs typeface="Arial"/>
              </a:rPr>
              <a:t>nature</a:t>
            </a:r>
            <a:endParaRPr sz="1200" dirty="0">
              <a:latin typeface="+mn-lt"/>
              <a:cs typeface="Arial"/>
            </a:endParaRPr>
          </a:p>
          <a:p>
            <a:pPr marL="384175" marR="208279" lvl="1" indent="-14351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har char="–"/>
              <a:tabLst>
                <a:tab pos="384810" algn="l"/>
              </a:tabLst>
            </a:pPr>
            <a:r>
              <a:rPr lang="en-GB" sz="1200" dirty="0">
                <a:latin typeface="+mn-lt"/>
                <a:cs typeface="Arial"/>
              </a:rPr>
              <a:t>'</a:t>
            </a:r>
            <a:r>
              <a:rPr sz="1200" dirty="0">
                <a:latin typeface="+mn-lt"/>
                <a:cs typeface="Arial"/>
              </a:rPr>
              <a:t>Control</a:t>
            </a:r>
            <a:r>
              <a:rPr lang="en-GB" sz="1200" dirty="0">
                <a:latin typeface="+mn-lt"/>
                <a:cs typeface="Arial"/>
              </a:rPr>
              <a:t>'</a:t>
            </a:r>
            <a:r>
              <a:rPr sz="1200" spc="-2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is</a:t>
            </a:r>
            <a:r>
              <a:rPr sz="1200" spc="-3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also</a:t>
            </a:r>
            <a:r>
              <a:rPr sz="1200" spc="-2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used</a:t>
            </a:r>
            <a:r>
              <a:rPr sz="1200" spc="-3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as</a:t>
            </a:r>
            <a:r>
              <a:rPr sz="1200" spc="-3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a</a:t>
            </a:r>
            <a:r>
              <a:rPr sz="1200" spc="-3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synonym</a:t>
            </a:r>
            <a:r>
              <a:rPr sz="1200" spc="-1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for</a:t>
            </a:r>
            <a:r>
              <a:rPr sz="1200" spc="-30" dirty="0">
                <a:latin typeface="+mn-lt"/>
                <a:cs typeface="Arial"/>
              </a:rPr>
              <a:t> </a:t>
            </a:r>
            <a:r>
              <a:rPr lang="en-GB" sz="1200" spc="-30" dirty="0">
                <a:latin typeface="+mn-lt"/>
                <a:cs typeface="Arial"/>
              </a:rPr>
              <a:t>'</a:t>
            </a:r>
            <a:r>
              <a:rPr sz="1200" dirty="0">
                <a:latin typeface="+mn-lt"/>
                <a:cs typeface="Arial"/>
              </a:rPr>
              <a:t>safeguard</a:t>
            </a:r>
            <a:r>
              <a:rPr lang="en-GB" sz="1200" dirty="0">
                <a:latin typeface="+mn-lt"/>
                <a:cs typeface="Arial"/>
              </a:rPr>
              <a:t>'</a:t>
            </a:r>
            <a:r>
              <a:rPr sz="1200" spc="-25" dirty="0">
                <a:latin typeface="+mn-lt"/>
                <a:cs typeface="Arial"/>
              </a:rPr>
              <a:t> or </a:t>
            </a:r>
            <a:r>
              <a:rPr lang="en-GB" sz="1200" spc="-25" dirty="0">
                <a:latin typeface="+mn-lt"/>
                <a:cs typeface="Arial"/>
              </a:rPr>
              <a:t>'</a:t>
            </a:r>
            <a:r>
              <a:rPr sz="1200" spc="-10" dirty="0">
                <a:latin typeface="+mn-lt"/>
                <a:cs typeface="Arial"/>
              </a:rPr>
              <a:t>countermeasure</a:t>
            </a:r>
            <a:r>
              <a:rPr lang="en-GB" sz="1200" spc="-10" dirty="0">
                <a:latin typeface="+mn-lt"/>
                <a:cs typeface="Arial"/>
              </a:rPr>
              <a:t>'</a:t>
            </a:r>
            <a:endParaRPr sz="1200" dirty="0">
              <a:latin typeface="+mn-lt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26968"/>
            <a:ext cx="4608195" cy="129539"/>
          </a:xfrm>
          <a:custGeom>
            <a:avLst/>
            <a:gdLst/>
            <a:ahLst/>
            <a:cxnLst/>
            <a:rect l="l" t="t" r="r" b="b"/>
            <a:pathLst>
              <a:path w="4608195" h="129539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129032"/>
                </a:lnTo>
                <a:lnTo>
                  <a:pt x="1520647" y="129032"/>
                </a:lnTo>
                <a:lnTo>
                  <a:pt x="3087344" y="129032"/>
                </a:lnTo>
                <a:lnTo>
                  <a:pt x="3087344" y="0"/>
                </a:lnTo>
                <a:close/>
              </a:path>
              <a:path w="4608195" h="129539">
                <a:moveTo>
                  <a:pt x="4608004" y="0"/>
                </a:moveTo>
                <a:lnTo>
                  <a:pt x="3087357" y="0"/>
                </a:lnTo>
                <a:lnTo>
                  <a:pt x="3087357" y="129032"/>
                </a:lnTo>
                <a:lnTo>
                  <a:pt x="4608004" y="129032"/>
                </a:lnTo>
                <a:lnTo>
                  <a:pt x="4608004" y="0"/>
                </a:lnTo>
                <a:close/>
              </a:path>
            </a:pathLst>
          </a:custGeom>
          <a:solidFill>
            <a:srgbClr val="387BB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8417" y="145846"/>
            <a:ext cx="4469765" cy="3310254"/>
            <a:chOff x="138417" y="145846"/>
            <a:chExt cx="4469765" cy="3310254"/>
          </a:xfrm>
        </p:grpSpPr>
        <p:sp>
          <p:nvSpPr>
            <p:cNvPr id="3" name="object 3"/>
            <p:cNvSpPr/>
            <p:nvPr/>
          </p:nvSpPr>
          <p:spPr>
            <a:xfrm>
              <a:off x="313296" y="591997"/>
              <a:ext cx="4151629" cy="0"/>
            </a:xfrm>
            <a:custGeom>
              <a:avLst/>
              <a:gdLst/>
              <a:ahLst/>
              <a:cxnLst/>
              <a:rect l="l" t="t" r="r" b="b"/>
              <a:pathLst>
                <a:path w="4151629">
                  <a:moveTo>
                    <a:pt x="0" y="0"/>
                  </a:moveTo>
                  <a:lnTo>
                    <a:pt x="4151376" y="0"/>
                  </a:lnTo>
                </a:path>
              </a:pathLst>
            </a:custGeom>
            <a:ln w="14287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467" y="3321862"/>
              <a:ext cx="577596" cy="134137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347764" y="302793"/>
            <a:ext cx="2947886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Relationship</a:t>
            </a:r>
            <a:r>
              <a:rPr lang="en-GB" sz="1400" b="1" dirty="0">
                <a:latin typeface="Arial"/>
                <a:cs typeface="Arial"/>
              </a:rPr>
              <a:t>s: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lang="en-GB" sz="1400" b="1" spc="-55" dirty="0">
                <a:latin typeface="Arial"/>
                <a:cs typeface="Arial"/>
              </a:rPr>
              <a:t>R</a:t>
            </a:r>
            <a:r>
              <a:rPr sz="1400" b="1" dirty="0" err="1">
                <a:latin typeface="Arial"/>
                <a:cs typeface="Arial"/>
              </a:rPr>
              <a:t>isk</a:t>
            </a:r>
            <a:r>
              <a:rPr sz="1400" b="1" spc="-75" dirty="0">
                <a:latin typeface="Arial"/>
                <a:cs typeface="Arial"/>
              </a:rPr>
              <a:t> </a:t>
            </a:r>
            <a:r>
              <a:rPr lang="en-GB" sz="1400" b="1" spc="-10" dirty="0">
                <a:latin typeface="Arial"/>
                <a:cs typeface="Arial"/>
              </a:rPr>
              <a:t>T</a:t>
            </a:r>
            <a:r>
              <a:rPr sz="1400" b="1" spc="-10" dirty="0" err="1">
                <a:latin typeface="Arial"/>
                <a:cs typeface="Arial"/>
              </a:rPr>
              <a:t>erms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250" y="704147"/>
            <a:ext cx="3121615" cy="246687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904320" y="3162974"/>
            <a:ext cx="2074545" cy="891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95"/>
              </a:spcBef>
            </a:pPr>
            <a:r>
              <a:rPr lang="en-GB" sz="500" i="1" spc="-10" dirty="0">
                <a:latin typeface="Lucida Sans"/>
                <a:cs typeface="Lucida Sans"/>
              </a:rPr>
              <a:t>*</a:t>
            </a:r>
            <a:r>
              <a:rPr sz="500" i="1" spc="-10" dirty="0">
                <a:latin typeface="Lucida Sans"/>
                <a:cs typeface="Lucida Sans"/>
              </a:rPr>
              <a:t>Reproduced</a:t>
            </a:r>
            <a:r>
              <a:rPr sz="500" i="1" dirty="0">
                <a:latin typeface="Lucida Sans"/>
                <a:cs typeface="Lucida Sans"/>
              </a:rPr>
              <a:t> from ISO</a:t>
            </a:r>
            <a:r>
              <a:rPr sz="500" i="1" spc="-10" dirty="0">
                <a:latin typeface="Lucida Sans"/>
                <a:cs typeface="Lucida Sans"/>
              </a:rPr>
              <a:t>27032</a:t>
            </a:r>
            <a:r>
              <a:rPr lang="en-GB" sz="500" i="1" spc="-10" dirty="0">
                <a:latin typeface="Lucida Sans"/>
                <a:cs typeface="Lucida Sans"/>
              </a:rPr>
              <a:t> – Security Techniques</a:t>
            </a:r>
            <a:endParaRPr sz="500" i="1" dirty="0">
              <a:latin typeface="Lucida Sans"/>
              <a:cs typeface="Lucida San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326968"/>
            <a:ext cx="4608195" cy="129539"/>
          </a:xfrm>
          <a:custGeom>
            <a:avLst/>
            <a:gdLst/>
            <a:ahLst/>
            <a:cxnLst/>
            <a:rect l="l" t="t" r="r" b="b"/>
            <a:pathLst>
              <a:path w="4608195" h="129539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129032"/>
                </a:lnTo>
                <a:lnTo>
                  <a:pt x="1520647" y="129032"/>
                </a:lnTo>
                <a:lnTo>
                  <a:pt x="3087344" y="129032"/>
                </a:lnTo>
                <a:lnTo>
                  <a:pt x="3087344" y="0"/>
                </a:lnTo>
                <a:close/>
              </a:path>
              <a:path w="4608195" h="129539">
                <a:moveTo>
                  <a:pt x="4608004" y="0"/>
                </a:moveTo>
                <a:lnTo>
                  <a:pt x="3087357" y="0"/>
                </a:lnTo>
                <a:lnTo>
                  <a:pt x="3087357" y="129032"/>
                </a:lnTo>
                <a:lnTo>
                  <a:pt x="4608004" y="129032"/>
                </a:lnTo>
                <a:lnTo>
                  <a:pt x="4608004" y="0"/>
                </a:lnTo>
                <a:close/>
              </a:path>
            </a:pathLst>
          </a:custGeom>
          <a:solidFill>
            <a:srgbClr val="387BB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58132" y="784192"/>
            <a:ext cx="3394718" cy="1583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5575" marR="5080" indent="-14351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latin typeface="+mn-lt"/>
                <a:cs typeface="Arial"/>
              </a:rPr>
              <a:t>–</a:t>
            </a:r>
            <a:r>
              <a:rPr sz="950" spc="270" dirty="0">
                <a:latin typeface="+mn-lt"/>
                <a:cs typeface="Arial"/>
              </a:rPr>
              <a:t> </a:t>
            </a:r>
            <a:r>
              <a:rPr sz="950" dirty="0">
                <a:latin typeface="+mn-lt"/>
                <a:cs typeface="Arial"/>
              </a:rPr>
              <a:t>ISF</a:t>
            </a:r>
            <a:r>
              <a:rPr sz="950" spc="-25" dirty="0">
                <a:latin typeface="+mn-lt"/>
                <a:cs typeface="Arial"/>
              </a:rPr>
              <a:t> </a:t>
            </a:r>
            <a:r>
              <a:rPr sz="950" dirty="0">
                <a:latin typeface="+mn-lt"/>
                <a:cs typeface="Arial"/>
              </a:rPr>
              <a:t>METHODS</a:t>
            </a:r>
            <a:r>
              <a:rPr sz="950" spc="-20" dirty="0">
                <a:latin typeface="+mn-lt"/>
                <a:cs typeface="Arial"/>
              </a:rPr>
              <a:t> </a:t>
            </a:r>
            <a:r>
              <a:rPr sz="950" dirty="0">
                <a:latin typeface="+mn-lt"/>
                <a:cs typeface="Arial"/>
              </a:rPr>
              <a:t>FOR</a:t>
            </a:r>
            <a:r>
              <a:rPr sz="950" spc="-25" dirty="0">
                <a:latin typeface="+mn-lt"/>
                <a:cs typeface="Arial"/>
              </a:rPr>
              <a:t> </a:t>
            </a:r>
            <a:r>
              <a:rPr sz="950" dirty="0">
                <a:latin typeface="+mn-lt"/>
                <a:cs typeface="Arial"/>
              </a:rPr>
              <a:t>RISK</a:t>
            </a:r>
            <a:r>
              <a:rPr sz="950" spc="-25" dirty="0">
                <a:latin typeface="+mn-lt"/>
                <a:cs typeface="Arial"/>
              </a:rPr>
              <a:t> </a:t>
            </a:r>
            <a:r>
              <a:rPr sz="950" dirty="0">
                <a:latin typeface="+mn-lt"/>
                <a:cs typeface="Arial"/>
              </a:rPr>
              <a:t>ASSESSMENT</a:t>
            </a:r>
            <a:r>
              <a:rPr sz="950" spc="-15" dirty="0">
                <a:latin typeface="+mn-lt"/>
                <a:cs typeface="Arial"/>
              </a:rPr>
              <a:t> </a:t>
            </a:r>
            <a:r>
              <a:rPr sz="950" dirty="0">
                <a:latin typeface="+mn-lt"/>
                <a:cs typeface="Arial"/>
              </a:rPr>
              <a:t>AND</a:t>
            </a:r>
            <a:r>
              <a:rPr sz="950" spc="-20" dirty="0">
                <a:latin typeface="+mn-lt"/>
                <a:cs typeface="Arial"/>
              </a:rPr>
              <a:t> RISK </a:t>
            </a:r>
            <a:r>
              <a:rPr sz="950" spc="-10" dirty="0">
                <a:latin typeface="+mn-lt"/>
                <a:cs typeface="Arial"/>
              </a:rPr>
              <a:t>MANAGEMENT</a:t>
            </a:r>
            <a:endParaRPr sz="950" dirty="0">
              <a:latin typeface="+mn-lt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8132" y="967484"/>
            <a:ext cx="92710" cy="37338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950" spc="-5" dirty="0">
                <a:latin typeface="Arial"/>
                <a:cs typeface="Arial"/>
              </a:rPr>
              <a:t>–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950" spc="-5" dirty="0">
                <a:latin typeface="Arial"/>
                <a:cs typeface="Arial"/>
              </a:rPr>
              <a:t>–</a:t>
            </a:r>
            <a:endParaRPr sz="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2869" y="983041"/>
            <a:ext cx="1019810" cy="342265"/>
          </a:xfrm>
          <a:prstGeom prst="rect">
            <a:avLst/>
          </a:prstGeom>
          <a:ln w="14287">
            <a:solidFill>
              <a:srgbClr val="FF0000"/>
            </a:solidFill>
          </a:ln>
        </p:spPr>
        <p:txBody>
          <a:bodyPr vert="horz" wrap="square" lIns="0" tIns="14605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15"/>
              </a:spcBef>
            </a:pPr>
            <a:r>
              <a:rPr sz="950" dirty="0">
                <a:latin typeface="+mn-lt"/>
                <a:cs typeface="Arial"/>
              </a:rPr>
              <a:t>ISO/IEC</a:t>
            </a:r>
            <a:r>
              <a:rPr sz="950" spc="-40" dirty="0">
                <a:latin typeface="+mn-lt"/>
                <a:cs typeface="Arial"/>
              </a:rPr>
              <a:t> </a:t>
            </a:r>
            <a:r>
              <a:rPr sz="950" spc="-10" dirty="0">
                <a:latin typeface="+mn-lt"/>
                <a:cs typeface="Arial"/>
              </a:rPr>
              <a:t>27005</a:t>
            </a:r>
            <a:endParaRPr sz="950" dirty="0">
              <a:latin typeface="+mn-lt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225"/>
              </a:spcBef>
            </a:pPr>
            <a:r>
              <a:rPr sz="950" spc="-10" dirty="0">
                <a:latin typeface="+mn-lt"/>
                <a:cs typeface="Arial"/>
              </a:rPr>
              <a:t>SP800-</a:t>
            </a:r>
            <a:r>
              <a:rPr sz="950" dirty="0">
                <a:latin typeface="+mn-lt"/>
                <a:cs typeface="Arial"/>
              </a:rPr>
              <a:t>30</a:t>
            </a:r>
            <a:r>
              <a:rPr sz="950" spc="25" dirty="0">
                <a:latin typeface="+mn-lt"/>
                <a:cs typeface="Arial"/>
              </a:rPr>
              <a:t> </a:t>
            </a:r>
            <a:r>
              <a:rPr sz="950" spc="-10" dirty="0">
                <a:latin typeface="+mn-lt"/>
                <a:cs typeface="Arial"/>
              </a:rPr>
              <a:t>(NIST)</a:t>
            </a:r>
            <a:endParaRPr sz="950" dirty="0">
              <a:latin typeface="+mn-lt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756" y="1315084"/>
            <a:ext cx="4465790" cy="1562607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424180" indent="-144145">
              <a:lnSpc>
                <a:spcPct val="100000"/>
              </a:lnSpc>
              <a:spcBef>
                <a:spcPts val="325"/>
              </a:spcBef>
              <a:buChar char="–"/>
              <a:tabLst>
                <a:tab pos="424815" algn="l"/>
              </a:tabLst>
            </a:pPr>
            <a:r>
              <a:rPr sz="950" dirty="0">
                <a:latin typeface="+mn-lt"/>
                <a:cs typeface="Arial"/>
              </a:rPr>
              <a:t>AUSTRIAN</a:t>
            </a:r>
            <a:r>
              <a:rPr sz="950" spc="-30" dirty="0">
                <a:latin typeface="+mn-lt"/>
                <a:cs typeface="Arial"/>
              </a:rPr>
              <a:t> </a:t>
            </a:r>
            <a:r>
              <a:rPr sz="950" dirty="0">
                <a:latin typeface="+mn-lt"/>
                <a:cs typeface="Arial"/>
              </a:rPr>
              <a:t>IT</a:t>
            </a:r>
            <a:r>
              <a:rPr sz="950" spc="-35" dirty="0">
                <a:latin typeface="+mn-lt"/>
                <a:cs typeface="Arial"/>
              </a:rPr>
              <a:t> </a:t>
            </a:r>
            <a:r>
              <a:rPr sz="950" dirty="0">
                <a:latin typeface="+mn-lt"/>
                <a:cs typeface="Arial"/>
              </a:rPr>
              <a:t>SECURITY</a:t>
            </a:r>
            <a:r>
              <a:rPr sz="950" spc="-25" dirty="0">
                <a:latin typeface="+mn-lt"/>
                <a:cs typeface="Arial"/>
              </a:rPr>
              <a:t> </a:t>
            </a:r>
            <a:r>
              <a:rPr sz="950" spc="-10" dirty="0">
                <a:latin typeface="+mn-lt"/>
                <a:cs typeface="Arial"/>
              </a:rPr>
              <a:t>HANDBOOK</a:t>
            </a:r>
            <a:endParaRPr sz="950" dirty="0">
              <a:latin typeface="+mn-lt"/>
              <a:cs typeface="Arial"/>
            </a:endParaRPr>
          </a:p>
          <a:p>
            <a:pPr marL="424180" indent="-144145">
              <a:lnSpc>
                <a:spcPct val="100000"/>
              </a:lnSpc>
              <a:spcBef>
                <a:spcPts val="229"/>
              </a:spcBef>
              <a:buChar char="–"/>
              <a:tabLst>
                <a:tab pos="424815" algn="l"/>
              </a:tabLst>
            </a:pPr>
            <a:r>
              <a:rPr sz="950" spc="-10" dirty="0">
                <a:latin typeface="+mn-lt"/>
                <a:cs typeface="Arial"/>
              </a:rPr>
              <a:t>CRAMM</a:t>
            </a:r>
            <a:endParaRPr sz="950" dirty="0">
              <a:latin typeface="+mn-lt"/>
              <a:cs typeface="Arial"/>
            </a:endParaRPr>
          </a:p>
          <a:p>
            <a:pPr marL="424180" indent="-144145">
              <a:lnSpc>
                <a:spcPct val="100000"/>
              </a:lnSpc>
              <a:spcBef>
                <a:spcPts val="229"/>
              </a:spcBef>
              <a:buChar char="–"/>
              <a:tabLst>
                <a:tab pos="424815" algn="l"/>
              </a:tabLst>
            </a:pPr>
            <a:r>
              <a:rPr sz="950" spc="-20" dirty="0">
                <a:latin typeface="+mn-lt"/>
                <a:cs typeface="Arial"/>
              </a:rPr>
              <a:t>FRAP</a:t>
            </a:r>
            <a:endParaRPr sz="950" dirty="0">
              <a:latin typeface="+mn-lt"/>
              <a:cs typeface="Arial"/>
            </a:endParaRPr>
          </a:p>
          <a:p>
            <a:pPr marL="424180" indent="-144145">
              <a:lnSpc>
                <a:spcPct val="100000"/>
              </a:lnSpc>
              <a:spcBef>
                <a:spcPts val="225"/>
              </a:spcBef>
              <a:buChar char="–"/>
              <a:tabLst>
                <a:tab pos="424815" algn="l"/>
              </a:tabLst>
            </a:pPr>
            <a:r>
              <a:rPr sz="950" dirty="0">
                <a:latin typeface="+mn-lt"/>
                <a:cs typeface="Arial"/>
              </a:rPr>
              <a:t>DUTCH</a:t>
            </a:r>
            <a:r>
              <a:rPr sz="950" spc="-20" dirty="0">
                <a:latin typeface="+mn-lt"/>
                <a:cs typeface="Arial"/>
              </a:rPr>
              <a:t> </a:t>
            </a:r>
            <a:r>
              <a:rPr sz="950" dirty="0">
                <a:latin typeface="+mn-lt"/>
                <a:cs typeface="Arial"/>
              </a:rPr>
              <a:t>A&amp;K</a:t>
            </a:r>
            <a:r>
              <a:rPr sz="950" spc="-30" dirty="0">
                <a:latin typeface="+mn-lt"/>
                <a:cs typeface="Arial"/>
              </a:rPr>
              <a:t> </a:t>
            </a:r>
            <a:r>
              <a:rPr sz="950" spc="-10" dirty="0">
                <a:latin typeface="+mn-lt"/>
                <a:cs typeface="Arial"/>
              </a:rPr>
              <a:t>ANALYSIS</a:t>
            </a:r>
            <a:endParaRPr sz="950" dirty="0">
              <a:latin typeface="+mn-lt"/>
              <a:cs typeface="Arial"/>
            </a:endParaRPr>
          </a:p>
          <a:p>
            <a:pPr marL="424180" indent="-144145">
              <a:lnSpc>
                <a:spcPct val="100000"/>
              </a:lnSpc>
              <a:spcBef>
                <a:spcPts val="229"/>
              </a:spcBef>
              <a:buChar char="–"/>
              <a:tabLst>
                <a:tab pos="424815" algn="l"/>
              </a:tabLst>
            </a:pPr>
            <a:r>
              <a:rPr sz="950" spc="-10" dirty="0">
                <a:latin typeface="+mn-lt"/>
                <a:cs typeface="Arial"/>
              </a:rPr>
              <a:t>EBIOS</a:t>
            </a:r>
            <a:endParaRPr sz="950" dirty="0">
              <a:latin typeface="+mn-lt"/>
              <a:cs typeface="Arial"/>
            </a:endParaRPr>
          </a:p>
          <a:p>
            <a:pPr marL="424180" indent="-144145">
              <a:lnSpc>
                <a:spcPct val="100000"/>
              </a:lnSpc>
              <a:spcBef>
                <a:spcPts val="229"/>
              </a:spcBef>
              <a:buChar char="–"/>
              <a:tabLst>
                <a:tab pos="424815" algn="l"/>
              </a:tabLst>
            </a:pPr>
            <a:r>
              <a:rPr sz="950" spc="-10" dirty="0">
                <a:latin typeface="+mn-lt"/>
                <a:cs typeface="Arial"/>
              </a:rPr>
              <a:t>IT-</a:t>
            </a:r>
            <a:r>
              <a:rPr sz="950" dirty="0">
                <a:latin typeface="+mn-lt"/>
                <a:cs typeface="Arial"/>
              </a:rPr>
              <a:t>GRUNDSCHUTZ</a:t>
            </a:r>
            <a:r>
              <a:rPr sz="950" spc="-35" dirty="0">
                <a:latin typeface="+mn-lt"/>
                <a:cs typeface="Arial"/>
              </a:rPr>
              <a:t> </a:t>
            </a:r>
            <a:r>
              <a:rPr sz="950" dirty="0">
                <a:latin typeface="+mn-lt"/>
                <a:cs typeface="Arial"/>
              </a:rPr>
              <a:t>(IT</a:t>
            </a:r>
            <a:r>
              <a:rPr sz="950" spc="-50" dirty="0">
                <a:latin typeface="+mn-lt"/>
                <a:cs typeface="Arial"/>
              </a:rPr>
              <a:t> </a:t>
            </a:r>
            <a:r>
              <a:rPr sz="950" dirty="0">
                <a:latin typeface="+mn-lt"/>
                <a:cs typeface="Arial"/>
              </a:rPr>
              <a:t>BASELINE</a:t>
            </a:r>
            <a:r>
              <a:rPr sz="950" spc="-35" dirty="0">
                <a:latin typeface="+mn-lt"/>
                <a:cs typeface="Arial"/>
              </a:rPr>
              <a:t> </a:t>
            </a:r>
            <a:r>
              <a:rPr sz="950" dirty="0">
                <a:latin typeface="+mn-lt"/>
                <a:cs typeface="Arial"/>
              </a:rPr>
              <a:t>PROTECTION</a:t>
            </a:r>
            <a:r>
              <a:rPr sz="950" spc="-45" dirty="0">
                <a:latin typeface="+mn-lt"/>
                <a:cs typeface="Arial"/>
              </a:rPr>
              <a:t> </a:t>
            </a:r>
            <a:r>
              <a:rPr sz="950" spc="-10" dirty="0">
                <a:latin typeface="+mn-lt"/>
                <a:cs typeface="Arial"/>
              </a:rPr>
              <a:t>MANUAL)</a:t>
            </a:r>
            <a:endParaRPr sz="950" dirty="0">
              <a:latin typeface="+mn-lt"/>
              <a:cs typeface="Arial"/>
            </a:endParaRPr>
          </a:p>
          <a:p>
            <a:pPr marL="424180" indent="-144145">
              <a:lnSpc>
                <a:spcPct val="100000"/>
              </a:lnSpc>
              <a:spcBef>
                <a:spcPts val="225"/>
              </a:spcBef>
              <a:buChar char="–"/>
              <a:tabLst>
                <a:tab pos="424815" algn="l"/>
              </a:tabLst>
            </a:pPr>
            <a:r>
              <a:rPr sz="950" spc="-10" dirty="0">
                <a:latin typeface="+mn-lt"/>
                <a:cs typeface="Arial"/>
              </a:rPr>
              <a:t>MARION</a:t>
            </a:r>
            <a:endParaRPr sz="950" dirty="0">
              <a:latin typeface="+mn-lt"/>
              <a:cs typeface="Arial"/>
            </a:endParaRPr>
          </a:p>
          <a:p>
            <a:pPr marL="424180" indent="-144145">
              <a:lnSpc>
                <a:spcPct val="100000"/>
              </a:lnSpc>
              <a:spcBef>
                <a:spcPts val="229"/>
              </a:spcBef>
              <a:buChar char="–"/>
              <a:tabLst>
                <a:tab pos="424815" algn="l"/>
              </a:tabLst>
            </a:pPr>
            <a:r>
              <a:rPr sz="950" spc="-10" dirty="0">
                <a:latin typeface="+mn-lt"/>
                <a:cs typeface="Arial"/>
              </a:rPr>
              <a:t>MEHARI</a:t>
            </a:r>
            <a:endParaRPr sz="950" dirty="0">
              <a:latin typeface="+mn-lt"/>
              <a:cs typeface="Arial"/>
            </a:endParaRPr>
          </a:p>
          <a:p>
            <a:pPr marL="424180" marR="470534" indent="-143510">
              <a:lnSpc>
                <a:spcPct val="100000"/>
              </a:lnSpc>
              <a:spcBef>
                <a:spcPts val="229"/>
              </a:spcBef>
              <a:buChar char="–"/>
              <a:tabLst>
                <a:tab pos="424815" algn="l"/>
              </a:tabLst>
            </a:pPr>
            <a:r>
              <a:rPr sz="950" dirty="0">
                <a:latin typeface="+mn-lt"/>
                <a:cs typeface="Arial"/>
              </a:rPr>
              <a:t>OCTAVE</a:t>
            </a:r>
            <a:r>
              <a:rPr sz="950" spc="-20" dirty="0">
                <a:latin typeface="+mn-lt"/>
                <a:cs typeface="Arial"/>
              </a:rPr>
              <a:t> </a:t>
            </a:r>
            <a:r>
              <a:rPr sz="950" dirty="0">
                <a:latin typeface="+mn-lt"/>
                <a:cs typeface="Arial"/>
              </a:rPr>
              <a:t>V2.0</a:t>
            </a:r>
            <a:r>
              <a:rPr sz="950" spc="-15" dirty="0">
                <a:latin typeface="+mn-lt"/>
                <a:cs typeface="Arial"/>
              </a:rPr>
              <a:t> </a:t>
            </a:r>
            <a:r>
              <a:rPr sz="950" dirty="0">
                <a:latin typeface="+mn-lt"/>
                <a:cs typeface="Arial"/>
              </a:rPr>
              <a:t>(AND</a:t>
            </a:r>
            <a:r>
              <a:rPr sz="950" spc="-15" dirty="0">
                <a:latin typeface="+mn-lt"/>
                <a:cs typeface="Arial"/>
              </a:rPr>
              <a:t> </a:t>
            </a:r>
            <a:r>
              <a:rPr sz="950" spc="-10" dirty="0">
                <a:latin typeface="+mn-lt"/>
                <a:cs typeface="Arial"/>
              </a:rPr>
              <a:t>OCTAVE-</a:t>
            </a:r>
            <a:r>
              <a:rPr sz="950" dirty="0">
                <a:latin typeface="+mn-lt"/>
                <a:cs typeface="Arial"/>
              </a:rPr>
              <a:t>S</a:t>
            </a:r>
            <a:r>
              <a:rPr sz="950" spc="-15" dirty="0">
                <a:latin typeface="+mn-lt"/>
                <a:cs typeface="Arial"/>
              </a:rPr>
              <a:t> </a:t>
            </a:r>
            <a:r>
              <a:rPr sz="950" dirty="0">
                <a:latin typeface="+mn-lt"/>
                <a:cs typeface="Arial"/>
              </a:rPr>
              <a:t>V1.0</a:t>
            </a:r>
            <a:r>
              <a:rPr sz="950" spc="-15" dirty="0">
                <a:latin typeface="+mn-lt"/>
                <a:cs typeface="Arial"/>
              </a:rPr>
              <a:t> </a:t>
            </a:r>
            <a:r>
              <a:rPr sz="950" dirty="0">
                <a:latin typeface="+mn-lt"/>
                <a:cs typeface="Arial"/>
              </a:rPr>
              <a:t>FOR</a:t>
            </a:r>
            <a:r>
              <a:rPr sz="950" spc="-25" dirty="0">
                <a:latin typeface="+mn-lt"/>
                <a:cs typeface="Arial"/>
              </a:rPr>
              <a:t> </a:t>
            </a:r>
            <a:r>
              <a:rPr sz="950" dirty="0">
                <a:latin typeface="+mn-lt"/>
                <a:cs typeface="Arial"/>
              </a:rPr>
              <a:t>SMALL</a:t>
            </a:r>
            <a:r>
              <a:rPr sz="950" spc="-15" dirty="0">
                <a:latin typeface="+mn-lt"/>
                <a:cs typeface="Arial"/>
              </a:rPr>
              <a:t> </a:t>
            </a:r>
            <a:r>
              <a:rPr sz="950" dirty="0">
                <a:latin typeface="+mn-lt"/>
                <a:cs typeface="Arial"/>
              </a:rPr>
              <a:t>&amp;</a:t>
            </a:r>
            <a:r>
              <a:rPr sz="950" spc="-25" dirty="0">
                <a:latin typeface="+mn-lt"/>
                <a:cs typeface="Arial"/>
              </a:rPr>
              <a:t> </a:t>
            </a:r>
            <a:r>
              <a:rPr sz="950" spc="-10" dirty="0">
                <a:latin typeface="+mn-lt"/>
                <a:cs typeface="Arial"/>
              </a:rPr>
              <a:t>MEDIUM BUSINESSES)</a:t>
            </a:r>
            <a:endParaRPr sz="950" dirty="0">
              <a:latin typeface="+mn-lt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32679" y="1093393"/>
            <a:ext cx="62865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000" dirty="0">
                <a:solidFill>
                  <a:srgbClr val="FF0000"/>
                </a:solidFill>
                <a:latin typeface="Lucida Sans"/>
                <a:cs typeface="Lucida Sans"/>
              </a:rPr>
              <a:t>Our</a:t>
            </a:r>
            <a:r>
              <a:rPr lang="en-GB" sz="1000" spc="-25" dirty="0">
                <a:solidFill>
                  <a:srgbClr val="FF0000"/>
                </a:solidFill>
                <a:latin typeface="Lucida Sans"/>
                <a:cs typeface="Lucida Sans"/>
              </a:rPr>
              <a:t> </a:t>
            </a:r>
            <a:r>
              <a:rPr sz="1000" spc="-10" dirty="0">
                <a:solidFill>
                  <a:srgbClr val="FF0000"/>
                </a:solidFill>
                <a:latin typeface="Lucida Sans"/>
                <a:cs typeface="Lucida Sans"/>
              </a:rPr>
              <a:t>focus</a:t>
            </a:r>
            <a:endParaRPr sz="1000" dirty="0">
              <a:latin typeface="Lucida Sans"/>
              <a:cs typeface="Lucida San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26968"/>
            <a:ext cx="4608195" cy="129539"/>
          </a:xfrm>
          <a:custGeom>
            <a:avLst/>
            <a:gdLst/>
            <a:ahLst/>
            <a:cxnLst/>
            <a:rect l="l" t="t" r="r" b="b"/>
            <a:pathLst>
              <a:path w="4608195" h="129539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129032"/>
                </a:lnTo>
                <a:lnTo>
                  <a:pt x="1520647" y="129032"/>
                </a:lnTo>
                <a:lnTo>
                  <a:pt x="3087344" y="129032"/>
                </a:lnTo>
                <a:lnTo>
                  <a:pt x="3087344" y="0"/>
                </a:lnTo>
                <a:close/>
              </a:path>
              <a:path w="4608195" h="129539">
                <a:moveTo>
                  <a:pt x="4608004" y="0"/>
                </a:moveTo>
                <a:lnTo>
                  <a:pt x="3087357" y="0"/>
                </a:lnTo>
                <a:lnTo>
                  <a:pt x="3087357" y="129032"/>
                </a:lnTo>
                <a:lnTo>
                  <a:pt x="4608004" y="129032"/>
                </a:lnTo>
                <a:lnTo>
                  <a:pt x="4608004" y="0"/>
                </a:lnTo>
                <a:close/>
              </a:path>
            </a:pathLst>
          </a:custGeom>
          <a:solidFill>
            <a:srgbClr val="387B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CF90EB-B8B8-2517-DD88-841E68917041}"/>
              </a:ext>
            </a:extLst>
          </p:cNvPr>
          <p:cNvSpPr txBox="1"/>
          <p:nvPr/>
        </p:nvSpPr>
        <p:spPr>
          <a:xfrm>
            <a:off x="1619250" y="3142484"/>
            <a:ext cx="3048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300"/>
              </a:spcBef>
            </a:pPr>
            <a:r>
              <a:rPr lang="fr-FR" sz="800" dirty="0">
                <a:latin typeface="+mn-lt"/>
                <a:cs typeface="Lucida Sans"/>
              </a:rPr>
              <a:t>Source:</a:t>
            </a:r>
            <a:r>
              <a:rPr lang="fr-FR" sz="800" spc="30" dirty="0">
                <a:latin typeface="+mn-lt"/>
                <a:cs typeface="Lucida Sans"/>
              </a:rPr>
              <a:t> </a:t>
            </a:r>
            <a:r>
              <a:rPr lang="fr-FR" sz="800" spc="-10" dirty="0">
                <a:latin typeface="+mn-lt"/>
                <a:cs typeface="Lucida Sans"/>
                <a:hlinkClick r:id="rId2"/>
              </a:rPr>
              <a:t>http://rm-inv.enisa.europa.eu/methods/</a:t>
            </a:r>
            <a:endParaRPr lang="fr-FR" sz="800" dirty="0">
              <a:latin typeface="+mn-lt"/>
              <a:cs typeface="Lucida Sans"/>
            </a:endParaRP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EA65F527-E539-8885-B74B-19948FCD2E1A}"/>
              </a:ext>
            </a:extLst>
          </p:cNvPr>
          <p:cNvSpPr txBox="1">
            <a:spLocks/>
          </p:cNvSpPr>
          <p:nvPr/>
        </p:nvSpPr>
        <p:spPr>
          <a:xfrm>
            <a:off x="320179" y="192112"/>
            <a:ext cx="4194671" cy="340028"/>
          </a:xfrm>
          <a:prstGeom prst="rect">
            <a:avLst/>
          </a:prstGeom>
        </p:spPr>
        <p:txBody>
          <a:bodyPr vert="horz" wrap="square" lIns="0" tIns="123380" rIns="0" bIns="0" rtlCol="0">
            <a:spAutoFit/>
          </a:bodyPr>
          <a:lstStyle>
            <a:lvl1pPr>
              <a:defRPr sz="135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40005">
              <a:spcBef>
                <a:spcPts val="100"/>
              </a:spcBef>
            </a:pPr>
            <a:r>
              <a:rPr lang="en-US" sz="1400" dirty="0"/>
              <a:t>Security</a:t>
            </a:r>
            <a:r>
              <a:rPr lang="en-US" sz="1400" spc="-10" dirty="0"/>
              <a:t> </a:t>
            </a:r>
            <a:r>
              <a:rPr lang="en-US" sz="1400" dirty="0"/>
              <a:t>management</a:t>
            </a:r>
            <a:r>
              <a:rPr lang="en-US" sz="1400" spc="-20" dirty="0"/>
              <a:t> </a:t>
            </a:r>
            <a:r>
              <a:rPr lang="en-US" sz="1400" dirty="0"/>
              <a:t>/</a:t>
            </a:r>
            <a:r>
              <a:rPr lang="en-US" sz="1400" spc="-10" dirty="0"/>
              <a:t> </a:t>
            </a:r>
            <a:r>
              <a:rPr lang="en-US" sz="1400" dirty="0"/>
              <a:t>risk</a:t>
            </a:r>
            <a:r>
              <a:rPr lang="en-US" sz="1400" spc="-15" dirty="0"/>
              <a:t> </a:t>
            </a:r>
            <a:r>
              <a:rPr lang="en-US" sz="1400" spc="-10" dirty="0"/>
              <a:t>assessment methods</a:t>
            </a:r>
            <a:endParaRPr lang="en-GB" sz="1400" dirty="0"/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9646" y="753515"/>
            <a:ext cx="4082804" cy="17586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marR="38735" indent="-1714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/>
              <a:buChar char=""/>
              <a:tabLst>
                <a:tab pos="184150" algn="l"/>
              </a:tabLst>
            </a:pPr>
            <a:r>
              <a:rPr sz="1000" dirty="0">
                <a:solidFill>
                  <a:srgbClr val="0000FF"/>
                </a:solidFill>
                <a:latin typeface="+mn-lt"/>
                <a:cs typeface="Arial"/>
              </a:rPr>
              <a:t>Risk</a:t>
            </a:r>
            <a:r>
              <a:rPr sz="1000" spc="-15" dirty="0">
                <a:solidFill>
                  <a:srgbClr val="0000FF"/>
                </a:solidFill>
                <a:latin typeface="+mn-lt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+mn-lt"/>
                <a:cs typeface="Arial"/>
              </a:rPr>
              <a:t>management</a:t>
            </a:r>
            <a:r>
              <a:rPr sz="1000" spc="-20" dirty="0">
                <a:solidFill>
                  <a:srgbClr val="0000FF"/>
                </a:solidFill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is</a:t>
            </a:r>
            <a:r>
              <a:rPr sz="1000" spc="-10" dirty="0">
                <a:latin typeface="+mn-lt"/>
                <a:cs typeface="Arial"/>
              </a:rPr>
              <a:t> </a:t>
            </a:r>
            <a:r>
              <a:rPr sz="1000" spc="-50" dirty="0">
                <a:latin typeface="+mn-lt"/>
                <a:cs typeface="Arial"/>
              </a:rPr>
              <a:t>a </a:t>
            </a:r>
            <a:r>
              <a:rPr sz="1000" i="1" dirty="0">
                <a:solidFill>
                  <a:srgbClr val="0000FF"/>
                </a:solidFill>
                <a:latin typeface="+mn-lt"/>
                <a:cs typeface="Arial"/>
              </a:rPr>
              <a:t>continuous</a:t>
            </a:r>
            <a:r>
              <a:rPr sz="1000" i="1" spc="-40" dirty="0">
                <a:solidFill>
                  <a:srgbClr val="0000FF"/>
                </a:solidFill>
                <a:latin typeface="+mn-lt"/>
                <a:cs typeface="Arial"/>
              </a:rPr>
              <a:t> </a:t>
            </a:r>
            <a:r>
              <a:rPr sz="1000" i="1" dirty="0">
                <a:solidFill>
                  <a:srgbClr val="0000FF"/>
                </a:solidFill>
                <a:latin typeface="+mn-lt"/>
                <a:cs typeface="Arial"/>
              </a:rPr>
              <a:t>process</a:t>
            </a:r>
            <a:r>
              <a:rPr sz="1000" i="1" spc="-35" dirty="0">
                <a:solidFill>
                  <a:srgbClr val="0000FF"/>
                </a:solidFill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that</a:t>
            </a:r>
            <a:r>
              <a:rPr sz="1000" spc="-30" dirty="0">
                <a:latin typeface="+mn-lt"/>
                <a:cs typeface="Arial"/>
              </a:rPr>
              <a:t> </a:t>
            </a:r>
            <a:r>
              <a:rPr sz="1000" spc="-10" dirty="0">
                <a:latin typeface="+mn-lt"/>
                <a:cs typeface="Arial"/>
              </a:rPr>
              <a:t>deals </a:t>
            </a:r>
            <a:r>
              <a:rPr sz="1000" dirty="0">
                <a:latin typeface="+mn-lt"/>
                <a:cs typeface="Arial"/>
              </a:rPr>
              <a:t>with</a:t>
            </a:r>
            <a:r>
              <a:rPr sz="1000" spc="-25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the</a:t>
            </a:r>
            <a:r>
              <a:rPr sz="1000" spc="-20" dirty="0">
                <a:latin typeface="+mn-lt"/>
                <a:cs typeface="Arial"/>
              </a:rPr>
              <a:t> </a:t>
            </a:r>
            <a:r>
              <a:rPr sz="1000" i="1" u="sng" dirty="0">
                <a:uFill>
                  <a:solidFill>
                    <a:srgbClr val="000000"/>
                  </a:solidFill>
                </a:uFill>
                <a:latin typeface="+mn-lt"/>
                <a:cs typeface="Arial"/>
              </a:rPr>
              <a:t>analysis,</a:t>
            </a:r>
            <a:r>
              <a:rPr sz="1000" i="1" u="sng" spc="-30" dirty="0">
                <a:uFill>
                  <a:solidFill>
                    <a:srgbClr val="000000"/>
                  </a:solidFill>
                </a:uFill>
                <a:latin typeface="+mn-lt"/>
                <a:cs typeface="Arial"/>
              </a:rPr>
              <a:t> </a:t>
            </a:r>
            <a:r>
              <a:rPr sz="1000" i="1" u="sng" spc="-10" dirty="0">
                <a:uFill>
                  <a:solidFill>
                    <a:srgbClr val="000000"/>
                  </a:solidFill>
                </a:uFill>
                <a:latin typeface="+mn-lt"/>
                <a:cs typeface="Arial"/>
              </a:rPr>
              <a:t>planning,</a:t>
            </a:r>
            <a:r>
              <a:rPr sz="1000" i="1" spc="-10" dirty="0">
                <a:latin typeface="+mn-lt"/>
                <a:cs typeface="Arial"/>
              </a:rPr>
              <a:t> </a:t>
            </a:r>
            <a:r>
              <a:rPr sz="1000" i="1" u="sng" spc="-10" dirty="0">
                <a:uFill>
                  <a:solidFill>
                    <a:srgbClr val="000000"/>
                  </a:solidFill>
                </a:uFill>
                <a:latin typeface="+mn-lt"/>
                <a:cs typeface="Arial"/>
              </a:rPr>
              <a:t>implementation,</a:t>
            </a:r>
            <a:r>
              <a:rPr sz="1000" i="1" u="sng" spc="25" dirty="0">
                <a:uFill>
                  <a:solidFill>
                    <a:srgbClr val="000000"/>
                  </a:solidFill>
                </a:uFill>
                <a:latin typeface="+mn-lt"/>
                <a:cs typeface="Arial"/>
              </a:rPr>
              <a:t> </a:t>
            </a:r>
            <a:r>
              <a:rPr sz="1000" i="1" u="sng" dirty="0">
                <a:uFill>
                  <a:solidFill>
                    <a:srgbClr val="000000"/>
                  </a:solidFill>
                </a:uFill>
                <a:latin typeface="+mn-lt"/>
                <a:cs typeface="Arial"/>
              </a:rPr>
              <a:t>control</a:t>
            </a:r>
            <a:r>
              <a:rPr sz="1000" i="1" u="sng" spc="20" dirty="0">
                <a:uFill>
                  <a:solidFill>
                    <a:srgbClr val="000000"/>
                  </a:solidFill>
                </a:uFill>
                <a:latin typeface="+mn-lt"/>
                <a:cs typeface="Arial"/>
              </a:rPr>
              <a:t> </a:t>
            </a:r>
            <a:r>
              <a:rPr sz="1000" i="1" u="sng" spc="-25" dirty="0">
                <a:uFill>
                  <a:solidFill>
                    <a:srgbClr val="000000"/>
                  </a:solidFill>
                </a:uFill>
                <a:latin typeface="+mn-lt"/>
                <a:cs typeface="Arial"/>
              </a:rPr>
              <a:t>and</a:t>
            </a:r>
            <a:r>
              <a:rPr sz="1000" i="1" spc="-25" dirty="0">
                <a:latin typeface="+mn-lt"/>
                <a:cs typeface="Arial"/>
              </a:rPr>
              <a:t> </a:t>
            </a:r>
            <a:r>
              <a:rPr sz="1000" i="1" u="sng" dirty="0">
                <a:uFill>
                  <a:solidFill>
                    <a:srgbClr val="000000"/>
                  </a:solidFill>
                </a:uFill>
                <a:latin typeface="+mn-lt"/>
                <a:cs typeface="Arial"/>
              </a:rPr>
              <a:t>monitoring</a:t>
            </a:r>
            <a:r>
              <a:rPr sz="1000" i="1" spc="-35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of</a:t>
            </a:r>
            <a:r>
              <a:rPr sz="1000" spc="-35" dirty="0">
                <a:latin typeface="+mn-lt"/>
                <a:cs typeface="Arial"/>
              </a:rPr>
              <a:t> </a:t>
            </a:r>
            <a:r>
              <a:rPr sz="1000" spc="-10" dirty="0">
                <a:latin typeface="+mn-lt"/>
                <a:cs typeface="Arial"/>
              </a:rPr>
              <a:t>implemented </a:t>
            </a:r>
            <a:r>
              <a:rPr sz="1000" dirty="0">
                <a:latin typeface="+mn-lt"/>
                <a:cs typeface="Arial"/>
              </a:rPr>
              <a:t>measurements</a:t>
            </a:r>
            <a:r>
              <a:rPr sz="1000" spc="-50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and</a:t>
            </a:r>
            <a:r>
              <a:rPr sz="1000" spc="-30" dirty="0">
                <a:latin typeface="+mn-lt"/>
                <a:cs typeface="Arial"/>
              </a:rPr>
              <a:t> </a:t>
            </a:r>
            <a:r>
              <a:rPr sz="1000" spc="-25" dirty="0">
                <a:latin typeface="+mn-lt"/>
                <a:cs typeface="Arial"/>
              </a:rPr>
              <a:t>the </a:t>
            </a:r>
            <a:r>
              <a:rPr sz="1000" dirty="0">
                <a:latin typeface="+mn-lt"/>
                <a:cs typeface="Arial"/>
              </a:rPr>
              <a:t>enforced</a:t>
            </a:r>
            <a:r>
              <a:rPr sz="1000" spc="-45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security</a:t>
            </a:r>
            <a:r>
              <a:rPr sz="1000" spc="-35" dirty="0">
                <a:latin typeface="+mn-lt"/>
                <a:cs typeface="Arial"/>
              </a:rPr>
              <a:t> </a:t>
            </a:r>
            <a:r>
              <a:rPr sz="1000" spc="-10" dirty="0">
                <a:latin typeface="+mn-lt"/>
                <a:cs typeface="Arial"/>
              </a:rPr>
              <a:t>policy.</a:t>
            </a:r>
            <a:endParaRPr sz="1000" dirty="0">
              <a:latin typeface="+mn-lt"/>
              <a:cs typeface="Arial"/>
            </a:endParaRPr>
          </a:p>
          <a:p>
            <a:pPr marL="184150" marR="5080" indent="-1714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/>
              <a:buChar char=""/>
              <a:tabLst>
                <a:tab pos="184150" algn="l"/>
              </a:tabLst>
            </a:pPr>
            <a:r>
              <a:rPr sz="1000" dirty="0">
                <a:solidFill>
                  <a:srgbClr val="0000FF"/>
                </a:solidFill>
                <a:latin typeface="+mn-lt"/>
                <a:cs typeface="Arial"/>
              </a:rPr>
              <a:t>Risk</a:t>
            </a:r>
            <a:r>
              <a:rPr sz="1000" spc="-20" dirty="0">
                <a:solidFill>
                  <a:srgbClr val="0000FF"/>
                </a:solidFill>
                <a:latin typeface="+mn-lt"/>
                <a:cs typeface="Arial"/>
              </a:rPr>
              <a:t> </a:t>
            </a:r>
            <a:r>
              <a:rPr lang="en-GB" sz="1000" spc="-20" dirty="0">
                <a:solidFill>
                  <a:srgbClr val="0000FF"/>
                </a:solidFill>
                <a:latin typeface="+mn-lt"/>
                <a:cs typeface="Arial"/>
              </a:rPr>
              <a:t>a</a:t>
            </a:r>
            <a:r>
              <a:rPr sz="1000" dirty="0" err="1">
                <a:solidFill>
                  <a:srgbClr val="0000FF"/>
                </a:solidFill>
                <a:latin typeface="+mn-lt"/>
                <a:cs typeface="Arial"/>
              </a:rPr>
              <a:t>ssessment</a:t>
            </a:r>
            <a:r>
              <a:rPr sz="1000" spc="-25" dirty="0">
                <a:solidFill>
                  <a:srgbClr val="0000FF"/>
                </a:solidFill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is</a:t>
            </a:r>
            <a:r>
              <a:rPr sz="1000" spc="-5" dirty="0">
                <a:latin typeface="+mn-lt"/>
                <a:cs typeface="Arial"/>
              </a:rPr>
              <a:t> </a:t>
            </a:r>
            <a:r>
              <a:rPr sz="1000" spc="-10" dirty="0">
                <a:latin typeface="+mn-lt"/>
                <a:cs typeface="Arial"/>
              </a:rPr>
              <a:t>executed </a:t>
            </a:r>
            <a:r>
              <a:rPr sz="1000" dirty="0">
                <a:latin typeface="+mn-lt"/>
                <a:cs typeface="Arial"/>
              </a:rPr>
              <a:t>at</a:t>
            </a:r>
            <a:r>
              <a:rPr sz="1000" spc="-35" dirty="0">
                <a:latin typeface="+mn-lt"/>
                <a:cs typeface="Arial"/>
              </a:rPr>
              <a:t> </a:t>
            </a:r>
            <a:r>
              <a:rPr sz="1000" i="1" dirty="0">
                <a:solidFill>
                  <a:srgbClr val="0000FF"/>
                </a:solidFill>
                <a:latin typeface="+mn-lt"/>
                <a:cs typeface="Arial"/>
              </a:rPr>
              <a:t>discrete</a:t>
            </a:r>
            <a:r>
              <a:rPr sz="1000" i="1" spc="-30" dirty="0">
                <a:solidFill>
                  <a:srgbClr val="0000FF"/>
                </a:solidFill>
                <a:latin typeface="+mn-lt"/>
                <a:cs typeface="Arial"/>
              </a:rPr>
              <a:t> </a:t>
            </a:r>
            <a:r>
              <a:rPr sz="1000" i="1" dirty="0">
                <a:solidFill>
                  <a:srgbClr val="0000FF"/>
                </a:solidFill>
                <a:latin typeface="+mn-lt"/>
                <a:cs typeface="Arial"/>
              </a:rPr>
              <a:t>time</a:t>
            </a:r>
            <a:r>
              <a:rPr sz="1000" i="1" spc="-15" dirty="0">
                <a:solidFill>
                  <a:srgbClr val="0000FF"/>
                </a:solidFill>
                <a:latin typeface="+mn-lt"/>
                <a:cs typeface="Arial"/>
              </a:rPr>
              <a:t> </a:t>
            </a:r>
            <a:r>
              <a:rPr sz="1000" i="1" dirty="0">
                <a:solidFill>
                  <a:srgbClr val="0000FF"/>
                </a:solidFill>
                <a:latin typeface="+mn-lt"/>
                <a:cs typeface="Arial"/>
              </a:rPr>
              <a:t>points</a:t>
            </a:r>
            <a:r>
              <a:rPr sz="1000" i="1" spc="-20" dirty="0">
                <a:solidFill>
                  <a:srgbClr val="0000FF"/>
                </a:solidFill>
                <a:latin typeface="+mn-lt"/>
                <a:cs typeface="Arial"/>
              </a:rPr>
              <a:t> </a:t>
            </a:r>
            <a:r>
              <a:rPr sz="1000" spc="-10" dirty="0">
                <a:latin typeface="+mn-lt"/>
                <a:cs typeface="Arial"/>
              </a:rPr>
              <a:t>(e.g. </a:t>
            </a:r>
            <a:r>
              <a:rPr sz="1000" dirty="0">
                <a:latin typeface="+mn-lt"/>
                <a:cs typeface="Arial"/>
              </a:rPr>
              <a:t>once</a:t>
            </a:r>
            <a:r>
              <a:rPr sz="1000" spc="-40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a</a:t>
            </a:r>
            <a:r>
              <a:rPr sz="1000" spc="-10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year,</a:t>
            </a:r>
            <a:r>
              <a:rPr sz="1000" spc="-35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on</a:t>
            </a:r>
            <a:r>
              <a:rPr sz="1000" spc="-10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demand)</a:t>
            </a:r>
            <a:r>
              <a:rPr sz="1000" spc="-30" dirty="0">
                <a:latin typeface="+mn-lt"/>
                <a:cs typeface="Arial"/>
              </a:rPr>
              <a:t> </a:t>
            </a:r>
            <a:r>
              <a:rPr sz="1000" spc="-25" dirty="0">
                <a:latin typeface="+mn-lt"/>
                <a:cs typeface="Arial"/>
              </a:rPr>
              <a:t>and</a:t>
            </a:r>
            <a:r>
              <a:rPr lang="en-GB" sz="1000" spc="-25" dirty="0">
                <a:latin typeface="+mn-lt"/>
                <a:cs typeface="Arial"/>
              </a:rPr>
              <a:t>, </a:t>
            </a:r>
            <a:r>
              <a:rPr sz="1000" dirty="0">
                <a:latin typeface="+mn-lt"/>
                <a:cs typeface="Arial"/>
              </a:rPr>
              <a:t>until</a:t>
            </a:r>
            <a:r>
              <a:rPr sz="1000" spc="-15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the</a:t>
            </a:r>
            <a:r>
              <a:rPr sz="1000" spc="-20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performance</a:t>
            </a:r>
            <a:r>
              <a:rPr sz="1000" spc="-30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of</a:t>
            </a:r>
            <a:r>
              <a:rPr sz="1000" spc="-20" dirty="0">
                <a:latin typeface="+mn-lt"/>
                <a:cs typeface="Arial"/>
              </a:rPr>
              <a:t> </a:t>
            </a:r>
            <a:r>
              <a:rPr sz="1000" spc="-25" dirty="0">
                <a:latin typeface="+mn-lt"/>
                <a:cs typeface="Arial"/>
              </a:rPr>
              <a:t>the </a:t>
            </a:r>
            <a:r>
              <a:rPr sz="1000" dirty="0">
                <a:latin typeface="+mn-lt"/>
                <a:cs typeface="Arial"/>
              </a:rPr>
              <a:t>next</a:t>
            </a:r>
            <a:r>
              <a:rPr sz="1000" spc="-30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assessment</a:t>
            </a:r>
            <a:r>
              <a:rPr lang="en-GB" sz="1000" spc="-30" dirty="0">
                <a:latin typeface="+mn-lt"/>
                <a:cs typeface="Arial"/>
              </a:rPr>
              <a:t>, </a:t>
            </a:r>
            <a:r>
              <a:rPr sz="1000" dirty="0">
                <a:latin typeface="+mn-lt"/>
                <a:cs typeface="Arial"/>
              </a:rPr>
              <a:t>provides</a:t>
            </a:r>
            <a:r>
              <a:rPr sz="1000" spc="-25" dirty="0">
                <a:latin typeface="+mn-lt"/>
                <a:cs typeface="Arial"/>
              </a:rPr>
              <a:t> </a:t>
            </a:r>
            <a:r>
              <a:rPr sz="1000" spc="-50" dirty="0">
                <a:latin typeface="+mn-lt"/>
                <a:cs typeface="Arial"/>
              </a:rPr>
              <a:t>a </a:t>
            </a:r>
            <a:r>
              <a:rPr sz="1000" dirty="0">
                <a:latin typeface="+mn-lt"/>
                <a:cs typeface="Arial"/>
              </a:rPr>
              <a:t>temporary</a:t>
            </a:r>
            <a:r>
              <a:rPr sz="1000" spc="-40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view</a:t>
            </a:r>
            <a:r>
              <a:rPr sz="1000" spc="-20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of</a:t>
            </a:r>
            <a:r>
              <a:rPr sz="1000" spc="-25" dirty="0">
                <a:latin typeface="+mn-lt"/>
                <a:cs typeface="Arial"/>
              </a:rPr>
              <a:t> </a:t>
            </a:r>
            <a:r>
              <a:rPr sz="1000" spc="-10" dirty="0">
                <a:latin typeface="+mn-lt"/>
                <a:cs typeface="Arial"/>
              </a:rPr>
              <a:t>assessed </a:t>
            </a:r>
            <a:r>
              <a:rPr sz="1000" dirty="0">
                <a:latin typeface="+mn-lt"/>
                <a:cs typeface="Arial"/>
              </a:rPr>
              <a:t>risks</a:t>
            </a:r>
            <a:r>
              <a:rPr sz="1000" spc="10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and</a:t>
            </a:r>
            <a:r>
              <a:rPr sz="1000" spc="5" dirty="0">
                <a:latin typeface="+mn-lt"/>
                <a:cs typeface="Arial"/>
              </a:rPr>
              <a:t> </a:t>
            </a:r>
            <a:r>
              <a:rPr sz="1000" spc="-10" dirty="0" err="1">
                <a:latin typeface="+mn-lt"/>
                <a:cs typeface="Arial"/>
              </a:rPr>
              <a:t>parameteri</a:t>
            </a:r>
            <a:r>
              <a:rPr lang="en-GB" sz="1000" spc="-10" dirty="0">
                <a:latin typeface="+mn-lt"/>
                <a:cs typeface="Arial"/>
              </a:rPr>
              <a:t>s</a:t>
            </a:r>
            <a:r>
              <a:rPr sz="1000" spc="-10" dirty="0">
                <a:latin typeface="+mn-lt"/>
                <a:cs typeface="Arial"/>
              </a:rPr>
              <a:t>es</a:t>
            </a:r>
            <a:r>
              <a:rPr sz="1000" spc="5" dirty="0">
                <a:latin typeface="+mn-lt"/>
                <a:cs typeface="Arial"/>
              </a:rPr>
              <a:t> </a:t>
            </a:r>
            <a:r>
              <a:rPr sz="1000" spc="-25" dirty="0">
                <a:latin typeface="+mn-lt"/>
                <a:cs typeface="Arial"/>
              </a:rPr>
              <a:t>the </a:t>
            </a:r>
            <a:r>
              <a:rPr sz="1000" dirty="0">
                <a:latin typeface="+mn-lt"/>
                <a:cs typeface="Arial"/>
              </a:rPr>
              <a:t>entire</a:t>
            </a:r>
            <a:r>
              <a:rPr sz="1000" spc="-30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Risk</a:t>
            </a:r>
            <a:r>
              <a:rPr sz="1000" spc="-20" dirty="0">
                <a:latin typeface="+mn-lt"/>
                <a:cs typeface="Arial"/>
              </a:rPr>
              <a:t> </a:t>
            </a:r>
            <a:r>
              <a:rPr sz="1000" spc="-10" dirty="0">
                <a:latin typeface="+mn-lt"/>
                <a:cs typeface="Arial"/>
              </a:rPr>
              <a:t>Management process.</a:t>
            </a:r>
            <a:endParaRPr sz="1000" dirty="0">
              <a:latin typeface="+mn-lt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47850" y="3175495"/>
            <a:ext cx="2748953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r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+mn-lt"/>
                <a:cs typeface="Lucida Sans"/>
              </a:rPr>
              <a:t>Source: </a:t>
            </a:r>
            <a:r>
              <a:rPr sz="800" spc="-10" dirty="0">
                <a:latin typeface="+mn-lt"/>
                <a:cs typeface="Lucida Sans"/>
                <a:hlinkClick r:id="rId2"/>
              </a:rPr>
              <a:t>http://www.enisa.europa.eu/activities/risk-management/</a:t>
            </a:r>
            <a:endParaRPr sz="800" dirty="0">
              <a:latin typeface="+mn-lt"/>
              <a:cs typeface="Lucida San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26968"/>
            <a:ext cx="4608195" cy="129539"/>
          </a:xfrm>
          <a:custGeom>
            <a:avLst/>
            <a:gdLst/>
            <a:ahLst/>
            <a:cxnLst/>
            <a:rect l="l" t="t" r="r" b="b"/>
            <a:pathLst>
              <a:path w="4608195" h="129539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129032"/>
                </a:lnTo>
                <a:lnTo>
                  <a:pt x="1520647" y="129032"/>
                </a:lnTo>
                <a:lnTo>
                  <a:pt x="3087344" y="129032"/>
                </a:lnTo>
                <a:lnTo>
                  <a:pt x="3087344" y="0"/>
                </a:lnTo>
                <a:close/>
              </a:path>
              <a:path w="4608195" h="129539">
                <a:moveTo>
                  <a:pt x="4608004" y="0"/>
                </a:moveTo>
                <a:lnTo>
                  <a:pt x="3087357" y="0"/>
                </a:lnTo>
                <a:lnTo>
                  <a:pt x="3087357" y="129032"/>
                </a:lnTo>
                <a:lnTo>
                  <a:pt x="4608004" y="129032"/>
                </a:lnTo>
                <a:lnTo>
                  <a:pt x="4608004" y="0"/>
                </a:lnTo>
                <a:close/>
              </a:path>
            </a:pathLst>
          </a:custGeom>
          <a:solidFill>
            <a:srgbClr val="387B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9CCDC27D-8362-6C24-8E9E-7FD120DE04B7}"/>
              </a:ext>
            </a:extLst>
          </p:cNvPr>
          <p:cNvSpPr txBox="1">
            <a:spLocks/>
          </p:cNvSpPr>
          <p:nvPr/>
        </p:nvSpPr>
        <p:spPr>
          <a:xfrm>
            <a:off x="279646" y="217608"/>
            <a:ext cx="4194671" cy="309251"/>
          </a:xfrm>
          <a:prstGeom prst="rect">
            <a:avLst/>
          </a:prstGeom>
        </p:spPr>
        <p:txBody>
          <a:bodyPr vert="horz" wrap="square" lIns="0" tIns="123380" rIns="0" bIns="0" rtlCol="0">
            <a:spAutoFit/>
          </a:bodyPr>
          <a:lstStyle>
            <a:lvl1pPr>
              <a:defRPr sz="135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40005">
              <a:spcBef>
                <a:spcPts val="100"/>
              </a:spcBef>
            </a:pPr>
            <a:r>
              <a:rPr lang="en-US" sz="1200" dirty="0"/>
              <a:t>Relationships</a:t>
            </a:r>
            <a:r>
              <a:rPr lang="en-US" sz="1200" spc="-30" dirty="0"/>
              <a:t>: R</a:t>
            </a:r>
            <a:r>
              <a:rPr lang="en-US" sz="1200" dirty="0"/>
              <a:t>isk</a:t>
            </a:r>
            <a:r>
              <a:rPr lang="en-US" sz="1200" spc="-35" dirty="0"/>
              <a:t> </a:t>
            </a:r>
            <a:r>
              <a:rPr lang="en-US" sz="1200" spc="-10" dirty="0"/>
              <a:t>Management</a:t>
            </a:r>
            <a:r>
              <a:rPr lang="en-US" sz="1200" spc="-30" dirty="0"/>
              <a:t> </a:t>
            </a:r>
            <a:r>
              <a:rPr lang="en-US" sz="1200" dirty="0"/>
              <a:t>&amp;</a:t>
            </a:r>
            <a:r>
              <a:rPr lang="en-US" sz="1200" spc="-35" dirty="0"/>
              <a:t> </a:t>
            </a:r>
            <a:r>
              <a:rPr lang="en-US" sz="1200" spc="-20" dirty="0"/>
              <a:t>Risk </a:t>
            </a:r>
            <a:r>
              <a:rPr lang="en-US" sz="1200" spc="-10" dirty="0"/>
              <a:t>Assessment</a:t>
            </a:r>
            <a:endParaRPr lang="en-GB" sz="1200" dirty="0"/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748" y="792334"/>
            <a:ext cx="2898698" cy="220514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47850" y="3175495"/>
            <a:ext cx="2748953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r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+mn-lt"/>
                <a:cs typeface="Lucida Sans"/>
              </a:rPr>
              <a:t>Source: </a:t>
            </a:r>
            <a:r>
              <a:rPr sz="800" spc="-10" dirty="0">
                <a:latin typeface="+mn-lt"/>
                <a:cs typeface="Lucida Sans"/>
                <a:hlinkClick r:id="rId3"/>
              </a:rPr>
              <a:t>http://www.enisa.europa.eu/activities/risk-management/</a:t>
            </a:r>
            <a:endParaRPr sz="800" dirty="0">
              <a:latin typeface="+mn-lt"/>
              <a:cs typeface="Lucida San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26968"/>
            <a:ext cx="4608195" cy="129539"/>
          </a:xfrm>
          <a:custGeom>
            <a:avLst/>
            <a:gdLst/>
            <a:ahLst/>
            <a:cxnLst/>
            <a:rect l="l" t="t" r="r" b="b"/>
            <a:pathLst>
              <a:path w="4608195" h="129539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129032"/>
                </a:lnTo>
                <a:lnTo>
                  <a:pt x="1520647" y="129032"/>
                </a:lnTo>
                <a:lnTo>
                  <a:pt x="3087344" y="129032"/>
                </a:lnTo>
                <a:lnTo>
                  <a:pt x="3087344" y="0"/>
                </a:lnTo>
                <a:close/>
              </a:path>
              <a:path w="4608195" h="129539">
                <a:moveTo>
                  <a:pt x="4608004" y="0"/>
                </a:moveTo>
                <a:lnTo>
                  <a:pt x="3087357" y="0"/>
                </a:lnTo>
                <a:lnTo>
                  <a:pt x="3087357" y="129032"/>
                </a:lnTo>
                <a:lnTo>
                  <a:pt x="4608004" y="129032"/>
                </a:lnTo>
                <a:lnTo>
                  <a:pt x="4608004" y="0"/>
                </a:lnTo>
                <a:close/>
              </a:path>
            </a:pathLst>
          </a:custGeom>
          <a:solidFill>
            <a:srgbClr val="387B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9CCDC27D-8362-6C24-8E9E-7FD120DE04B7}"/>
              </a:ext>
            </a:extLst>
          </p:cNvPr>
          <p:cNvSpPr txBox="1">
            <a:spLocks/>
          </p:cNvSpPr>
          <p:nvPr/>
        </p:nvSpPr>
        <p:spPr>
          <a:xfrm>
            <a:off x="279646" y="217608"/>
            <a:ext cx="4194671" cy="309251"/>
          </a:xfrm>
          <a:prstGeom prst="rect">
            <a:avLst/>
          </a:prstGeom>
        </p:spPr>
        <p:txBody>
          <a:bodyPr vert="horz" wrap="square" lIns="0" tIns="123380" rIns="0" bIns="0" rtlCol="0">
            <a:spAutoFit/>
          </a:bodyPr>
          <a:lstStyle>
            <a:lvl1pPr>
              <a:defRPr sz="135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marL="40005">
              <a:spcBef>
                <a:spcPts val="100"/>
              </a:spcBef>
            </a:pPr>
            <a:r>
              <a:rPr lang="en-US" sz="1200" dirty="0"/>
              <a:t>Relationships</a:t>
            </a:r>
            <a:r>
              <a:rPr lang="en-US" sz="1200" spc="-30" dirty="0"/>
              <a:t>: R</a:t>
            </a:r>
            <a:r>
              <a:rPr lang="en-US" sz="1200" dirty="0"/>
              <a:t>isk</a:t>
            </a:r>
            <a:r>
              <a:rPr lang="en-US" sz="1200" spc="-35" dirty="0"/>
              <a:t> </a:t>
            </a:r>
            <a:r>
              <a:rPr lang="en-US" sz="1200" spc="-10" dirty="0"/>
              <a:t>Management</a:t>
            </a:r>
            <a:r>
              <a:rPr lang="en-US" sz="1200" spc="-30" dirty="0"/>
              <a:t> </a:t>
            </a:r>
            <a:r>
              <a:rPr lang="en-US" sz="1200" dirty="0"/>
              <a:t>&amp;</a:t>
            </a:r>
            <a:r>
              <a:rPr lang="en-US" sz="1200" spc="-35" dirty="0"/>
              <a:t> </a:t>
            </a:r>
            <a:r>
              <a:rPr lang="en-US" sz="1200" spc="-20" dirty="0"/>
              <a:t>Risk </a:t>
            </a:r>
            <a:r>
              <a:rPr lang="en-US" sz="1200" spc="-10" dirty="0"/>
              <a:t>Assessment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836981459"/>
      </p:ext>
    </p:extLst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7764" y="302793"/>
            <a:ext cx="36163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Different</a:t>
            </a:r>
            <a:r>
              <a:rPr sz="1400" b="1" spc="-5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perspectives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for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risk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assessment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764" y="587375"/>
            <a:ext cx="3938486" cy="249694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3326968"/>
            <a:ext cx="4608195" cy="129539"/>
          </a:xfrm>
          <a:custGeom>
            <a:avLst/>
            <a:gdLst/>
            <a:ahLst/>
            <a:cxnLst/>
            <a:rect l="l" t="t" r="r" b="b"/>
            <a:pathLst>
              <a:path w="4608195" h="129539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129032"/>
                </a:lnTo>
                <a:lnTo>
                  <a:pt x="1520647" y="129032"/>
                </a:lnTo>
                <a:lnTo>
                  <a:pt x="3087344" y="129032"/>
                </a:lnTo>
                <a:lnTo>
                  <a:pt x="3087344" y="0"/>
                </a:lnTo>
                <a:close/>
              </a:path>
              <a:path w="4608195" h="129539">
                <a:moveTo>
                  <a:pt x="4608004" y="0"/>
                </a:moveTo>
                <a:lnTo>
                  <a:pt x="3087357" y="0"/>
                </a:lnTo>
                <a:lnTo>
                  <a:pt x="3087357" y="129032"/>
                </a:lnTo>
                <a:lnTo>
                  <a:pt x="4608004" y="129032"/>
                </a:lnTo>
                <a:lnTo>
                  <a:pt x="4608004" y="0"/>
                </a:lnTo>
                <a:close/>
              </a:path>
            </a:pathLst>
          </a:custGeom>
          <a:solidFill>
            <a:srgbClr val="387B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5AB6C9DA-6840-8BE9-3584-121B741B6704}"/>
              </a:ext>
            </a:extLst>
          </p:cNvPr>
          <p:cNvSpPr txBox="1"/>
          <p:nvPr/>
        </p:nvSpPr>
        <p:spPr>
          <a:xfrm>
            <a:off x="-27283" y="3137999"/>
            <a:ext cx="4084933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r">
              <a:lnSpc>
                <a:spcPct val="100000"/>
              </a:lnSpc>
              <a:spcBef>
                <a:spcPts val="95"/>
              </a:spcBef>
            </a:pPr>
            <a:r>
              <a:rPr lang="en-GB" sz="800" spc="-10" dirty="0">
                <a:latin typeface="+mn-lt"/>
                <a:cs typeface="Lucida Sans"/>
              </a:rPr>
              <a:t>c.f. </a:t>
            </a:r>
            <a:r>
              <a:rPr lang="en-GB" sz="800" spc="-10" dirty="0">
                <a:latin typeface="+mn-lt"/>
                <a:cs typeface="Lucida Sans"/>
                <a:hlinkClick r:id="rId3"/>
              </a:rPr>
              <a:t>https://www.bmc.com/blogs/risk-assessment-vs-vulnerability-assessment/</a:t>
            </a:r>
            <a:endParaRPr sz="800" dirty="0">
              <a:latin typeface="+mn-lt"/>
              <a:cs typeface="Lucida Sans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179" y="192112"/>
            <a:ext cx="4118471" cy="331565"/>
          </a:xfrm>
          <a:prstGeom prst="rect">
            <a:avLst/>
          </a:prstGeom>
        </p:spPr>
        <p:txBody>
          <a:bodyPr vert="horz" wrap="square" lIns="0" tIns="114998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0"/>
              </a:spcBef>
            </a:pPr>
            <a:r>
              <a:rPr sz="1400" dirty="0"/>
              <a:t>Different</a:t>
            </a:r>
            <a:r>
              <a:rPr sz="1400" spc="-30" dirty="0"/>
              <a:t> </a:t>
            </a:r>
            <a:r>
              <a:rPr sz="1400" dirty="0"/>
              <a:t>perspectives</a:t>
            </a:r>
            <a:r>
              <a:rPr lang="en-GB" sz="1400" spc="-30" dirty="0"/>
              <a:t>: R</a:t>
            </a:r>
            <a:r>
              <a:rPr sz="1400" dirty="0" err="1"/>
              <a:t>isk</a:t>
            </a:r>
            <a:r>
              <a:rPr sz="1400" spc="-20" dirty="0"/>
              <a:t> </a:t>
            </a:r>
            <a:r>
              <a:rPr lang="en-GB" sz="1400" spc="-10" dirty="0"/>
              <a:t>A</a:t>
            </a:r>
            <a:r>
              <a:rPr sz="1400" spc="-10" dirty="0" err="1"/>
              <a:t>ssessment</a:t>
            </a:r>
            <a:r>
              <a:rPr lang="en-GB" sz="1400" spc="-10" dirty="0"/>
              <a:t> (RA)</a:t>
            </a:r>
            <a:endParaRPr sz="1400" dirty="0"/>
          </a:p>
        </p:txBody>
      </p:sp>
      <p:sp>
        <p:nvSpPr>
          <p:cNvPr id="3" name="object 3"/>
          <p:cNvSpPr txBox="1"/>
          <p:nvPr/>
        </p:nvSpPr>
        <p:spPr>
          <a:xfrm>
            <a:off x="320485" y="587375"/>
            <a:ext cx="4031615" cy="2734659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84150" marR="44450" indent="-172085">
              <a:lnSpc>
                <a:spcPct val="114000"/>
              </a:lnSpc>
              <a:buFont typeface="Wingdings"/>
              <a:buChar char=""/>
              <a:tabLst>
                <a:tab pos="184785" algn="l"/>
              </a:tabLst>
            </a:pPr>
            <a:r>
              <a:rPr lang="en-GB" sz="1000" spc="-10" dirty="0">
                <a:solidFill>
                  <a:srgbClr val="0000FF"/>
                </a:solidFill>
                <a:latin typeface="+mn-lt"/>
                <a:cs typeface="Arial"/>
              </a:rPr>
              <a:t>A</a:t>
            </a:r>
            <a:r>
              <a:rPr sz="1000" spc="-10" dirty="0" err="1">
                <a:solidFill>
                  <a:srgbClr val="0000FF"/>
                </a:solidFill>
                <a:latin typeface="+mn-lt"/>
                <a:cs typeface="Arial"/>
              </a:rPr>
              <a:t>sset</a:t>
            </a:r>
            <a:r>
              <a:rPr sz="1000" spc="-10" dirty="0">
                <a:solidFill>
                  <a:srgbClr val="0000FF"/>
                </a:solidFill>
                <a:latin typeface="+mn-lt"/>
                <a:cs typeface="Arial"/>
              </a:rPr>
              <a:t>-</a:t>
            </a:r>
            <a:r>
              <a:rPr sz="1000" dirty="0">
                <a:solidFill>
                  <a:srgbClr val="0000FF"/>
                </a:solidFill>
                <a:latin typeface="+mn-lt"/>
                <a:cs typeface="Arial"/>
              </a:rPr>
              <a:t>oriented</a:t>
            </a:r>
            <a:r>
              <a:rPr lang="en-GB" sz="1000" dirty="0">
                <a:solidFill>
                  <a:srgbClr val="0000FF"/>
                </a:solidFill>
                <a:latin typeface="+mn-lt"/>
                <a:cs typeface="Arial"/>
              </a:rPr>
              <a:t>'</a:t>
            </a:r>
            <a:r>
              <a:rPr sz="1000" spc="5" dirty="0">
                <a:solidFill>
                  <a:srgbClr val="0000FF"/>
                </a:solidFill>
                <a:latin typeface="+mn-lt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+mn-lt"/>
                <a:cs typeface="Arial"/>
              </a:rPr>
              <a:t>RA</a:t>
            </a:r>
            <a:r>
              <a:rPr lang="en-GB" sz="1000" dirty="0">
                <a:solidFill>
                  <a:srgbClr val="0000FF"/>
                </a:solidFill>
                <a:latin typeface="+mn-lt"/>
                <a:cs typeface="Arial"/>
              </a:rPr>
              <a:t>: </a:t>
            </a:r>
            <a:r>
              <a:rPr sz="1000" dirty="0">
                <a:latin typeface="+mn-lt"/>
                <a:cs typeface="Arial"/>
              </a:rPr>
              <a:t>identification</a:t>
            </a:r>
            <a:r>
              <a:rPr sz="1000" spc="-10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and</a:t>
            </a:r>
            <a:r>
              <a:rPr lang="en-GB" sz="1000" spc="15" dirty="0">
                <a:latin typeface="+mn-lt"/>
                <a:cs typeface="Arial"/>
              </a:rPr>
              <a:t> </a:t>
            </a:r>
            <a:r>
              <a:rPr sz="1000" spc="-10" dirty="0">
                <a:latin typeface="+mn-lt"/>
                <a:cs typeface="Arial"/>
              </a:rPr>
              <a:t>valuation/</a:t>
            </a:r>
            <a:r>
              <a:rPr lang="en-GB" sz="1000" spc="-10" dirty="0">
                <a:latin typeface="+mn-lt"/>
                <a:cs typeface="Arial"/>
              </a:rPr>
              <a:t> </a:t>
            </a:r>
            <a:r>
              <a:rPr sz="1000" spc="-10" dirty="0">
                <a:latin typeface="+mn-lt"/>
                <a:cs typeface="Arial"/>
              </a:rPr>
              <a:t>classification</a:t>
            </a:r>
            <a:r>
              <a:rPr sz="1000" spc="-5" dirty="0">
                <a:latin typeface="+mn-lt"/>
                <a:cs typeface="Arial"/>
              </a:rPr>
              <a:t> </a:t>
            </a:r>
            <a:r>
              <a:rPr sz="1000" spc="-25" dirty="0">
                <a:latin typeface="+mn-lt"/>
                <a:cs typeface="Arial"/>
              </a:rPr>
              <a:t>of </a:t>
            </a:r>
            <a:r>
              <a:rPr sz="1000" dirty="0">
                <a:latin typeface="+mn-lt"/>
                <a:cs typeface="Arial"/>
              </a:rPr>
              <a:t>assets</a:t>
            </a:r>
            <a:r>
              <a:rPr sz="1000" spc="-20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is</a:t>
            </a:r>
            <a:r>
              <a:rPr sz="1000" spc="-10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the</a:t>
            </a:r>
            <a:r>
              <a:rPr sz="1000" spc="-5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starting</a:t>
            </a:r>
            <a:r>
              <a:rPr sz="1000" spc="-15" dirty="0">
                <a:latin typeface="+mn-lt"/>
                <a:cs typeface="Arial"/>
              </a:rPr>
              <a:t> </a:t>
            </a:r>
            <a:r>
              <a:rPr sz="1000" spc="-10" dirty="0" err="1">
                <a:latin typeface="+mn-lt"/>
                <a:cs typeface="Arial"/>
              </a:rPr>
              <a:t>poin</a:t>
            </a:r>
            <a:r>
              <a:rPr lang="en-GB" sz="1000" spc="-10" dirty="0">
                <a:latin typeface="+mn-lt"/>
                <a:cs typeface="Arial"/>
              </a:rPr>
              <a:t>t</a:t>
            </a:r>
          </a:p>
          <a:p>
            <a:pPr marL="183515" marR="44450" indent="-171450">
              <a:lnSpc>
                <a:spcPct val="114000"/>
              </a:lnSpc>
              <a:buFontTx/>
              <a:buChar char="-"/>
              <a:tabLst>
                <a:tab pos="184785" algn="l"/>
              </a:tabLst>
            </a:pPr>
            <a:r>
              <a:rPr sz="1000" spc="-10" dirty="0">
                <a:latin typeface="+mn-lt"/>
                <a:cs typeface="Arial"/>
              </a:rPr>
              <a:t>identification</a:t>
            </a:r>
            <a:r>
              <a:rPr sz="1000" spc="5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of</a:t>
            </a:r>
            <a:r>
              <a:rPr sz="1000" spc="-20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threats</a:t>
            </a:r>
            <a:r>
              <a:rPr sz="1000" spc="-10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and</a:t>
            </a:r>
            <a:r>
              <a:rPr sz="1000" spc="-5" dirty="0">
                <a:latin typeface="+mn-lt"/>
                <a:cs typeface="Arial"/>
              </a:rPr>
              <a:t> </a:t>
            </a:r>
            <a:r>
              <a:rPr sz="1000" spc="-10" dirty="0">
                <a:latin typeface="+mn-lt"/>
                <a:cs typeface="Arial"/>
              </a:rPr>
              <a:t>vulnerabilities</a:t>
            </a:r>
            <a:r>
              <a:rPr sz="1000" spc="10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affecting</a:t>
            </a:r>
            <a:r>
              <a:rPr sz="1000" spc="-5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those</a:t>
            </a:r>
            <a:r>
              <a:rPr sz="1000" spc="-10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assets</a:t>
            </a:r>
            <a:r>
              <a:rPr sz="1000" spc="-10" dirty="0">
                <a:latin typeface="+mn-lt"/>
                <a:cs typeface="Arial"/>
              </a:rPr>
              <a:t> </a:t>
            </a:r>
            <a:r>
              <a:rPr sz="1000" spc="-25" dirty="0">
                <a:latin typeface="+mn-lt"/>
                <a:cs typeface="Arial"/>
              </a:rPr>
              <a:t>(or </a:t>
            </a:r>
            <a:r>
              <a:rPr sz="1000" dirty="0">
                <a:latin typeface="+mn-lt"/>
                <a:cs typeface="Arial"/>
              </a:rPr>
              <a:t>most</a:t>
            </a:r>
            <a:r>
              <a:rPr sz="1000" spc="-40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valuable</a:t>
            </a:r>
            <a:r>
              <a:rPr sz="1000" spc="-20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assets)</a:t>
            </a:r>
            <a:r>
              <a:rPr sz="1000" spc="-30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drives</a:t>
            </a:r>
            <a:r>
              <a:rPr sz="1000" spc="-25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the</a:t>
            </a:r>
            <a:r>
              <a:rPr sz="1000" spc="-40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risk</a:t>
            </a:r>
            <a:r>
              <a:rPr sz="1000" spc="-30" dirty="0">
                <a:latin typeface="+mn-lt"/>
                <a:cs typeface="Arial"/>
              </a:rPr>
              <a:t> </a:t>
            </a:r>
            <a:r>
              <a:rPr sz="1000" spc="-10" dirty="0" err="1">
                <a:latin typeface="+mn-lt"/>
                <a:cs typeface="Arial"/>
              </a:rPr>
              <a:t>assessmen</a:t>
            </a:r>
            <a:r>
              <a:rPr lang="en-GB" sz="1000" spc="-10" dirty="0">
                <a:latin typeface="+mn-lt"/>
                <a:cs typeface="Arial"/>
              </a:rPr>
              <a:t>t (e.g. </a:t>
            </a:r>
            <a:r>
              <a:rPr sz="1000" dirty="0">
                <a:latin typeface="+mn-lt"/>
                <a:cs typeface="Arial"/>
              </a:rPr>
              <a:t>ISO</a:t>
            </a:r>
            <a:r>
              <a:rPr sz="1000" spc="-30" dirty="0">
                <a:latin typeface="+mn-lt"/>
                <a:cs typeface="Arial"/>
              </a:rPr>
              <a:t> </a:t>
            </a:r>
            <a:r>
              <a:rPr sz="1000" spc="-10" dirty="0">
                <a:latin typeface="+mn-lt"/>
                <a:cs typeface="Arial"/>
              </a:rPr>
              <a:t>27005</a:t>
            </a:r>
            <a:r>
              <a:rPr lang="en-GB" sz="1000" spc="-10" dirty="0">
                <a:latin typeface="+mn-lt"/>
                <a:cs typeface="Arial"/>
              </a:rPr>
              <a:t>)</a:t>
            </a:r>
            <a:endParaRPr sz="1000" dirty="0">
              <a:latin typeface="+mn-lt"/>
              <a:cs typeface="Arial"/>
            </a:endParaRPr>
          </a:p>
          <a:p>
            <a:pPr lvl="1">
              <a:lnSpc>
                <a:spcPct val="114000"/>
              </a:lnSpc>
              <a:buFont typeface="Arial"/>
              <a:buChar char="–"/>
            </a:pPr>
            <a:endParaRPr sz="1000" dirty="0">
              <a:latin typeface="+mn-lt"/>
              <a:cs typeface="Arial"/>
            </a:endParaRPr>
          </a:p>
          <a:p>
            <a:pPr marL="184150" marR="5080" indent="-172085">
              <a:lnSpc>
                <a:spcPct val="114000"/>
              </a:lnSpc>
              <a:buFont typeface="Wingdings"/>
              <a:buChar char=""/>
              <a:tabLst>
                <a:tab pos="184785" algn="l"/>
              </a:tabLst>
            </a:pPr>
            <a:r>
              <a:rPr lang="en-GB" sz="1000" spc="-10" dirty="0">
                <a:solidFill>
                  <a:srgbClr val="0000FF"/>
                </a:solidFill>
                <a:latin typeface="+mn-lt"/>
                <a:cs typeface="Arial"/>
              </a:rPr>
              <a:t>‘T</a:t>
            </a:r>
            <a:r>
              <a:rPr sz="1000" spc="-10" dirty="0" err="1">
                <a:solidFill>
                  <a:srgbClr val="0000FF"/>
                </a:solidFill>
                <a:latin typeface="+mn-lt"/>
                <a:cs typeface="Arial"/>
              </a:rPr>
              <a:t>hreat</a:t>
            </a:r>
            <a:r>
              <a:rPr sz="1000" spc="-10" dirty="0">
                <a:solidFill>
                  <a:srgbClr val="0000FF"/>
                </a:solidFill>
                <a:latin typeface="+mn-lt"/>
                <a:cs typeface="Arial"/>
              </a:rPr>
              <a:t>-</a:t>
            </a:r>
            <a:r>
              <a:rPr sz="1000" dirty="0">
                <a:solidFill>
                  <a:srgbClr val="0000FF"/>
                </a:solidFill>
                <a:latin typeface="+mn-lt"/>
                <a:cs typeface="Arial"/>
              </a:rPr>
              <a:t>oriented</a:t>
            </a:r>
            <a:r>
              <a:rPr lang="en-GB" sz="1000" dirty="0">
                <a:solidFill>
                  <a:srgbClr val="0000FF"/>
                </a:solidFill>
                <a:latin typeface="+mn-lt"/>
                <a:cs typeface="Arial"/>
              </a:rPr>
              <a:t>'</a:t>
            </a:r>
            <a:r>
              <a:rPr sz="1000" spc="-25" dirty="0">
                <a:solidFill>
                  <a:srgbClr val="0000FF"/>
                </a:solidFill>
                <a:latin typeface="+mn-lt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+mn-lt"/>
                <a:cs typeface="Arial"/>
              </a:rPr>
              <a:t>RA</a:t>
            </a:r>
            <a:r>
              <a:rPr lang="en-GB" sz="1000" dirty="0">
                <a:solidFill>
                  <a:srgbClr val="0000FF"/>
                </a:solidFill>
                <a:latin typeface="+mn-lt"/>
                <a:cs typeface="Arial"/>
              </a:rPr>
              <a:t>: </a:t>
            </a:r>
            <a:r>
              <a:rPr sz="1000" dirty="0">
                <a:latin typeface="+mn-lt"/>
                <a:cs typeface="Arial"/>
              </a:rPr>
              <a:t>identification</a:t>
            </a:r>
            <a:r>
              <a:rPr sz="1000" spc="-30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of</a:t>
            </a:r>
            <a:r>
              <a:rPr sz="1000" spc="-20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threats/</a:t>
            </a:r>
            <a:r>
              <a:rPr lang="en-GB" sz="1000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threat</a:t>
            </a:r>
            <a:r>
              <a:rPr sz="1000" spc="-10" dirty="0">
                <a:latin typeface="+mn-lt"/>
                <a:cs typeface="Arial"/>
              </a:rPr>
              <a:t> sources </a:t>
            </a:r>
            <a:r>
              <a:rPr sz="1000" dirty="0">
                <a:latin typeface="+mn-lt"/>
                <a:cs typeface="Arial"/>
              </a:rPr>
              <a:t>(e.g.,</a:t>
            </a:r>
            <a:r>
              <a:rPr sz="1000" spc="-10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via</a:t>
            </a:r>
            <a:r>
              <a:rPr sz="1000" spc="-10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threat</a:t>
            </a:r>
            <a:r>
              <a:rPr sz="1000" spc="-10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modelling</a:t>
            </a:r>
            <a:r>
              <a:rPr sz="1000" spc="-30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or</a:t>
            </a:r>
            <a:r>
              <a:rPr sz="1000" spc="-10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threat</a:t>
            </a:r>
            <a:r>
              <a:rPr sz="1000" spc="-15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scenarios)</a:t>
            </a:r>
            <a:r>
              <a:rPr sz="1000" spc="-15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is</a:t>
            </a:r>
            <a:r>
              <a:rPr sz="1000" spc="-15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the</a:t>
            </a:r>
            <a:r>
              <a:rPr sz="1000" spc="-15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starting</a:t>
            </a:r>
            <a:r>
              <a:rPr sz="1000" spc="-10" dirty="0">
                <a:latin typeface="+mn-lt"/>
                <a:cs typeface="Arial"/>
              </a:rPr>
              <a:t> point</a:t>
            </a:r>
            <a:endParaRPr lang="en-GB" sz="1000" dirty="0">
              <a:latin typeface="+mn-lt"/>
              <a:cs typeface="Arial"/>
            </a:endParaRPr>
          </a:p>
          <a:p>
            <a:pPr marL="183515" marR="5080" indent="-171450">
              <a:lnSpc>
                <a:spcPct val="114000"/>
              </a:lnSpc>
              <a:buFontTx/>
              <a:buChar char="-"/>
              <a:tabLst>
                <a:tab pos="184785" algn="l"/>
              </a:tabLst>
            </a:pPr>
            <a:r>
              <a:rPr sz="1000" spc="-10" dirty="0">
                <a:latin typeface="+mn-lt"/>
                <a:cs typeface="Arial"/>
              </a:rPr>
              <a:t>vulnerabilities</a:t>
            </a:r>
            <a:r>
              <a:rPr sz="1000" dirty="0">
                <a:latin typeface="+mn-lt"/>
                <a:cs typeface="Arial"/>
              </a:rPr>
              <a:t> are</a:t>
            </a:r>
            <a:r>
              <a:rPr sz="1000" spc="-10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identified in</a:t>
            </a:r>
            <a:r>
              <a:rPr sz="1000" spc="-10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the</a:t>
            </a:r>
            <a:r>
              <a:rPr sz="1000" spc="-10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context</a:t>
            </a:r>
            <a:r>
              <a:rPr sz="1000" spc="-10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of</a:t>
            </a:r>
            <a:r>
              <a:rPr sz="1000" spc="-20" dirty="0">
                <a:latin typeface="+mn-lt"/>
                <a:cs typeface="Arial"/>
              </a:rPr>
              <a:t> </a:t>
            </a:r>
            <a:r>
              <a:rPr sz="1000" dirty="0">
                <a:latin typeface="+mn-lt"/>
                <a:cs typeface="Arial"/>
              </a:rPr>
              <a:t>the</a:t>
            </a:r>
            <a:r>
              <a:rPr sz="1000" spc="-10" dirty="0">
                <a:latin typeface="+mn-lt"/>
                <a:cs typeface="Arial"/>
              </a:rPr>
              <a:t> threats</a:t>
            </a:r>
            <a:r>
              <a:rPr lang="en-GB" sz="1000" spc="-10" dirty="0">
                <a:latin typeface="+mn-lt"/>
                <a:cs typeface="Arial"/>
              </a:rPr>
              <a:t> (e.g. </a:t>
            </a:r>
            <a:r>
              <a:rPr sz="1000" dirty="0">
                <a:latin typeface="+mn-lt"/>
                <a:cs typeface="Arial"/>
              </a:rPr>
              <a:t>NIST </a:t>
            </a:r>
            <a:r>
              <a:rPr sz="1000" spc="-10" dirty="0">
                <a:latin typeface="+mn-lt"/>
                <a:cs typeface="Arial"/>
              </a:rPr>
              <a:t>800-</a:t>
            </a:r>
            <a:r>
              <a:rPr sz="1000" spc="-25" dirty="0">
                <a:latin typeface="+mn-lt"/>
                <a:cs typeface="Arial"/>
              </a:rPr>
              <a:t>30</a:t>
            </a:r>
            <a:r>
              <a:rPr lang="en-GB" sz="1000" spc="-25" dirty="0">
                <a:latin typeface="+mn-lt"/>
                <a:cs typeface="Arial"/>
              </a:rPr>
              <a:t>)</a:t>
            </a:r>
          </a:p>
          <a:p>
            <a:pPr lvl="1">
              <a:lnSpc>
                <a:spcPct val="114000"/>
              </a:lnSpc>
              <a:buFont typeface="Arial"/>
              <a:buChar char="–"/>
            </a:pPr>
            <a:endParaRPr lang="en-GB" sz="1000" dirty="0">
              <a:latin typeface="+mn-lt"/>
              <a:cs typeface="Arial"/>
            </a:endParaRPr>
          </a:p>
          <a:p>
            <a:pPr marL="184150" marR="310515" indent="-172085">
              <a:lnSpc>
                <a:spcPct val="114000"/>
              </a:lnSpc>
              <a:buFont typeface="Wingdings"/>
              <a:buChar char=""/>
              <a:tabLst>
                <a:tab pos="184785" algn="l"/>
              </a:tabLst>
            </a:pPr>
            <a:r>
              <a:rPr lang="en-US" sz="1000" spc="-10" dirty="0">
                <a:solidFill>
                  <a:srgbClr val="0000FF"/>
                </a:solidFill>
                <a:latin typeface="+mn-lt"/>
                <a:cs typeface="Arial"/>
              </a:rPr>
              <a:t>‘Vulnerability-</a:t>
            </a:r>
            <a:r>
              <a:rPr lang="en-US" sz="1000" dirty="0">
                <a:solidFill>
                  <a:srgbClr val="0000FF"/>
                </a:solidFill>
                <a:latin typeface="+mn-lt"/>
                <a:cs typeface="Arial"/>
              </a:rPr>
              <a:t>oriented’</a:t>
            </a:r>
            <a:r>
              <a:rPr lang="en-US" sz="1000" spc="20" dirty="0">
                <a:solidFill>
                  <a:srgbClr val="0000FF"/>
                </a:solidFill>
                <a:latin typeface="+mn-lt"/>
                <a:cs typeface="Arial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+mn-lt"/>
                <a:cs typeface="Arial"/>
              </a:rPr>
              <a:t>RA:</a:t>
            </a:r>
            <a:r>
              <a:rPr lang="en-US" sz="1000" spc="40" dirty="0">
                <a:latin typeface="+mn-lt"/>
                <a:cs typeface="Arial"/>
              </a:rPr>
              <a:t> </a:t>
            </a:r>
            <a:r>
              <a:rPr lang="en-US" sz="1000" spc="-10" dirty="0">
                <a:latin typeface="+mn-lt"/>
                <a:cs typeface="Arial"/>
              </a:rPr>
              <a:t>identification/ assessment</a:t>
            </a:r>
            <a:r>
              <a:rPr lang="en-US" sz="1000" spc="15" dirty="0">
                <a:latin typeface="+mn-lt"/>
                <a:cs typeface="Arial"/>
              </a:rPr>
              <a:t> </a:t>
            </a:r>
            <a:r>
              <a:rPr lang="en-US" sz="1000" spc="-25" dirty="0">
                <a:latin typeface="+mn-lt"/>
                <a:cs typeface="Arial"/>
              </a:rPr>
              <a:t>of </a:t>
            </a:r>
            <a:r>
              <a:rPr lang="en-US" sz="1000" spc="-10" dirty="0">
                <a:latin typeface="+mn-lt"/>
                <a:cs typeface="Arial"/>
              </a:rPr>
              <a:t>vulnerabilities</a:t>
            </a:r>
            <a:r>
              <a:rPr lang="en-US" sz="1000" dirty="0">
                <a:latin typeface="+mn-lt"/>
                <a:cs typeface="Arial"/>
              </a:rPr>
              <a:t> is</a:t>
            </a:r>
            <a:r>
              <a:rPr lang="en-US" sz="1000" spc="15" dirty="0">
                <a:latin typeface="+mn-lt"/>
                <a:cs typeface="Arial"/>
              </a:rPr>
              <a:t> </a:t>
            </a:r>
            <a:r>
              <a:rPr lang="en-US" sz="1000" dirty="0">
                <a:latin typeface="+mn-lt"/>
                <a:cs typeface="Arial"/>
              </a:rPr>
              <a:t>the</a:t>
            </a:r>
            <a:r>
              <a:rPr lang="en-US" sz="1000" spc="25" dirty="0">
                <a:latin typeface="+mn-lt"/>
                <a:cs typeface="Arial"/>
              </a:rPr>
              <a:t> </a:t>
            </a:r>
            <a:r>
              <a:rPr lang="en-US" sz="1000" dirty="0">
                <a:latin typeface="+mn-lt"/>
                <a:cs typeface="Arial"/>
              </a:rPr>
              <a:t>starting</a:t>
            </a:r>
            <a:r>
              <a:rPr lang="en-US" sz="1000" spc="10" dirty="0">
                <a:latin typeface="+mn-lt"/>
                <a:cs typeface="Arial"/>
              </a:rPr>
              <a:t> </a:t>
            </a:r>
            <a:r>
              <a:rPr lang="en-US" sz="1000" spc="-10" dirty="0">
                <a:latin typeface="+mn-lt"/>
                <a:cs typeface="Arial"/>
              </a:rPr>
              <a:t>point</a:t>
            </a:r>
            <a:endParaRPr lang="en-US" sz="1000" dirty="0">
              <a:latin typeface="+mn-lt"/>
              <a:cs typeface="Arial"/>
            </a:endParaRPr>
          </a:p>
          <a:p>
            <a:pPr marL="12065" marR="310515">
              <a:lnSpc>
                <a:spcPct val="114000"/>
              </a:lnSpc>
              <a:tabLst>
                <a:tab pos="184785" algn="l"/>
              </a:tabLst>
            </a:pPr>
            <a:r>
              <a:rPr lang="en-US" sz="1000" spc="-10" dirty="0">
                <a:latin typeface="+mn-lt"/>
                <a:cs typeface="Arial"/>
              </a:rPr>
              <a:t>-     identification</a:t>
            </a:r>
            <a:r>
              <a:rPr lang="en-US" sz="1000" spc="5" dirty="0">
                <a:latin typeface="+mn-lt"/>
                <a:cs typeface="Arial"/>
              </a:rPr>
              <a:t> </a:t>
            </a:r>
            <a:r>
              <a:rPr lang="en-US" sz="1000" dirty="0">
                <a:latin typeface="+mn-lt"/>
                <a:cs typeface="Arial"/>
              </a:rPr>
              <a:t>of</a:t>
            </a:r>
            <a:r>
              <a:rPr lang="en-US" sz="1000" spc="-20" dirty="0">
                <a:latin typeface="+mn-lt"/>
                <a:cs typeface="Arial"/>
              </a:rPr>
              <a:t> </a:t>
            </a:r>
            <a:r>
              <a:rPr lang="en-US" sz="1000" dirty="0">
                <a:latin typeface="+mn-lt"/>
                <a:cs typeface="Arial"/>
              </a:rPr>
              <a:t>threats</a:t>
            </a:r>
            <a:r>
              <a:rPr lang="en-US" sz="1000" spc="-10" dirty="0">
                <a:latin typeface="+mn-lt"/>
                <a:cs typeface="Arial"/>
              </a:rPr>
              <a:t> </a:t>
            </a:r>
            <a:r>
              <a:rPr lang="en-US" sz="1000" dirty="0">
                <a:latin typeface="+mn-lt"/>
                <a:cs typeface="Arial"/>
              </a:rPr>
              <a:t>is</a:t>
            </a:r>
            <a:r>
              <a:rPr lang="en-US" sz="1000" spc="-15" dirty="0">
                <a:latin typeface="+mn-lt"/>
                <a:cs typeface="Arial"/>
              </a:rPr>
              <a:t> </a:t>
            </a:r>
            <a:r>
              <a:rPr lang="en-US" sz="1000" dirty="0">
                <a:latin typeface="+mn-lt"/>
                <a:cs typeface="Arial"/>
              </a:rPr>
              <a:t>driven</a:t>
            </a:r>
            <a:r>
              <a:rPr lang="en-US" sz="1000" spc="-5" dirty="0">
                <a:latin typeface="+mn-lt"/>
                <a:cs typeface="Arial"/>
              </a:rPr>
              <a:t> </a:t>
            </a:r>
            <a:r>
              <a:rPr lang="en-US" sz="1000" dirty="0">
                <a:latin typeface="+mn-lt"/>
                <a:cs typeface="Arial"/>
              </a:rPr>
              <a:t>by</a:t>
            </a:r>
            <a:r>
              <a:rPr lang="en-US" sz="1000" spc="-20" dirty="0">
                <a:latin typeface="+mn-lt"/>
                <a:cs typeface="Arial"/>
              </a:rPr>
              <a:t> </a:t>
            </a:r>
            <a:r>
              <a:rPr lang="en-US" sz="1000" dirty="0">
                <a:latin typeface="+mn-lt"/>
                <a:cs typeface="Arial"/>
              </a:rPr>
              <a:t>these</a:t>
            </a:r>
            <a:r>
              <a:rPr lang="en-US" sz="1000" spc="-10" dirty="0">
                <a:latin typeface="+mn-lt"/>
                <a:cs typeface="Arial"/>
              </a:rPr>
              <a:t> vulnerabilities (e.g.    	</a:t>
            </a:r>
            <a:r>
              <a:rPr lang="en-US" sz="1000" dirty="0">
                <a:latin typeface="+mn-lt"/>
                <a:cs typeface="Arial"/>
              </a:rPr>
              <a:t>NSFOCUS</a:t>
            </a:r>
            <a:r>
              <a:rPr lang="en-US" sz="1000" spc="-35" dirty="0">
                <a:latin typeface="+mn-lt"/>
                <a:cs typeface="Arial"/>
              </a:rPr>
              <a:t> </a:t>
            </a:r>
            <a:r>
              <a:rPr lang="en-US" sz="1000" spc="-20" dirty="0">
                <a:latin typeface="+mn-lt"/>
                <a:cs typeface="Arial"/>
              </a:rPr>
              <a:t>Tool)</a:t>
            </a:r>
            <a:endParaRPr lang="en-US" sz="1000" dirty="0">
              <a:latin typeface="+mn-lt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26968"/>
            <a:ext cx="4608195" cy="129539"/>
          </a:xfrm>
          <a:custGeom>
            <a:avLst/>
            <a:gdLst/>
            <a:ahLst/>
            <a:cxnLst/>
            <a:rect l="l" t="t" r="r" b="b"/>
            <a:pathLst>
              <a:path w="4608195" h="129539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129032"/>
                </a:lnTo>
                <a:lnTo>
                  <a:pt x="1520647" y="129032"/>
                </a:lnTo>
                <a:lnTo>
                  <a:pt x="3087344" y="129032"/>
                </a:lnTo>
                <a:lnTo>
                  <a:pt x="3087344" y="0"/>
                </a:lnTo>
                <a:close/>
              </a:path>
              <a:path w="4608195" h="129539">
                <a:moveTo>
                  <a:pt x="4608004" y="0"/>
                </a:moveTo>
                <a:lnTo>
                  <a:pt x="3087357" y="0"/>
                </a:lnTo>
                <a:lnTo>
                  <a:pt x="3087357" y="129032"/>
                </a:lnTo>
                <a:lnTo>
                  <a:pt x="4608004" y="129032"/>
                </a:lnTo>
                <a:lnTo>
                  <a:pt x="4608004" y="0"/>
                </a:lnTo>
                <a:close/>
              </a:path>
            </a:pathLst>
          </a:custGeom>
          <a:solidFill>
            <a:srgbClr val="387BB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179" y="192112"/>
            <a:ext cx="4004945" cy="346953"/>
          </a:xfrm>
          <a:prstGeom prst="rect">
            <a:avLst/>
          </a:prstGeom>
        </p:spPr>
        <p:txBody>
          <a:bodyPr vert="horz" wrap="square" lIns="0" tIns="114998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0"/>
              </a:spcBef>
            </a:pPr>
            <a:r>
              <a:rPr lang="en-GB" sz="1500" dirty="0"/>
              <a:t>CO4512 Focus</a:t>
            </a:r>
            <a:endParaRPr sz="1500" dirty="0"/>
          </a:p>
        </p:txBody>
      </p:sp>
      <p:sp>
        <p:nvSpPr>
          <p:cNvPr id="3" name="object 3"/>
          <p:cNvSpPr txBox="1"/>
          <p:nvPr/>
        </p:nvSpPr>
        <p:spPr>
          <a:xfrm>
            <a:off x="339686" y="777280"/>
            <a:ext cx="3411854" cy="148951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84150" indent="-172085">
              <a:lnSpc>
                <a:spcPct val="100000"/>
              </a:lnSpc>
              <a:spcBef>
                <a:spcPts val="515"/>
              </a:spcBef>
              <a:buFont typeface="Wingdings"/>
              <a:buChar char=""/>
              <a:tabLst>
                <a:tab pos="184785" algn="l"/>
              </a:tabLst>
            </a:pPr>
            <a:r>
              <a:rPr sz="1600" dirty="0">
                <a:latin typeface="+mn-lt"/>
                <a:cs typeface="Arial"/>
              </a:rPr>
              <a:t>ISO/IEC</a:t>
            </a:r>
            <a:r>
              <a:rPr sz="1600" spc="-55" dirty="0">
                <a:latin typeface="+mn-lt"/>
                <a:cs typeface="Arial"/>
              </a:rPr>
              <a:t> </a:t>
            </a:r>
            <a:r>
              <a:rPr sz="1600" dirty="0">
                <a:latin typeface="+mn-lt"/>
                <a:cs typeface="Arial"/>
              </a:rPr>
              <a:t>27005</a:t>
            </a:r>
            <a:r>
              <a:rPr sz="1600" spc="-60" dirty="0">
                <a:latin typeface="+mn-lt"/>
                <a:cs typeface="Arial"/>
              </a:rPr>
              <a:t> </a:t>
            </a:r>
            <a:r>
              <a:rPr sz="1600" dirty="0">
                <a:latin typeface="+mn-lt"/>
                <a:cs typeface="Arial"/>
              </a:rPr>
              <a:t>(</a:t>
            </a:r>
            <a:r>
              <a:rPr sz="1600" dirty="0" err="1">
                <a:latin typeface="+mn-lt"/>
                <a:cs typeface="Arial"/>
              </a:rPr>
              <a:t>ver</a:t>
            </a:r>
            <a:r>
              <a:rPr lang="en-GB" sz="1600" dirty="0">
                <a:latin typeface="+mn-lt"/>
                <a:cs typeface="Arial"/>
              </a:rPr>
              <a:t>.</a:t>
            </a:r>
            <a:r>
              <a:rPr sz="1600" spc="-45" dirty="0">
                <a:latin typeface="+mn-lt"/>
                <a:cs typeface="Arial"/>
              </a:rPr>
              <a:t> </a:t>
            </a:r>
            <a:r>
              <a:rPr sz="1600" spc="-20" dirty="0">
                <a:latin typeface="+mn-lt"/>
                <a:cs typeface="Arial"/>
              </a:rPr>
              <a:t>2011)</a:t>
            </a:r>
            <a:endParaRPr sz="1600" dirty="0">
              <a:latin typeface="+mn-lt"/>
              <a:cs typeface="Arial"/>
            </a:endParaRPr>
          </a:p>
          <a:p>
            <a:pPr marL="384175" lvl="1" indent="-143510">
              <a:lnSpc>
                <a:spcPct val="100000"/>
              </a:lnSpc>
              <a:spcBef>
                <a:spcPts val="330"/>
              </a:spcBef>
              <a:buChar char="–"/>
              <a:tabLst>
                <a:tab pos="384810" algn="l"/>
              </a:tabLst>
            </a:pPr>
            <a:r>
              <a:rPr sz="1600" dirty="0">
                <a:latin typeface="+mn-lt"/>
                <a:cs typeface="Arial"/>
              </a:rPr>
              <a:t>Asset</a:t>
            </a:r>
            <a:r>
              <a:rPr sz="1600" spc="-25" dirty="0">
                <a:latin typeface="+mn-lt"/>
                <a:cs typeface="Arial"/>
              </a:rPr>
              <a:t> </a:t>
            </a:r>
            <a:r>
              <a:rPr sz="1600" dirty="0">
                <a:latin typeface="+mn-lt"/>
                <a:cs typeface="Arial"/>
              </a:rPr>
              <a:t>oriented</a:t>
            </a:r>
            <a:r>
              <a:rPr sz="1600" spc="-20" dirty="0">
                <a:latin typeface="+mn-lt"/>
                <a:cs typeface="Arial"/>
              </a:rPr>
              <a:t> </a:t>
            </a:r>
            <a:r>
              <a:rPr sz="1600" dirty="0">
                <a:latin typeface="+mn-lt"/>
                <a:cs typeface="Arial"/>
              </a:rPr>
              <a:t>risk</a:t>
            </a:r>
            <a:r>
              <a:rPr sz="1600" spc="-10" dirty="0">
                <a:latin typeface="+mn-lt"/>
                <a:cs typeface="Arial"/>
              </a:rPr>
              <a:t> assessment</a:t>
            </a:r>
            <a:endParaRPr sz="1600" dirty="0">
              <a:latin typeface="+mn-lt"/>
              <a:cs typeface="Arial"/>
            </a:endParaRPr>
          </a:p>
          <a:p>
            <a:pPr lvl="1">
              <a:lnSpc>
                <a:spcPct val="100000"/>
              </a:lnSpc>
              <a:buFont typeface="Arial"/>
              <a:buChar char="–"/>
            </a:pPr>
            <a:endParaRPr sz="1600" dirty="0">
              <a:latin typeface="+mn-lt"/>
              <a:cs typeface="Arial"/>
            </a:endParaRPr>
          </a:p>
          <a:p>
            <a:pPr marL="184150" indent="-172085">
              <a:lnSpc>
                <a:spcPct val="100000"/>
              </a:lnSpc>
              <a:spcBef>
                <a:spcPts val="910"/>
              </a:spcBef>
              <a:buFont typeface="Wingdings"/>
              <a:buChar char=""/>
              <a:tabLst>
                <a:tab pos="184785" algn="l"/>
              </a:tabLst>
            </a:pPr>
            <a:r>
              <a:rPr sz="1600" dirty="0">
                <a:latin typeface="+mn-lt"/>
                <a:cs typeface="Arial"/>
              </a:rPr>
              <a:t>SP</a:t>
            </a:r>
            <a:r>
              <a:rPr sz="1600" spc="-15" dirty="0">
                <a:latin typeface="+mn-lt"/>
                <a:cs typeface="Arial"/>
              </a:rPr>
              <a:t> </a:t>
            </a:r>
            <a:r>
              <a:rPr sz="1600" spc="-20" dirty="0">
                <a:latin typeface="+mn-lt"/>
                <a:cs typeface="Arial"/>
              </a:rPr>
              <a:t>800-</a:t>
            </a:r>
            <a:r>
              <a:rPr sz="1600" dirty="0">
                <a:latin typeface="+mn-lt"/>
                <a:cs typeface="Arial"/>
              </a:rPr>
              <a:t>30</a:t>
            </a:r>
            <a:r>
              <a:rPr sz="1600" spc="10" dirty="0">
                <a:latin typeface="+mn-lt"/>
                <a:cs typeface="Arial"/>
              </a:rPr>
              <a:t> </a:t>
            </a:r>
            <a:r>
              <a:rPr sz="1600" dirty="0">
                <a:latin typeface="+mn-lt"/>
                <a:cs typeface="Arial"/>
              </a:rPr>
              <a:t>(SP</a:t>
            </a:r>
            <a:r>
              <a:rPr sz="1600" spc="-10" dirty="0">
                <a:latin typeface="+mn-lt"/>
                <a:cs typeface="Arial"/>
              </a:rPr>
              <a:t> </a:t>
            </a:r>
            <a:r>
              <a:rPr sz="1600" spc="-20" dirty="0">
                <a:latin typeface="+mn-lt"/>
                <a:cs typeface="Arial"/>
              </a:rPr>
              <a:t>800-</a:t>
            </a:r>
            <a:r>
              <a:rPr sz="1600" dirty="0">
                <a:latin typeface="+mn-lt"/>
                <a:cs typeface="Arial"/>
              </a:rPr>
              <a:t>30 </a:t>
            </a:r>
            <a:r>
              <a:rPr sz="1600" spc="-25" dirty="0">
                <a:latin typeface="+mn-lt"/>
                <a:cs typeface="Arial"/>
              </a:rPr>
              <a:t>R</a:t>
            </a:r>
            <a:r>
              <a:rPr lang="en-GB" sz="1600" spc="-25" dirty="0" err="1">
                <a:latin typeface="+mn-lt"/>
                <a:cs typeface="Arial"/>
              </a:rPr>
              <a:t>ev</a:t>
            </a:r>
            <a:r>
              <a:rPr lang="en-GB" sz="1600" spc="-25" dirty="0">
                <a:latin typeface="+mn-lt"/>
                <a:cs typeface="Arial"/>
              </a:rPr>
              <a:t>. </a:t>
            </a:r>
            <a:r>
              <a:rPr sz="1600" spc="-25" dirty="0">
                <a:latin typeface="+mn-lt"/>
                <a:cs typeface="Arial"/>
              </a:rPr>
              <a:t>1)</a:t>
            </a:r>
            <a:endParaRPr sz="1600" dirty="0">
              <a:latin typeface="+mn-lt"/>
              <a:cs typeface="Arial"/>
            </a:endParaRPr>
          </a:p>
          <a:p>
            <a:pPr marL="384175" lvl="1" indent="-143510">
              <a:lnSpc>
                <a:spcPct val="100000"/>
              </a:lnSpc>
              <a:spcBef>
                <a:spcPts val="330"/>
              </a:spcBef>
              <a:buChar char="–"/>
              <a:tabLst>
                <a:tab pos="384810" algn="l"/>
              </a:tabLst>
            </a:pPr>
            <a:r>
              <a:rPr sz="1600" dirty="0">
                <a:latin typeface="+mn-lt"/>
                <a:cs typeface="Arial"/>
              </a:rPr>
              <a:t>Threat</a:t>
            </a:r>
            <a:r>
              <a:rPr sz="1600" spc="-10" dirty="0">
                <a:latin typeface="+mn-lt"/>
                <a:cs typeface="Arial"/>
              </a:rPr>
              <a:t> </a:t>
            </a:r>
            <a:r>
              <a:rPr sz="1600" dirty="0">
                <a:latin typeface="+mn-lt"/>
                <a:cs typeface="Arial"/>
              </a:rPr>
              <a:t>oriented</a:t>
            </a:r>
            <a:r>
              <a:rPr sz="1600" spc="-5" dirty="0">
                <a:latin typeface="+mn-lt"/>
                <a:cs typeface="Arial"/>
              </a:rPr>
              <a:t> </a:t>
            </a:r>
            <a:r>
              <a:rPr sz="1600" dirty="0">
                <a:latin typeface="+mn-lt"/>
                <a:cs typeface="Arial"/>
              </a:rPr>
              <a:t>risk</a:t>
            </a:r>
            <a:r>
              <a:rPr sz="1600" spc="-15" dirty="0">
                <a:latin typeface="+mn-lt"/>
                <a:cs typeface="Arial"/>
              </a:rPr>
              <a:t> </a:t>
            </a:r>
            <a:r>
              <a:rPr sz="1600" spc="-10" dirty="0">
                <a:latin typeface="+mn-lt"/>
                <a:cs typeface="Arial"/>
              </a:rPr>
              <a:t>assessment</a:t>
            </a:r>
            <a:endParaRPr sz="1600" dirty="0">
              <a:latin typeface="+mn-lt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26968"/>
            <a:ext cx="4608195" cy="129539"/>
          </a:xfrm>
          <a:custGeom>
            <a:avLst/>
            <a:gdLst/>
            <a:ahLst/>
            <a:cxnLst/>
            <a:rect l="l" t="t" r="r" b="b"/>
            <a:pathLst>
              <a:path w="4608195" h="129539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129032"/>
                </a:lnTo>
                <a:lnTo>
                  <a:pt x="1520647" y="129032"/>
                </a:lnTo>
                <a:lnTo>
                  <a:pt x="3087344" y="129032"/>
                </a:lnTo>
                <a:lnTo>
                  <a:pt x="3087344" y="0"/>
                </a:lnTo>
                <a:close/>
              </a:path>
              <a:path w="4608195" h="129539">
                <a:moveTo>
                  <a:pt x="4608004" y="0"/>
                </a:moveTo>
                <a:lnTo>
                  <a:pt x="3087357" y="0"/>
                </a:lnTo>
                <a:lnTo>
                  <a:pt x="3087357" y="129032"/>
                </a:lnTo>
                <a:lnTo>
                  <a:pt x="4608004" y="129032"/>
                </a:lnTo>
                <a:lnTo>
                  <a:pt x="4608004" y="0"/>
                </a:lnTo>
                <a:close/>
              </a:path>
            </a:pathLst>
          </a:custGeom>
          <a:solidFill>
            <a:srgbClr val="387BB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8417" y="145846"/>
            <a:ext cx="4469765" cy="3310254"/>
            <a:chOff x="138417" y="145846"/>
            <a:chExt cx="4469765" cy="3310254"/>
          </a:xfrm>
        </p:grpSpPr>
        <p:sp>
          <p:nvSpPr>
            <p:cNvPr id="3" name="object 3"/>
            <p:cNvSpPr/>
            <p:nvPr/>
          </p:nvSpPr>
          <p:spPr>
            <a:xfrm>
              <a:off x="313296" y="591997"/>
              <a:ext cx="4151629" cy="0"/>
            </a:xfrm>
            <a:custGeom>
              <a:avLst/>
              <a:gdLst/>
              <a:ahLst/>
              <a:cxnLst/>
              <a:rect l="l" t="t" r="r" b="b"/>
              <a:pathLst>
                <a:path w="4151629">
                  <a:moveTo>
                    <a:pt x="0" y="0"/>
                  </a:moveTo>
                  <a:lnTo>
                    <a:pt x="4151376" y="0"/>
                  </a:lnTo>
                </a:path>
              </a:pathLst>
            </a:custGeom>
            <a:ln w="14287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467" y="3321862"/>
              <a:ext cx="577596" cy="13413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0179" y="192112"/>
            <a:ext cx="4004945" cy="346953"/>
          </a:xfrm>
          <a:prstGeom prst="rect">
            <a:avLst/>
          </a:prstGeom>
        </p:spPr>
        <p:txBody>
          <a:bodyPr vert="horz" wrap="square" lIns="0" tIns="114998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0"/>
              </a:spcBef>
            </a:pPr>
            <a:r>
              <a:rPr lang="en-GB" sz="1500" dirty="0"/>
              <a:t>Continuous Improvement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39686" y="777139"/>
            <a:ext cx="4104640" cy="182037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84150" indent="-17208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184785" algn="l"/>
              </a:tabLst>
            </a:pPr>
            <a:r>
              <a:rPr lang="en-GB" sz="1200" dirty="0">
                <a:latin typeface="+mn-lt"/>
                <a:cs typeface="Arial"/>
              </a:rPr>
              <a:t>‘</a:t>
            </a:r>
            <a:r>
              <a:rPr sz="1200" dirty="0">
                <a:latin typeface="+mn-lt"/>
                <a:cs typeface="Arial"/>
              </a:rPr>
              <a:t>Continuous</a:t>
            </a:r>
            <a:r>
              <a:rPr sz="1200" spc="-100" dirty="0">
                <a:latin typeface="+mn-lt"/>
                <a:cs typeface="Arial"/>
              </a:rPr>
              <a:t> </a:t>
            </a:r>
            <a:r>
              <a:rPr sz="1200" spc="-10" dirty="0">
                <a:latin typeface="+mn-lt"/>
                <a:cs typeface="Arial"/>
              </a:rPr>
              <a:t>Improvement</a:t>
            </a:r>
            <a:r>
              <a:rPr lang="en-GB" sz="1200" spc="-10" dirty="0">
                <a:latin typeface="+mn-lt"/>
                <a:cs typeface="Arial"/>
              </a:rPr>
              <a:t>’ requires the following:</a:t>
            </a:r>
            <a:endParaRPr sz="1200" dirty="0">
              <a:latin typeface="+mn-lt"/>
              <a:cs typeface="Arial"/>
            </a:endParaRPr>
          </a:p>
          <a:p>
            <a:pPr marL="384175" marR="5080" lvl="1" indent="-143510" algn="just">
              <a:lnSpc>
                <a:spcPct val="100000"/>
              </a:lnSpc>
              <a:spcBef>
                <a:spcPts val="600"/>
              </a:spcBef>
              <a:buChar char="–"/>
              <a:tabLst>
                <a:tab pos="384810" algn="l"/>
              </a:tabLst>
            </a:pPr>
            <a:r>
              <a:rPr sz="1200" dirty="0" err="1">
                <a:latin typeface="+mn-lt"/>
                <a:cs typeface="Arial"/>
              </a:rPr>
              <a:t>Facilitat</a:t>
            </a:r>
            <a:r>
              <a:rPr lang="en-GB" sz="1200" dirty="0">
                <a:latin typeface="+mn-lt"/>
                <a:cs typeface="Arial"/>
              </a:rPr>
              <a:t>ation</a:t>
            </a:r>
            <a:r>
              <a:rPr sz="1200" spc="105" dirty="0">
                <a:latin typeface="+mn-lt"/>
                <a:cs typeface="Arial"/>
              </a:rPr>
              <a:t>  </a:t>
            </a:r>
            <a:r>
              <a:rPr sz="1200" dirty="0">
                <a:latin typeface="+mn-lt"/>
                <a:cs typeface="Arial"/>
              </a:rPr>
              <a:t>via</a:t>
            </a:r>
            <a:r>
              <a:rPr sz="1200" spc="110" dirty="0">
                <a:latin typeface="+mn-lt"/>
                <a:cs typeface="Arial"/>
              </a:rPr>
              <a:t>  </a:t>
            </a:r>
            <a:r>
              <a:rPr sz="1200" dirty="0">
                <a:latin typeface="+mn-lt"/>
                <a:cs typeface="Arial"/>
              </a:rPr>
              <a:t>measurement</a:t>
            </a:r>
            <a:r>
              <a:rPr sz="1200" spc="110" dirty="0">
                <a:latin typeface="+mn-lt"/>
                <a:cs typeface="Arial"/>
              </a:rPr>
              <a:t>  </a:t>
            </a:r>
            <a:r>
              <a:rPr sz="1200" dirty="0">
                <a:latin typeface="+mn-lt"/>
                <a:cs typeface="Arial"/>
              </a:rPr>
              <a:t>and</a:t>
            </a:r>
            <a:r>
              <a:rPr sz="1200" spc="105" dirty="0">
                <a:latin typeface="+mn-lt"/>
                <a:cs typeface="Arial"/>
              </a:rPr>
              <a:t>  </a:t>
            </a:r>
            <a:r>
              <a:rPr sz="1200" dirty="0">
                <a:latin typeface="+mn-lt"/>
                <a:cs typeface="Arial"/>
              </a:rPr>
              <a:t>metrics</a:t>
            </a:r>
            <a:endParaRPr lang="en-GB" sz="1200" spc="110" dirty="0">
              <a:latin typeface="+mn-lt"/>
              <a:cs typeface="Arial"/>
            </a:endParaRPr>
          </a:p>
          <a:p>
            <a:pPr marL="240665" marR="5080" lvl="1" algn="just">
              <a:lnSpc>
                <a:spcPct val="100000"/>
              </a:lnSpc>
              <a:spcBef>
                <a:spcPts val="600"/>
              </a:spcBef>
              <a:tabLst>
                <a:tab pos="384810" algn="l"/>
              </a:tabLst>
            </a:pPr>
            <a:r>
              <a:rPr lang="en-GB" sz="1200" spc="110" dirty="0">
                <a:latin typeface="+mn-lt"/>
                <a:cs typeface="Arial"/>
              </a:rPr>
              <a:t>(</a:t>
            </a:r>
            <a:r>
              <a:rPr lang="en-GB" sz="1200" dirty="0">
                <a:latin typeface="+mn-lt"/>
                <a:cs typeface="Arial"/>
              </a:rPr>
              <a:t>through</a:t>
            </a:r>
            <a:r>
              <a:rPr lang="en-GB" sz="1200" spc="100" dirty="0">
                <a:latin typeface="+mn-lt"/>
                <a:cs typeface="Arial"/>
              </a:rPr>
              <a:t> </a:t>
            </a:r>
            <a:r>
              <a:rPr sz="1200" spc="-25" dirty="0">
                <a:latin typeface="+mn-lt"/>
                <a:cs typeface="Arial"/>
              </a:rPr>
              <a:t>an </a:t>
            </a:r>
            <a:r>
              <a:rPr sz="1200" dirty="0">
                <a:latin typeface="+mn-lt"/>
                <a:cs typeface="Arial"/>
              </a:rPr>
              <a:t>annual</a:t>
            </a:r>
            <a:r>
              <a:rPr sz="1200" spc="-2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cycle</a:t>
            </a:r>
            <a:r>
              <a:rPr sz="1200" spc="-15" dirty="0">
                <a:latin typeface="+mn-lt"/>
                <a:cs typeface="Arial"/>
              </a:rPr>
              <a:t> </a:t>
            </a:r>
            <a:r>
              <a:rPr lang="en-GB" sz="1200" dirty="0">
                <a:latin typeface="+mn-lt"/>
                <a:cs typeface="Arial"/>
              </a:rPr>
              <a:t>using </a:t>
            </a:r>
            <a:r>
              <a:rPr sz="1200" dirty="0">
                <a:latin typeface="+mn-lt"/>
                <a:cs typeface="Arial"/>
              </a:rPr>
              <a:t>controls</a:t>
            </a:r>
            <a:r>
              <a:rPr sz="1200" spc="-2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for</a:t>
            </a:r>
            <a:r>
              <a:rPr sz="1200" spc="-1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integrity</a:t>
            </a:r>
            <a:r>
              <a:rPr sz="1200" spc="-2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of</a:t>
            </a:r>
            <a:r>
              <a:rPr sz="1200" spc="-10" dirty="0">
                <a:latin typeface="+mn-lt"/>
                <a:cs typeface="Arial"/>
              </a:rPr>
              <a:t> data)</a:t>
            </a:r>
            <a:endParaRPr sz="1200" dirty="0">
              <a:latin typeface="+mn-lt"/>
              <a:cs typeface="Arial"/>
            </a:endParaRPr>
          </a:p>
          <a:p>
            <a:pPr marL="384175" lvl="1" indent="-143510">
              <a:lnSpc>
                <a:spcPct val="100000"/>
              </a:lnSpc>
              <a:spcBef>
                <a:spcPts val="600"/>
              </a:spcBef>
              <a:buChar char="–"/>
              <a:tabLst>
                <a:tab pos="384810" algn="l"/>
              </a:tabLst>
            </a:pPr>
            <a:r>
              <a:rPr sz="1200" dirty="0">
                <a:latin typeface="+mn-lt"/>
                <a:cs typeface="Arial"/>
              </a:rPr>
              <a:t>Risk</a:t>
            </a:r>
            <a:r>
              <a:rPr sz="1200" spc="-10" dirty="0">
                <a:latin typeface="+mn-lt"/>
                <a:cs typeface="Arial"/>
              </a:rPr>
              <a:t> Assessments</a:t>
            </a:r>
            <a:endParaRPr sz="1200" dirty="0">
              <a:latin typeface="+mn-lt"/>
              <a:cs typeface="Arial"/>
            </a:endParaRPr>
          </a:p>
          <a:p>
            <a:pPr marL="384175" lvl="1" indent="-143510">
              <a:lnSpc>
                <a:spcPct val="100000"/>
              </a:lnSpc>
              <a:spcBef>
                <a:spcPts val="600"/>
              </a:spcBef>
              <a:buChar char="–"/>
              <a:tabLst>
                <a:tab pos="384810" algn="l"/>
              </a:tabLst>
            </a:pPr>
            <a:r>
              <a:rPr sz="1200" dirty="0">
                <a:latin typeface="+mn-lt"/>
                <a:cs typeface="Arial"/>
              </a:rPr>
              <a:t>Training</a:t>
            </a:r>
            <a:r>
              <a:rPr sz="1200" spc="-3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/</a:t>
            </a:r>
            <a:r>
              <a:rPr sz="1200" spc="-1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Keeping</a:t>
            </a:r>
            <a:r>
              <a:rPr sz="1200" spc="-30" dirty="0">
                <a:latin typeface="+mn-lt"/>
                <a:cs typeface="Arial"/>
              </a:rPr>
              <a:t> </a:t>
            </a:r>
            <a:r>
              <a:rPr lang="en-GB" sz="1200" spc="-30" dirty="0">
                <a:latin typeface="+mn-lt"/>
                <a:cs typeface="Arial"/>
              </a:rPr>
              <a:t>everyone </a:t>
            </a:r>
            <a:r>
              <a:rPr sz="1200" dirty="0">
                <a:latin typeface="+mn-lt"/>
                <a:cs typeface="Arial"/>
              </a:rPr>
              <a:t>up</a:t>
            </a:r>
            <a:r>
              <a:rPr lang="en-GB" sz="1200" spc="-15" dirty="0">
                <a:latin typeface="+mn-lt"/>
                <a:cs typeface="Arial"/>
              </a:rPr>
              <a:t>-</a:t>
            </a:r>
            <a:r>
              <a:rPr sz="1200" dirty="0">
                <a:latin typeface="+mn-lt"/>
                <a:cs typeface="Arial"/>
              </a:rPr>
              <a:t>to</a:t>
            </a:r>
            <a:r>
              <a:rPr lang="en-GB" sz="1200" spc="-10" dirty="0">
                <a:latin typeface="+mn-lt"/>
                <a:cs typeface="Arial"/>
              </a:rPr>
              <a:t>-</a:t>
            </a:r>
            <a:r>
              <a:rPr sz="1200" spc="-20" dirty="0">
                <a:latin typeface="+mn-lt"/>
                <a:cs typeface="Arial"/>
              </a:rPr>
              <a:t>date</a:t>
            </a:r>
            <a:endParaRPr lang="en-GB" sz="1200" dirty="0">
              <a:latin typeface="+mn-lt"/>
              <a:cs typeface="Arial"/>
            </a:endParaRPr>
          </a:p>
          <a:p>
            <a:pPr marL="384175" lvl="1" indent="-143510">
              <a:lnSpc>
                <a:spcPct val="100000"/>
              </a:lnSpc>
              <a:spcBef>
                <a:spcPts val="600"/>
              </a:spcBef>
              <a:buChar char="–"/>
              <a:tabLst>
                <a:tab pos="384810" algn="l"/>
              </a:tabLst>
            </a:pPr>
            <a:r>
              <a:rPr sz="1200" dirty="0">
                <a:latin typeface="+mn-lt"/>
                <a:cs typeface="Arial"/>
              </a:rPr>
              <a:t>Use</a:t>
            </a:r>
            <a:r>
              <a:rPr sz="1200" spc="14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of</a:t>
            </a:r>
            <a:r>
              <a:rPr sz="1200" spc="15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tools</a:t>
            </a:r>
            <a:r>
              <a:rPr sz="1200" spc="15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e</a:t>
            </a:r>
            <a:r>
              <a:rPr lang="en-GB" sz="1200" dirty="0">
                <a:latin typeface="+mn-lt"/>
                <a:cs typeface="Arial"/>
              </a:rPr>
              <a:t>.</a:t>
            </a:r>
            <a:r>
              <a:rPr sz="1200" dirty="0">
                <a:latin typeface="+mn-lt"/>
                <a:cs typeface="Arial"/>
              </a:rPr>
              <a:t>g.</a:t>
            </a:r>
            <a:r>
              <a:rPr lang="en-GB" sz="1200" dirty="0">
                <a:latin typeface="+mn-lt"/>
                <a:cs typeface="Arial"/>
              </a:rPr>
              <a:t>,</a:t>
            </a:r>
            <a:r>
              <a:rPr sz="1200" spc="150" dirty="0">
                <a:latin typeface="+mn-lt"/>
                <a:cs typeface="Arial"/>
              </a:rPr>
              <a:t> </a:t>
            </a:r>
            <a:r>
              <a:rPr sz="1200" spc="-10" dirty="0">
                <a:latin typeface="+mn-lt"/>
                <a:cs typeface="Arial"/>
              </a:rPr>
              <a:t>Plan-Do-Check-</a:t>
            </a:r>
            <a:r>
              <a:rPr sz="1200" dirty="0">
                <a:latin typeface="+mn-lt"/>
                <a:cs typeface="Arial"/>
              </a:rPr>
              <a:t>Act</a:t>
            </a:r>
            <a:r>
              <a:rPr sz="1200" spc="15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(Deming</a:t>
            </a:r>
            <a:r>
              <a:rPr sz="1200" spc="15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Cycle)</a:t>
            </a:r>
            <a:r>
              <a:rPr sz="1200" spc="160" dirty="0">
                <a:latin typeface="+mn-lt"/>
                <a:cs typeface="Arial"/>
              </a:rPr>
              <a:t> </a:t>
            </a:r>
            <a:r>
              <a:rPr sz="1200" spc="-25" dirty="0">
                <a:latin typeface="+mn-lt"/>
                <a:cs typeface="Arial"/>
              </a:rPr>
              <a:t>for</a:t>
            </a:r>
            <a:endParaRPr sz="1200" dirty="0">
              <a:latin typeface="+mn-lt"/>
              <a:cs typeface="Arial"/>
            </a:endParaRPr>
          </a:p>
          <a:p>
            <a:pPr marL="384175">
              <a:lnSpc>
                <a:spcPct val="100000"/>
              </a:lnSpc>
              <a:spcBef>
                <a:spcPts val="600"/>
              </a:spcBef>
            </a:pPr>
            <a:r>
              <a:rPr sz="1200" dirty="0">
                <a:latin typeface="+mn-lt"/>
                <a:cs typeface="Arial"/>
              </a:rPr>
              <a:t>reviewing</a:t>
            </a:r>
            <a:r>
              <a:rPr sz="1200" spc="-4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your</a:t>
            </a:r>
            <a:r>
              <a:rPr sz="1200" spc="-3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improvement</a:t>
            </a:r>
            <a:r>
              <a:rPr lang="en-GB" sz="1200" dirty="0">
                <a:latin typeface="+mn-lt"/>
                <a:cs typeface="Arial"/>
              </a:rPr>
              <a:t> (1)</a:t>
            </a:r>
            <a:endParaRPr sz="1200" dirty="0">
              <a:latin typeface="+mn-lt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26968"/>
            <a:ext cx="4608195" cy="131445"/>
            <a:chOff x="0" y="3326968"/>
            <a:chExt cx="4608195" cy="131445"/>
          </a:xfrm>
        </p:grpSpPr>
        <p:sp>
          <p:nvSpPr>
            <p:cNvPr id="8" name="object 8"/>
            <p:cNvSpPr/>
            <p:nvPr/>
          </p:nvSpPr>
          <p:spPr>
            <a:xfrm>
              <a:off x="138417" y="3329482"/>
              <a:ext cx="2291715" cy="127000"/>
            </a:xfrm>
            <a:custGeom>
              <a:avLst/>
              <a:gdLst/>
              <a:ahLst/>
              <a:cxnLst/>
              <a:rect l="l" t="t" r="r" b="b"/>
              <a:pathLst>
                <a:path w="2291715" h="127000">
                  <a:moveTo>
                    <a:pt x="2291334" y="126517"/>
                  </a:moveTo>
                  <a:lnTo>
                    <a:pt x="2291334" y="0"/>
                  </a:lnTo>
                  <a:lnTo>
                    <a:pt x="0" y="0"/>
                  </a:lnTo>
                  <a:lnTo>
                    <a:pt x="0" y="126517"/>
                  </a:lnTo>
                </a:path>
              </a:pathLst>
            </a:custGeom>
            <a:ln w="4762">
              <a:solidFill>
                <a:srgbClr val="EF85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326968"/>
              <a:ext cx="4608195" cy="129539"/>
            </a:xfrm>
            <a:custGeom>
              <a:avLst/>
              <a:gdLst/>
              <a:ahLst/>
              <a:cxnLst/>
              <a:rect l="l" t="t" r="r" b="b"/>
              <a:pathLst>
                <a:path w="4608195" h="129539">
                  <a:moveTo>
                    <a:pt x="3087344" y="0"/>
                  </a:moveTo>
                  <a:lnTo>
                    <a:pt x="1520647" y="0"/>
                  </a:lnTo>
                  <a:lnTo>
                    <a:pt x="0" y="0"/>
                  </a:lnTo>
                  <a:lnTo>
                    <a:pt x="0" y="129032"/>
                  </a:lnTo>
                  <a:lnTo>
                    <a:pt x="1520647" y="129032"/>
                  </a:lnTo>
                  <a:lnTo>
                    <a:pt x="3087344" y="129032"/>
                  </a:lnTo>
                  <a:lnTo>
                    <a:pt x="3087344" y="0"/>
                  </a:lnTo>
                  <a:close/>
                </a:path>
                <a:path w="4608195" h="129539">
                  <a:moveTo>
                    <a:pt x="4608004" y="0"/>
                  </a:moveTo>
                  <a:lnTo>
                    <a:pt x="3087357" y="0"/>
                  </a:lnTo>
                  <a:lnTo>
                    <a:pt x="3087357" y="129032"/>
                  </a:lnTo>
                  <a:lnTo>
                    <a:pt x="4608004" y="129032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387B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8417" y="145846"/>
            <a:ext cx="4469765" cy="3310254"/>
            <a:chOff x="138417" y="145846"/>
            <a:chExt cx="4469765" cy="3310254"/>
          </a:xfrm>
        </p:grpSpPr>
        <p:sp>
          <p:nvSpPr>
            <p:cNvPr id="3" name="object 3"/>
            <p:cNvSpPr/>
            <p:nvPr/>
          </p:nvSpPr>
          <p:spPr>
            <a:xfrm>
              <a:off x="313296" y="591997"/>
              <a:ext cx="4151629" cy="0"/>
            </a:xfrm>
            <a:custGeom>
              <a:avLst/>
              <a:gdLst/>
              <a:ahLst/>
              <a:cxnLst/>
              <a:rect l="l" t="t" r="r" b="b"/>
              <a:pathLst>
                <a:path w="4151629">
                  <a:moveTo>
                    <a:pt x="0" y="0"/>
                  </a:moveTo>
                  <a:lnTo>
                    <a:pt x="4151376" y="0"/>
                  </a:lnTo>
                </a:path>
              </a:pathLst>
            </a:custGeom>
            <a:ln w="14287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467" y="3321862"/>
              <a:ext cx="577596" cy="13413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0179" y="192112"/>
            <a:ext cx="4004945" cy="346953"/>
          </a:xfrm>
          <a:prstGeom prst="rect">
            <a:avLst/>
          </a:prstGeom>
        </p:spPr>
        <p:txBody>
          <a:bodyPr vert="horz" wrap="square" lIns="0" tIns="114998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0"/>
              </a:spcBef>
            </a:pPr>
            <a:r>
              <a:rPr lang="en-GB" sz="1500" dirty="0"/>
              <a:t>Wider Reading</a:t>
            </a:r>
            <a:endParaRPr sz="1500" dirty="0"/>
          </a:p>
        </p:txBody>
      </p:sp>
      <p:sp>
        <p:nvSpPr>
          <p:cNvPr id="6" name="object 6"/>
          <p:cNvSpPr txBox="1"/>
          <p:nvPr/>
        </p:nvSpPr>
        <p:spPr>
          <a:xfrm>
            <a:off x="339686" y="830376"/>
            <a:ext cx="4104004" cy="207172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17208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184785" algn="l"/>
              </a:tabLst>
            </a:pPr>
            <a:r>
              <a:rPr sz="1200" dirty="0">
                <a:latin typeface="+mn-lt"/>
                <a:cs typeface="Arial"/>
              </a:rPr>
              <a:t>ISO/IEC</a:t>
            </a:r>
            <a:r>
              <a:rPr sz="1200" spc="-55" dirty="0">
                <a:latin typeface="+mn-lt"/>
                <a:cs typeface="Arial"/>
              </a:rPr>
              <a:t> </a:t>
            </a:r>
            <a:r>
              <a:rPr sz="1200" u="sng" spc="-10" dirty="0">
                <a:latin typeface="+mn-lt"/>
                <a:cs typeface="Arial"/>
              </a:rPr>
              <a:t>27004</a:t>
            </a:r>
            <a:r>
              <a:rPr lang="en-GB" sz="1200" spc="-10" dirty="0">
                <a:latin typeface="+mn-lt"/>
                <a:cs typeface="Arial"/>
              </a:rPr>
              <a:t> (</a:t>
            </a:r>
            <a:r>
              <a:rPr sz="1200" spc="-10" dirty="0">
                <a:latin typeface="+mn-lt"/>
                <a:cs typeface="Arial"/>
              </a:rPr>
              <a:t>2016</a:t>
            </a:r>
            <a:r>
              <a:rPr lang="en-GB" sz="1200" spc="-10" dirty="0">
                <a:latin typeface="+mn-lt"/>
                <a:cs typeface="Arial"/>
              </a:rPr>
              <a:t>)</a:t>
            </a:r>
          </a:p>
          <a:p>
            <a:pPr marL="12065">
              <a:lnSpc>
                <a:spcPct val="100000"/>
              </a:lnSpc>
              <a:spcBef>
                <a:spcPts val="95"/>
              </a:spcBef>
              <a:tabLst>
                <a:tab pos="184785" algn="l"/>
              </a:tabLst>
            </a:pPr>
            <a:endParaRPr lang="en-GB" sz="1200" spc="-10" dirty="0">
              <a:latin typeface="+mn-lt"/>
              <a:cs typeface="Arial"/>
            </a:endParaRPr>
          </a:p>
          <a:p>
            <a:pPr marL="183515" indent="-1714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  <a:tabLst>
                <a:tab pos="184785" algn="l"/>
              </a:tabLst>
            </a:pPr>
            <a:r>
              <a:rPr sz="1200" dirty="0">
                <a:latin typeface="+mn-lt"/>
                <a:cs typeface="Arial"/>
              </a:rPr>
              <a:t>Guidance</a:t>
            </a:r>
            <a:r>
              <a:rPr sz="1200" spc="5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on</a:t>
            </a:r>
            <a:r>
              <a:rPr sz="1200" spc="5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development</a:t>
            </a:r>
            <a:r>
              <a:rPr sz="1200" spc="6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and</a:t>
            </a:r>
            <a:r>
              <a:rPr sz="1200" spc="6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use</a:t>
            </a:r>
            <a:r>
              <a:rPr sz="1200" spc="6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of</a:t>
            </a:r>
            <a:r>
              <a:rPr sz="1200" spc="60" dirty="0">
                <a:latin typeface="+mn-lt"/>
                <a:cs typeface="Arial"/>
              </a:rPr>
              <a:t> </a:t>
            </a:r>
            <a:r>
              <a:rPr sz="1200" spc="-10" dirty="0">
                <a:latin typeface="+mn-lt"/>
                <a:cs typeface="Arial"/>
              </a:rPr>
              <a:t>measures </a:t>
            </a:r>
            <a:r>
              <a:rPr sz="1200" dirty="0">
                <a:latin typeface="+mn-lt"/>
                <a:cs typeface="Arial"/>
              </a:rPr>
              <a:t>and</a:t>
            </a:r>
            <a:r>
              <a:rPr sz="1200" spc="34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measurements</a:t>
            </a:r>
            <a:r>
              <a:rPr sz="1200" spc="34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for</a:t>
            </a:r>
            <a:r>
              <a:rPr sz="1200" spc="33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the</a:t>
            </a:r>
            <a:r>
              <a:rPr sz="1200" spc="33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assessment</a:t>
            </a:r>
            <a:r>
              <a:rPr sz="1200" spc="34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of</a:t>
            </a:r>
            <a:r>
              <a:rPr sz="1200" spc="335" dirty="0">
                <a:latin typeface="+mn-lt"/>
                <a:cs typeface="Arial"/>
              </a:rPr>
              <a:t> </a:t>
            </a:r>
            <a:r>
              <a:rPr sz="1200" spc="-25" dirty="0">
                <a:latin typeface="+mn-lt"/>
                <a:cs typeface="Arial"/>
              </a:rPr>
              <a:t>the </a:t>
            </a:r>
            <a:r>
              <a:rPr sz="1200" dirty="0">
                <a:latin typeface="+mn-lt"/>
                <a:cs typeface="Arial"/>
              </a:rPr>
              <a:t>effectiveness</a:t>
            </a:r>
            <a:r>
              <a:rPr sz="1200" spc="-3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of</a:t>
            </a:r>
            <a:r>
              <a:rPr sz="1200" spc="-1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the</a:t>
            </a:r>
            <a:r>
              <a:rPr sz="1200" spc="-2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ISMS</a:t>
            </a:r>
            <a:r>
              <a:rPr sz="1200" spc="-10" dirty="0">
                <a:latin typeface="+mn-lt"/>
                <a:cs typeface="Arial"/>
              </a:rPr>
              <a:t> controls</a:t>
            </a:r>
            <a:endParaRPr lang="en-GB" sz="1200" spc="-10" dirty="0">
              <a:latin typeface="+mn-lt"/>
              <a:cs typeface="Arial"/>
            </a:endParaRPr>
          </a:p>
          <a:p>
            <a:pPr marL="183515" indent="-1714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  <a:tabLst>
                <a:tab pos="184785" algn="l"/>
              </a:tabLst>
            </a:pPr>
            <a:r>
              <a:rPr sz="1200" dirty="0">
                <a:latin typeface="+mn-lt"/>
                <a:cs typeface="Arial"/>
              </a:rPr>
              <a:t>Use</a:t>
            </a:r>
            <a:r>
              <a:rPr sz="1200" spc="80" dirty="0">
                <a:latin typeface="+mn-lt"/>
                <a:cs typeface="Arial"/>
              </a:rPr>
              <a:t>  </a:t>
            </a:r>
            <a:r>
              <a:rPr sz="1200" dirty="0">
                <a:latin typeface="+mn-lt"/>
                <a:cs typeface="Arial"/>
              </a:rPr>
              <a:t>of</a:t>
            </a:r>
            <a:r>
              <a:rPr sz="1200" spc="80" dirty="0">
                <a:latin typeface="+mn-lt"/>
                <a:cs typeface="Arial"/>
              </a:rPr>
              <a:t>  </a:t>
            </a:r>
            <a:r>
              <a:rPr sz="1200" dirty="0">
                <a:latin typeface="+mn-lt"/>
                <a:cs typeface="Arial"/>
              </a:rPr>
              <a:t>metrics</a:t>
            </a:r>
            <a:r>
              <a:rPr sz="1200" spc="85" dirty="0">
                <a:latin typeface="+mn-lt"/>
                <a:cs typeface="Arial"/>
              </a:rPr>
              <a:t>  </a:t>
            </a:r>
            <a:r>
              <a:rPr sz="1200" dirty="0">
                <a:latin typeface="+mn-lt"/>
                <a:cs typeface="Arial"/>
              </a:rPr>
              <a:t>to</a:t>
            </a:r>
            <a:r>
              <a:rPr sz="1200" spc="90" dirty="0">
                <a:latin typeface="+mn-lt"/>
                <a:cs typeface="Arial"/>
              </a:rPr>
              <a:t>  </a:t>
            </a:r>
            <a:r>
              <a:rPr sz="1200" dirty="0">
                <a:latin typeface="+mn-lt"/>
                <a:cs typeface="Arial"/>
              </a:rPr>
              <a:t>monitor</a:t>
            </a:r>
            <a:r>
              <a:rPr sz="1200" spc="80" dirty="0">
                <a:latin typeface="+mn-lt"/>
                <a:cs typeface="Arial"/>
              </a:rPr>
              <a:t>  </a:t>
            </a:r>
            <a:r>
              <a:rPr sz="1200" dirty="0">
                <a:latin typeface="+mn-lt"/>
                <a:cs typeface="Arial"/>
              </a:rPr>
              <a:t>effectiveness</a:t>
            </a:r>
            <a:r>
              <a:rPr sz="1200" spc="85" dirty="0">
                <a:latin typeface="+mn-lt"/>
                <a:cs typeface="Arial"/>
              </a:rPr>
              <a:t>  </a:t>
            </a:r>
            <a:r>
              <a:rPr sz="1200" spc="-25" dirty="0">
                <a:latin typeface="+mn-lt"/>
                <a:cs typeface="Arial"/>
              </a:rPr>
              <a:t>and </a:t>
            </a:r>
            <a:r>
              <a:rPr sz="1200" spc="-10" dirty="0">
                <a:latin typeface="+mn-lt"/>
                <a:cs typeface="Arial"/>
              </a:rPr>
              <a:t>performance</a:t>
            </a:r>
            <a:r>
              <a:rPr lang="en-GB" sz="1200" spc="-10" dirty="0">
                <a:latin typeface="+mn-lt"/>
                <a:cs typeface="Arial"/>
              </a:rPr>
              <a:t> of employed methods/ techniques</a:t>
            </a:r>
          </a:p>
          <a:p>
            <a:pPr marL="183515" indent="-1714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Char char="-"/>
              <a:tabLst>
                <a:tab pos="184785" algn="l"/>
              </a:tabLst>
            </a:pPr>
            <a:r>
              <a:rPr lang="en-US" sz="1200" i="1" u="sng" dirty="0">
                <a:uFill>
                  <a:solidFill>
                    <a:srgbClr val="000000"/>
                  </a:solidFill>
                </a:uFill>
                <a:latin typeface="+mn-lt"/>
                <a:cs typeface="Arial"/>
              </a:rPr>
              <a:t>Note:</a:t>
            </a:r>
            <a:r>
              <a:rPr lang="en-US" sz="1200" i="1" spc="85" dirty="0">
                <a:latin typeface="+mn-lt"/>
                <a:cs typeface="Arial"/>
              </a:rPr>
              <a:t> </a:t>
            </a:r>
            <a:r>
              <a:rPr lang="en-US" sz="1200" i="1" dirty="0">
                <a:latin typeface="+mn-lt"/>
                <a:cs typeface="Arial"/>
              </a:rPr>
              <a:t>these</a:t>
            </a:r>
            <a:r>
              <a:rPr lang="en-US" sz="1200" i="1" spc="85" dirty="0">
                <a:latin typeface="+mn-lt"/>
                <a:cs typeface="Arial"/>
              </a:rPr>
              <a:t> </a:t>
            </a:r>
            <a:r>
              <a:rPr lang="en-US" sz="1200" i="1" dirty="0">
                <a:latin typeface="+mn-lt"/>
                <a:cs typeface="Arial"/>
              </a:rPr>
              <a:t>are</a:t>
            </a:r>
            <a:r>
              <a:rPr lang="en-US" sz="1200" i="1" spc="85" dirty="0">
                <a:latin typeface="+mn-lt"/>
                <a:cs typeface="Arial"/>
              </a:rPr>
              <a:t> </a:t>
            </a:r>
            <a:r>
              <a:rPr lang="en-US" sz="1200" i="1" dirty="0">
                <a:latin typeface="+mn-lt"/>
                <a:cs typeface="Arial"/>
              </a:rPr>
              <a:t>usually</a:t>
            </a:r>
            <a:r>
              <a:rPr lang="en-US" sz="1200" i="1" spc="90" dirty="0">
                <a:latin typeface="+mn-lt"/>
                <a:cs typeface="Arial"/>
              </a:rPr>
              <a:t> </a:t>
            </a:r>
            <a:r>
              <a:rPr lang="en-US" sz="1200" i="1" spc="-10" dirty="0" err="1">
                <a:latin typeface="+mn-lt"/>
                <a:cs typeface="Arial"/>
              </a:rPr>
              <a:t>organisation</a:t>
            </a:r>
            <a:r>
              <a:rPr lang="en-US" sz="1200" i="1" spc="-10" dirty="0">
                <a:latin typeface="+mn-lt"/>
                <a:cs typeface="Arial"/>
              </a:rPr>
              <a:t>-</a:t>
            </a:r>
            <a:r>
              <a:rPr lang="en-US" sz="1200" i="1" dirty="0">
                <a:latin typeface="+mn-lt"/>
                <a:cs typeface="Arial"/>
              </a:rPr>
              <a:t>specific:</a:t>
            </a:r>
            <a:r>
              <a:rPr lang="en-US" sz="1200" i="1" spc="90" dirty="0">
                <a:latin typeface="+mn-lt"/>
                <a:cs typeface="Arial"/>
              </a:rPr>
              <a:t> </a:t>
            </a:r>
            <a:r>
              <a:rPr lang="en-US" sz="1200" i="1" dirty="0">
                <a:latin typeface="+mn-lt"/>
                <a:cs typeface="Arial"/>
              </a:rPr>
              <a:t>what</a:t>
            </a:r>
            <a:r>
              <a:rPr lang="en-US" sz="1200" i="1" spc="85" dirty="0">
                <a:latin typeface="+mn-lt"/>
                <a:cs typeface="Arial"/>
              </a:rPr>
              <a:t> </a:t>
            </a:r>
            <a:r>
              <a:rPr lang="en-US" sz="1200" i="1" spc="-10" dirty="0">
                <a:latin typeface="+mn-lt"/>
                <a:cs typeface="Arial"/>
              </a:rPr>
              <a:t>works </a:t>
            </a:r>
            <a:r>
              <a:rPr lang="en-US" sz="1200" i="1" dirty="0">
                <a:latin typeface="+mn-lt"/>
                <a:cs typeface="Arial"/>
              </a:rPr>
              <a:t>for</a:t>
            </a:r>
            <a:r>
              <a:rPr lang="en-US" sz="1200" i="1" spc="490" dirty="0">
                <a:latin typeface="+mn-lt"/>
                <a:cs typeface="Arial"/>
              </a:rPr>
              <a:t> </a:t>
            </a:r>
            <a:r>
              <a:rPr lang="en-US" sz="1200" i="1" dirty="0">
                <a:latin typeface="+mn-lt"/>
                <a:cs typeface="Arial"/>
              </a:rPr>
              <a:t>one</a:t>
            </a:r>
            <a:r>
              <a:rPr lang="en-US" sz="1200" i="1" spc="85" dirty="0">
                <a:latin typeface="+mn-lt"/>
                <a:cs typeface="Arial"/>
              </a:rPr>
              <a:t>  </a:t>
            </a:r>
            <a:r>
              <a:rPr lang="en-US" sz="1200" i="1" dirty="0">
                <a:latin typeface="+mn-lt"/>
                <a:cs typeface="Arial"/>
              </a:rPr>
              <a:t>organization</a:t>
            </a:r>
            <a:r>
              <a:rPr lang="en-US" sz="1200" i="1" spc="85" dirty="0">
                <a:latin typeface="+mn-lt"/>
                <a:cs typeface="Arial"/>
              </a:rPr>
              <a:t> does not mean </a:t>
            </a:r>
            <a:r>
              <a:rPr lang="en-US" sz="1200" i="1" dirty="0">
                <a:latin typeface="+mn-lt"/>
                <a:cs typeface="Arial"/>
              </a:rPr>
              <a:t>benefits</a:t>
            </a:r>
            <a:r>
              <a:rPr lang="en-US" sz="1200" i="1" spc="80" dirty="0">
                <a:latin typeface="+mn-lt"/>
                <a:cs typeface="Arial"/>
              </a:rPr>
              <a:t>  </a:t>
            </a:r>
            <a:r>
              <a:rPr lang="en-US" sz="1200" i="1" spc="-25" dirty="0">
                <a:latin typeface="+mn-lt"/>
                <a:cs typeface="Arial"/>
              </a:rPr>
              <a:t>for </a:t>
            </a:r>
            <a:r>
              <a:rPr lang="en-US" sz="1200" i="1" spc="-10" dirty="0">
                <a:latin typeface="+mn-lt"/>
                <a:cs typeface="Arial"/>
              </a:rPr>
              <a:t>another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0" y="3326968"/>
            <a:ext cx="4608195" cy="131445"/>
            <a:chOff x="0" y="3326968"/>
            <a:chExt cx="4608195" cy="131445"/>
          </a:xfrm>
        </p:grpSpPr>
        <p:sp>
          <p:nvSpPr>
            <p:cNvPr id="8" name="object 8"/>
            <p:cNvSpPr/>
            <p:nvPr/>
          </p:nvSpPr>
          <p:spPr>
            <a:xfrm>
              <a:off x="138417" y="3329482"/>
              <a:ext cx="2291715" cy="127000"/>
            </a:xfrm>
            <a:custGeom>
              <a:avLst/>
              <a:gdLst/>
              <a:ahLst/>
              <a:cxnLst/>
              <a:rect l="l" t="t" r="r" b="b"/>
              <a:pathLst>
                <a:path w="2291715" h="127000">
                  <a:moveTo>
                    <a:pt x="2291334" y="126517"/>
                  </a:moveTo>
                  <a:lnTo>
                    <a:pt x="2291334" y="0"/>
                  </a:lnTo>
                  <a:lnTo>
                    <a:pt x="0" y="0"/>
                  </a:lnTo>
                  <a:lnTo>
                    <a:pt x="0" y="126517"/>
                  </a:lnTo>
                </a:path>
              </a:pathLst>
            </a:custGeom>
            <a:ln w="4762">
              <a:solidFill>
                <a:srgbClr val="EF85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326968"/>
              <a:ext cx="4608195" cy="129539"/>
            </a:xfrm>
            <a:custGeom>
              <a:avLst/>
              <a:gdLst/>
              <a:ahLst/>
              <a:cxnLst/>
              <a:rect l="l" t="t" r="r" b="b"/>
              <a:pathLst>
                <a:path w="4608195" h="129539">
                  <a:moveTo>
                    <a:pt x="3087344" y="0"/>
                  </a:moveTo>
                  <a:lnTo>
                    <a:pt x="1520647" y="0"/>
                  </a:lnTo>
                  <a:lnTo>
                    <a:pt x="0" y="0"/>
                  </a:lnTo>
                  <a:lnTo>
                    <a:pt x="0" y="129032"/>
                  </a:lnTo>
                  <a:lnTo>
                    <a:pt x="1520647" y="129032"/>
                  </a:lnTo>
                  <a:lnTo>
                    <a:pt x="3087344" y="129032"/>
                  </a:lnTo>
                  <a:lnTo>
                    <a:pt x="3087344" y="0"/>
                  </a:lnTo>
                  <a:close/>
                </a:path>
                <a:path w="4608195" h="129539">
                  <a:moveTo>
                    <a:pt x="4608004" y="0"/>
                  </a:moveTo>
                  <a:lnTo>
                    <a:pt x="3087357" y="0"/>
                  </a:lnTo>
                  <a:lnTo>
                    <a:pt x="3087357" y="129032"/>
                  </a:lnTo>
                  <a:lnTo>
                    <a:pt x="4608004" y="129032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387B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050" y="892175"/>
            <a:ext cx="3886200" cy="15004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GB" sz="1700" b="1" spc="-10" dirty="0">
                <a:latin typeface="Arial"/>
                <a:cs typeface="Arial"/>
              </a:rPr>
              <a:t>First</a:t>
            </a:r>
            <a:r>
              <a:rPr sz="1700" b="1" spc="-10" dirty="0">
                <a:latin typeface="Arial"/>
                <a:cs typeface="Arial"/>
              </a:rPr>
              <a:t>:</a:t>
            </a:r>
            <a:endParaRPr lang="en-GB" sz="1700" b="1" spc="-1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endParaRPr lang="en-GB" sz="1700" b="1" spc="-1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GB" sz="1800" spc="-10" dirty="0">
                <a:solidFill>
                  <a:srgbClr val="0000FF"/>
                </a:solidFill>
                <a:latin typeface="+mn-lt"/>
                <a:cs typeface="Arial"/>
              </a:rPr>
              <a:t>‘Threat-</a:t>
            </a:r>
            <a:r>
              <a:rPr lang="en-GB" sz="1800" dirty="0">
                <a:solidFill>
                  <a:srgbClr val="0000FF"/>
                </a:solidFill>
                <a:latin typeface="+mn-lt"/>
                <a:cs typeface="Arial"/>
              </a:rPr>
              <a:t>oriented’</a:t>
            </a:r>
            <a:r>
              <a:rPr lang="en-GB" sz="1800" spc="-25" dirty="0">
                <a:solidFill>
                  <a:srgbClr val="0000FF"/>
                </a:solidFill>
                <a:latin typeface="+mn-lt"/>
                <a:cs typeface="Arial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+mn-lt"/>
                <a:cs typeface="Arial"/>
              </a:rPr>
              <a:t>Risk Assessment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5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NIST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SP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800-</a:t>
            </a:r>
            <a:r>
              <a:rPr sz="1800" dirty="0">
                <a:latin typeface="Arial"/>
                <a:cs typeface="Arial"/>
              </a:rPr>
              <a:t>30</a:t>
            </a:r>
            <a:r>
              <a:rPr lang="en-GB" sz="1800" dirty="0">
                <a:latin typeface="Arial"/>
                <a:cs typeface="Arial"/>
              </a:rPr>
              <a:t> Rev. 1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26968"/>
            <a:ext cx="4608195" cy="129539"/>
          </a:xfrm>
          <a:custGeom>
            <a:avLst/>
            <a:gdLst/>
            <a:ahLst/>
            <a:cxnLst/>
            <a:rect l="l" t="t" r="r" b="b"/>
            <a:pathLst>
              <a:path w="4608195" h="129539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129032"/>
                </a:lnTo>
                <a:lnTo>
                  <a:pt x="1520647" y="129032"/>
                </a:lnTo>
                <a:lnTo>
                  <a:pt x="3087344" y="129032"/>
                </a:lnTo>
                <a:lnTo>
                  <a:pt x="3087344" y="0"/>
                </a:lnTo>
                <a:close/>
              </a:path>
              <a:path w="4608195" h="129539">
                <a:moveTo>
                  <a:pt x="4608004" y="0"/>
                </a:moveTo>
                <a:lnTo>
                  <a:pt x="3087357" y="0"/>
                </a:lnTo>
                <a:lnTo>
                  <a:pt x="3087357" y="129032"/>
                </a:lnTo>
                <a:lnTo>
                  <a:pt x="4608004" y="129032"/>
                </a:lnTo>
                <a:lnTo>
                  <a:pt x="4608004" y="0"/>
                </a:lnTo>
                <a:close/>
              </a:path>
            </a:pathLst>
          </a:custGeom>
          <a:solidFill>
            <a:srgbClr val="387BB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511D776F-4555-B096-9D97-9CE3F42B7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640" y="609693"/>
            <a:ext cx="2668698" cy="233347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0179" y="192112"/>
            <a:ext cx="4004945" cy="346953"/>
          </a:xfrm>
          <a:prstGeom prst="rect">
            <a:avLst/>
          </a:prstGeom>
        </p:spPr>
        <p:txBody>
          <a:bodyPr vert="horz" wrap="square" lIns="0" tIns="114998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0"/>
              </a:spcBef>
            </a:pPr>
            <a:r>
              <a:rPr sz="1500" dirty="0"/>
              <a:t>NIST</a:t>
            </a:r>
            <a:r>
              <a:rPr sz="1500" spc="10" dirty="0"/>
              <a:t> </a:t>
            </a:r>
            <a:r>
              <a:rPr sz="1500" dirty="0"/>
              <a:t>SP</a:t>
            </a:r>
            <a:r>
              <a:rPr sz="1500" spc="10" dirty="0"/>
              <a:t> </a:t>
            </a:r>
            <a:r>
              <a:rPr sz="1500" spc="-10" dirty="0"/>
              <a:t>800-</a:t>
            </a:r>
            <a:r>
              <a:rPr sz="1500" dirty="0"/>
              <a:t>30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799A1E7-E664-725F-2EDA-87BDEA17035C}"/>
              </a:ext>
            </a:extLst>
          </p:cNvPr>
          <p:cNvGrpSpPr/>
          <p:nvPr/>
        </p:nvGrpSpPr>
        <p:grpSpPr>
          <a:xfrm>
            <a:off x="853762" y="1147769"/>
            <a:ext cx="2690982" cy="1966599"/>
            <a:chOff x="1712385" y="1176902"/>
            <a:chExt cx="2840679" cy="207599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09004" y="2897333"/>
              <a:ext cx="93154" cy="164782"/>
            </a:xfrm>
            <a:prstGeom prst="rect">
              <a:avLst/>
            </a:prstGeom>
          </p:spPr>
        </p:pic>
        <p:sp>
          <p:nvSpPr>
            <p:cNvPr id="6" name="object 6"/>
            <p:cNvSpPr txBox="1"/>
            <p:nvPr/>
          </p:nvSpPr>
          <p:spPr>
            <a:xfrm>
              <a:off x="2578341" y="3087166"/>
              <a:ext cx="1592580" cy="165735"/>
            </a:xfrm>
            <a:prstGeom prst="rect">
              <a:avLst/>
            </a:prstGeom>
            <a:solidFill>
              <a:srgbClr val="00CC99"/>
            </a:solidFill>
            <a:ln w="4762">
              <a:solidFill>
                <a:srgbClr val="000000"/>
              </a:solidFill>
            </a:ln>
          </p:spPr>
          <p:txBody>
            <a:bodyPr vert="horz" wrap="square" lIns="0" tIns="22225" rIns="0" bIns="0" rtlCol="0">
              <a:spAutoFit/>
            </a:bodyPr>
            <a:lstStyle/>
            <a:p>
              <a:pPr marL="459105">
                <a:lnSpc>
                  <a:spcPct val="100000"/>
                </a:lnSpc>
                <a:spcBef>
                  <a:spcPts val="175"/>
                </a:spcBef>
              </a:pPr>
              <a:r>
                <a:rPr sz="750" b="1" dirty="0">
                  <a:latin typeface="Lucida Sans"/>
                  <a:cs typeface="Lucida Sans"/>
                </a:rPr>
                <a:t>Risk</a:t>
              </a:r>
              <a:r>
                <a:rPr sz="750" b="1" spc="-20" dirty="0">
                  <a:latin typeface="Lucida Sans"/>
                  <a:cs typeface="Lucida Sans"/>
                </a:rPr>
                <a:t> </a:t>
              </a:r>
              <a:r>
                <a:rPr sz="750" b="1" spc="-10" dirty="0">
                  <a:latin typeface="Lucida Sans"/>
                  <a:cs typeface="Lucida Sans"/>
                </a:rPr>
                <a:t>Mitigation</a:t>
              </a:r>
              <a:endParaRPr sz="750">
                <a:latin typeface="Lucida Sans"/>
                <a:cs typeface="Lucida Sans"/>
              </a:endParaRPr>
            </a:p>
          </p:txBody>
        </p:sp>
        <p:grpSp>
          <p:nvGrpSpPr>
            <p:cNvPr id="7" name="object 7"/>
            <p:cNvGrpSpPr/>
            <p:nvPr/>
          </p:nvGrpSpPr>
          <p:grpSpPr>
            <a:xfrm>
              <a:off x="2133079" y="2927654"/>
              <a:ext cx="2419985" cy="273050"/>
              <a:chOff x="2133079" y="2927654"/>
              <a:chExt cx="2419985" cy="273050"/>
            </a:xfrm>
          </p:grpSpPr>
          <p:sp>
            <p:nvSpPr>
              <p:cNvPr id="8" name="object 8"/>
              <p:cNvSpPr/>
              <p:nvPr/>
            </p:nvSpPr>
            <p:spPr>
              <a:xfrm>
                <a:off x="2135619" y="2930194"/>
                <a:ext cx="29972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299719" h="267969">
                    <a:moveTo>
                      <a:pt x="66865" y="0"/>
                    </a:moveTo>
                    <a:lnTo>
                      <a:pt x="0" y="66865"/>
                    </a:lnTo>
                    <a:lnTo>
                      <a:pt x="33464" y="66865"/>
                    </a:lnTo>
                    <a:lnTo>
                      <a:pt x="33464" y="150444"/>
                    </a:lnTo>
                    <a:lnTo>
                      <a:pt x="42659" y="195994"/>
                    </a:lnTo>
                    <a:lnTo>
                      <a:pt x="67730" y="233189"/>
                    </a:lnTo>
                    <a:lnTo>
                      <a:pt x="104910" y="258266"/>
                    </a:lnTo>
                    <a:lnTo>
                      <a:pt x="150431" y="267461"/>
                    </a:lnTo>
                    <a:lnTo>
                      <a:pt x="299466" y="267461"/>
                    </a:lnTo>
                    <a:lnTo>
                      <a:pt x="299466" y="200596"/>
                    </a:lnTo>
                    <a:lnTo>
                      <a:pt x="150431" y="200596"/>
                    </a:lnTo>
                    <a:lnTo>
                      <a:pt x="130913" y="196655"/>
                    </a:lnTo>
                    <a:lnTo>
                      <a:pt x="114966" y="185907"/>
                    </a:lnTo>
                    <a:lnTo>
                      <a:pt x="104211" y="169965"/>
                    </a:lnTo>
                    <a:lnTo>
                      <a:pt x="100266" y="150444"/>
                    </a:lnTo>
                    <a:lnTo>
                      <a:pt x="100266" y="66865"/>
                    </a:lnTo>
                    <a:lnTo>
                      <a:pt x="133731" y="66865"/>
                    </a:lnTo>
                    <a:lnTo>
                      <a:pt x="66865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" name="object 9"/>
              <p:cNvSpPr/>
              <p:nvPr/>
            </p:nvSpPr>
            <p:spPr>
              <a:xfrm>
                <a:off x="2135619" y="2930194"/>
                <a:ext cx="299720" cy="267970"/>
              </a:xfrm>
              <a:custGeom>
                <a:avLst/>
                <a:gdLst/>
                <a:ahLst/>
                <a:cxnLst/>
                <a:rect l="l" t="t" r="r" b="b"/>
                <a:pathLst>
                  <a:path w="299719" h="267969">
                    <a:moveTo>
                      <a:pt x="299466" y="267461"/>
                    </a:moveTo>
                    <a:lnTo>
                      <a:pt x="150431" y="267461"/>
                    </a:lnTo>
                    <a:lnTo>
                      <a:pt x="104910" y="258266"/>
                    </a:lnTo>
                    <a:lnTo>
                      <a:pt x="67730" y="233189"/>
                    </a:lnTo>
                    <a:lnTo>
                      <a:pt x="42659" y="195994"/>
                    </a:lnTo>
                    <a:lnTo>
                      <a:pt x="33464" y="150444"/>
                    </a:lnTo>
                    <a:lnTo>
                      <a:pt x="33464" y="66865"/>
                    </a:lnTo>
                    <a:lnTo>
                      <a:pt x="0" y="66865"/>
                    </a:lnTo>
                    <a:lnTo>
                      <a:pt x="66865" y="0"/>
                    </a:lnTo>
                    <a:lnTo>
                      <a:pt x="133731" y="66865"/>
                    </a:lnTo>
                    <a:lnTo>
                      <a:pt x="100266" y="66865"/>
                    </a:lnTo>
                    <a:lnTo>
                      <a:pt x="100266" y="150444"/>
                    </a:lnTo>
                    <a:lnTo>
                      <a:pt x="104211" y="169965"/>
                    </a:lnTo>
                    <a:lnTo>
                      <a:pt x="114966" y="185907"/>
                    </a:lnTo>
                    <a:lnTo>
                      <a:pt x="130913" y="196655"/>
                    </a:lnTo>
                    <a:lnTo>
                      <a:pt x="150431" y="200596"/>
                    </a:lnTo>
                    <a:lnTo>
                      <a:pt x="299466" y="200596"/>
                    </a:lnTo>
                    <a:lnTo>
                      <a:pt x="299466" y="267461"/>
                    </a:lnTo>
                    <a:close/>
                  </a:path>
                </a:pathLst>
              </a:custGeom>
              <a:ln w="476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" name="object 10"/>
              <p:cNvSpPr/>
              <p:nvPr/>
            </p:nvSpPr>
            <p:spPr>
              <a:xfrm>
                <a:off x="4275315" y="2951530"/>
                <a:ext cx="275590" cy="241300"/>
              </a:xfrm>
              <a:custGeom>
                <a:avLst/>
                <a:gdLst/>
                <a:ahLst/>
                <a:cxnLst/>
                <a:rect l="l" t="t" r="r" b="b"/>
                <a:pathLst>
                  <a:path w="275589" h="241300">
                    <a:moveTo>
                      <a:pt x="214884" y="0"/>
                    </a:moveTo>
                    <a:lnTo>
                      <a:pt x="154686" y="60197"/>
                    </a:lnTo>
                    <a:lnTo>
                      <a:pt x="184785" y="60197"/>
                    </a:lnTo>
                    <a:lnTo>
                      <a:pt x="184785" y="135445"/>
                    </a:lnTo>
                    <a:lnTo>
                      <a:pt x="181239" y="153020"/>
                    </a:lnTo>
                    <a:lnTo>
                      <a:pt x="171569" y="167370"/>
                    </a:lnTo>
                    <a:lnTo>
                      <a:pt x="157219" y="177046"/>
                    </a:lnTo>
                    <a:lnTo>
                      <a:pt x="139636" y="180593"/>
                    </a:lnTo>
                    <a:lnTo>
                      <a:pt x="0" y="180593"/>
                    </a:lnTo>
                    <a:lnTo>
                      <a:pt x="0" y="240791"/>
                    </a:lnTo>
                    <a:lnTo>
                      <a:pt x="139636" y="240791"/>
                    </a:lnTo>
                    <a:lnTo>
                      <a:pt x="180635" y="232512"/>
                    </a:lnTo>
                    <a:lnTo>
                      <a:pt x="214122" y="209935"/>
                    </a:lnTo>
                    <a:lnTo>
                      <a:pt x="236702" y="176450"/>
                    </a:lnTo>
                    <a:lnTo>
                      <a:pt x="244982" y="135445"/>
                    </a:lnTo>
                    <a:lnTo>
                      <a:pt x="244982" y="60197"/>
                    </a:lnTo>
                    <a:lnTo>
                      <a:pt x="275081" y="60197"/>
                    </a:lnTo>
                    <a:lnTo>
                      <a:pt x="214884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" name="object 11"/>
              <p:cNvSpPr/>
              <p:nvPr/>
            </p:nvSpPr>
            <p:spPr>
              <a:xfrm>
                <a:off x="4275315" y="2951530"/>
                <a:ext cx="275590" cy="241300"/>
              </a:xfrm>
              <a:custGeom>
                <a:avLst/>
                <a:gdLst/>
                <a:ahLst/>
                <a:cxnLst/>
                <a:rect l="l" t="t" r="r" b="b"/>
                <a:pathLst>
                  <a:path w="275589" h="241300">
                    <a:moveTo>
                      <a:pt x="0" y="240791"/>
                    </a:moveTo>
                    <a:lnTo>
                      <a:pt x="139636" y="240791"/>
                    </a:lnTo>
                    <a:lnTo>
                      <a:pt x="180635" y="232512"/>
                    </a:lnTo>
                    <a:lnTo>
                      <a:pt x="214122" y="209935"/>
                    </a:lnTo>
                    <a:lnTo>
                      <a:pt x="236702" y="176450"/>
                    </a:lnTo>
                    <a:lnTo>
                      <a:pt x="244982" y="135445"/>
                    </a:lnTo>
                    <a:lnTo>
                      <a:pt x="244982" y="60197"/>
                    </a:lnTo>
                    <a:lnTo>
                      <a:pt x="275081" y="60197"/>
                    </a:lnTo>
                    <a:lnTo>
                      <a:pt x="214884" y="0"/>
                    </a:lnTo>
                    <a:lnTo>
                      <a:pt x="154686" y="60197"/>
                    </a:lnTo>
                    <a:lnTo>
                      <a:pt x="184785" y="60197"/>
                    </a:lnTo>
                    <a:lnTo>
                      <a:pt x="184785" y="135445"/>
                    </a:lnTo>
                    <a:lnTo>
                      <a:pt x="181239" y="153020"/>
                    </a:lnTo>
                    <a:lnTo>
                      <a:pt x="171569" y="167370"/>
                    </a:lnTo>
                    <a:lnTo>
                      <a:pt x="157219" y="177046"/>
                    </a:lnTo>
                    <a:lnTo>
                      <a:pt x="139636" y="180593"/>
                    </a:lnTo>
                    <a:lnTo>
                      <a:pt x="0" y="180593"/>
                    </a:lnTo>
                    <a:lnTo>
                      <a:pt x="0" y="240791"/>
                    </a:lnTo>
                    <a:close/>
                  </a:path>
                </a:pathLst>
              </a:custGeom>
              <a:ln w="476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2" name="object 12"/>
            <p:cNvSpPr txBox="1"/>
            <p:nvPr/>
          </p:nvSpPr>
          <p:spPr>
            <a:xfrm>
              <a:off x="1712385" y="1176902"/>
              <a:ext cx="129960" cy="1317053"/>
            </a:xfrm>
            <a:prstGeom prst="rect">
              <a:avLst/>
            </a:prstGeom>
          </p:spPr>
          <p:txBody>
            <a:bodyPr vert="vert270" wrap="square" lIns="0" tIns="889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70"/>
                </a:spcBef>
              </a:pPr>
              <a:r>
                <a:rPr sz="800" b="1" dirty="0">
                  <a:latin typeface="Lucida Sans"/>
                  <a:cs typeface="Lucida Sans"/>
                </a:rPr>
                <a:t>Risk</a:t>
              </a:r>
              <a:r>
                <a:rPr sz="800" b="1" spc="-5" dirty="0">
                  <a:latin typeface="Lucida Sans"/>
                  <a:cs typeface="Lucida Sans"/>
                </a:rPr>
                <a:t> </a:t>
              </a:r>
              <a:r>
                <a:rPr sz="800" b="1" spc="-10" dirty="0">
                  <a:latin typeface="Lucida Sans"/>
                  <a:cs typeface="Lucida Sans"/>
                </a:rPr>
                <a:t>Assessment</a:t>
              </a:r>
              <a:r>
                <a:rPr sz="800" b="1" spc="5" dirty="0">
                  <a:latin typeface="Lucida Sans"/>
                  <a:cs typeface="Lucida Sans"/>
                </a:rPr>
                <a:t> </a:t>
              </a:r>
              <a:r>
                <a:rPr sz="800" b="1" spc="-20" dirty="0">
                  <a:latin typeface="Lucida Sans"/>
                  <a:cs typeface="Lucida Sans"/>
                </a:rPr>
                <a:t>Phase</a:t>
              </a:r>
              <a:endParaRPr sz="800" dirty="0">
                <a:latin typeface="Lucida Sans"/>
                <a:cs typeface="Lucida Sans"/>
              </a:endParaRPr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0" y="587375"/>
            <a:ext cx="4608195" cy="2869132"/>
            <a:chOff x="0" y="587375"/>
            <a:chExt cx="4608195" cy="2869132"/>
          </a:xfrm>
        </p:grpSpPr>
        <p:sp>
          <p:nvSpPr>
            <p:cNvPr id="14" name="object 14"/>
            <p:cNvSpPr/>
            <p:nvPr/>
          </p:nvSpPr>
          <p:spPr>
            <a:xfrm>
              <a:off x="968820" y="587375"/>
              <a:ext cx="170815" cy="2407285"/>
            </a:xfrm>
            <a:custGeom>
              <a:avLst/>
              <a:gdLst/>
              <a:ahLst/>
              <a:cxnLst/>
              <a:rect l="l" t="t" r="r" b="b"/>
              <a:pathLst>
                <a:path w="170814" h="2407285">
                  <a:moveTo>
                    <a:pt x="170687" y="2407158"/>
                  </a:moveTo>
                  <a:lnTo>
                    <a:pt x="137475" y="2406040"/>
                  </a:lnTo>
                  <a:lnTo>
                    <a:pt x="110347" y="2402991"/>
                  </a:lnTo>
                  <a:lnTo>
                    <a:pt x="92053" y="2398470"/>
                  </a:lnTo>
                  <a:lnTo>
                    <a:pt x="85343" y="2392934"/>
                  </a:lnTo>
                  <a:lnTo>
                    <a:pt x="85343" y="1217802"/>
                  </a:lnTo>
                  <a:lnTo>
                    <a:pt x="78634" y="1212258"/>
                  </a:lnTo>
                  <a:lnTo>
                    <a:pt x="60340" y="1207738"/>
                  </a:lnTo>
                  <a:lnTo>
                    <a:pt x="33212" y="1204694"/>
                  </a:lnTo>
                  <a:lnTo>
                    <a:pt x="0" y="1203579"/>
                  </a:lnTo>
                  <a:lnTo>
                    <a:pt x="33212" y="1202463"/>
                  </a:lnTo>
                  <a:lnTo>
                    <a:pt x="60340" y="1199419"/>
                  </a:lnTo>
                  <a:lnTo>
                    <a:pt x="78634" y="1194899"/>
                  </a:lnTo>
                  <a:lnTo>
                    <a:pt x="85343" y="1189355"/>
                  </a:lnTo>
                  <a:lnTo>
                    <a:pt x="85343" y="14224"/>
                  </a:lnTo>
                  <a:lnTo>
                    <a:pt x="92053" y="8679"/>
                  </a:lnTo>
                  <a:lnTo>
                    <a:pt x="110347" y="4159"/>
                  </a:lnTo>
                  <a:lnTo>
                    <a:pt x="137475" y="1115"/>
                  </a:lnTo>
                  <a:lnTo>
                    <a:pt x="170687" y="0"/>
                  </a:lnTo>
                </a:path>
              </a:pathLst>
            </a:custGeom>
            <a:ln w="79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3326968"/>
              <a:ext cx="4608195" cy="129539"/>
            </a:xfrm>
            <a:custGeom>
              <a:avLst/>
              <a:gdLst/>
              <a:ahLst/>
              <a:cxnLst/>
              <a:rect l="l" t="t" r="r" b="b"/>
              <a:pathLst>
                <a:path w="4608195" h="129539">
                  <a:moveTo>
                    <a:pt x="3087344" y="0"/>
                  </a:moveTo>
                  <a:lnTo>
                    <a:pt x="1520647" y="0"/>
                  </a:lnTo>
                  <a:lnTo>
                    <a:pt x="0" y="0"/>
                  </a:lnTo>
                  <a:lnTo>
                    <a:pt x="0" y="129032"/>
                  </a:lnTo>
                  <a:lnTo>
                    <a:pt x="1520647" y="129032"/>
                  </a:lnTo>
                  <a:lnTo>
                    <a:pt x="3087344" y="129032"/>
                  </a:lnTo>
                  <a:lnTo>
                    <a:pt x="3087344" y="0"/>
                  </a:lnTo>
                  <a:close/>
                </a:path>
                <a:path w="4608195" h="129539">
                  <a:moveTo>
                    <a:pt x="4608004" y="0"/>
                  </a:moveTo>
                  <a:lnTo>
                    <a:pt x="3087357" y="0"/>
                  </a:lnTo>
                  <a:lnTo>
                    <a:pt x="3087357" y="129032"/>
                  </a:lnTo>
                  <a:lnTo>
                    <a:pt x="4608004" y="129032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387B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5">
            <a:extLst>
              <a:ext uri="{FF2B5EF4-FFF2-40B4-BE49-F238E27FC236}">
                <a16:creationId xmlns:a16="http://schemas.microsoft.com/office/drawing/2014/main" id="{AC8666BE-6D20-E31D-A1DB-66CD975BF4FF}"/>
              </a:ext>
            </a:extLst>
          </p:cNvPr>
          <p:cNvSpPr txBox="1"/>
          <p:nvPr/>
        </p:nvSpPr>
        <p:spPr>
          <a:xfrm>
            <a:off x="1009650" y="3323066"/>
            <a:ext cx="3510953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r">
              <a:spcBef>
                <a:spcPts val="95"/>
              </a:spcBef>
            </a:pPr>
            <a:r>
              <a:rPr lang="en-GB" sz="800" i="1" spc="-10" dirty="0">
                <a:solidFill>
                  <a:schemeClr val="bg1"/>
                </a:solidFill>
                <a:latin typeface="+mn-lt"/>
                <a:cs typeface="Lucida Sans"/>
              </a:rPr>
              <a:t>Source: </a:t>
            </a:r>
            <a:r>
              <a:rPr lang="en-GB" sz="800" i="1" spc="-10" dirty="0">
                <a:solidFill>
                  <a:schemeClr val="bg1"/>
                </a:solidFill>
                <a:latin typeface="+mn-lt"/>
                <a:cs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https://nvlpubs.nist.gov/nistpubs/</a:t>
            </a:r>
            <a:endParaRPr lang="en-GB" sz="800" i="1" spc="-10" dirty="0">
              <a:solidFill>
                <a:schemeClr val="bg1"/>
              </a:solidFill>
              <a:latin typeface="+mn-lt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179" y="192112"/>
            <a:ext cx="4004945" cy="346953"/>
          </a:xfrm>
          <a:prstGeom prst="rect">
            <a:avLst/>
          </a:prstGeom>
        </p:spPr>
        <p:txBody>
          <a:bodyPr vert="horz" wrap="square" lIns="0" tIns="114998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0"/>
              </a:spcBef>
            </a:pPr>
            <a:r>
              <a:rPr sz="1500" dirty="0"/>
              <a:t>NIST</a:t>
            </a:r>
            <a:r>
              <a:rPr sz="1500" spc="10" dirty="0"/>
              <a:t> </a:t>
            </a:r>
            <a:r>
              <a:rPr sz="1500" dirty="0"/>
              <a:t>SP</a:t>
            </a:r>
            <a:r>
              <a:rPr sz="1500" spc="10" dirty="0"/>
              <a:t> </a:t>
            </a:r>
            <a:r>
              <a:rPr sz="1500" spc="-10" dirty="0"/>
              <a:t>800-</a:t>
            </a:r>
            <a:r>
              <a:rPr sz="1500" dirty="0"/>
              <a:t>30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5340" y="653866"/>
            <a:ext cx="3483709" cy="25513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latin typeface="+mn-lt"/>
                <a:cs typeface="Lucida Sans"/>
              </a:rPr>
              <a:t>Risk</a:t>
            </a:r>
            <a:r>
              <a:rPr sz="1200" b="1" spc="-30" dirty="0">
                <a:latin typeface="+mn-lt"/>
                <a:cs typeface="Lucida Sans"/>
              </a:rPr>
              <a:t> </a:t>
            </a:r>
            <a:r>
              <a:rPr sz="1200" b="1" dirty="0">
                <a:latin typeface="+mn-lt"/>
                <a:cs typeface="Lucida Sans"/>
              </a:rPr>
              <a:t>Assessment</a:t>
            </a:r>
            <a:r>
              <a:rPr sz="1200" b="1" spc="-25" dirty="0">
                <a:latin typeface="+mn-lt"/>
                <a:cs typeface="Lucida Sans"/>
              </a:rPr>
              <a:t> </a:t>
            </a:r>
            <a:r>
              <a:rPr sz="1200" b="1" dirty="0">
                <a:latin typeface="+mn-lt"/>
                <a:cs typeface="Lucida Sans"/>
              </a:rPr>
              <a:t>is</a:t>
            </a:r>
            <a:r>
              <a:rPr sz="1200" b="1" spc="-40" dirty="0">
                <a:latin typeface="+mn-lt"/>
                <a:cs typeface="Lucida Sans"/>
              </a:rPr>
              <a:t> </a:t>
            </a:r>
            <a:r>
              <a:rPr sz="1200" b="1" dirty="0">
                <a:latin typeface="+mn-lt"/>
                <a:cs typeface="Lucida Sans"/>
              </a:rPr>
              <a:t>comprised</a:t>
            </a:r>
            <a:r>
              <a:rPr sz="1200" b="1" spc="-20" dirty="0">
                <a:latin typeface="+mn-lt"/>
                <a:cs typeface="Lucida Sans"/>
              </a:rPr>
              <a:t> </a:t>
            </a:r>
            <a:r>
              <a:rPr sz="1200" b="1" dirty="0">
                <a:latin typeface="+mn-lt"/>
                <a:cs typeface="Lucida Sans"/>
              </a:rPr>
              <a:t>of</a:t>
            </a:r>
            <a:r>
              <a:rPr sz="1200" b="1" spc="-50" dirty="0">
                <a:latin typeface="+mn-lt"/>
                <a:cs typeface="Lucida Sans"/>
              </a:rPr>
              <a:t> </a:t>
            </a:r>
            <a:r>
              <a:rPr lang="en-GB" sz="1200" b="1" spc="-50" dirty="0">
                <a:latin typeface="+mn-lt"/>
                <a:cs typeface="Lucida Sans"/>
              </a:rPr>
              <a:t>nine</a:t>
            </a:r>
            <a:r>
              <a:rPr sz="1200" b="1" spc="-50" dirty="0">
                <a:latin typeface="+mn-lt"/>
                <a:cs typeface="Lucida Sans"/>
              </a:rPr>
              <a:t> </a:t>
            </a:r>
            <a:r>
              <a:rPr sz="1200" b="1" spc="-20" dirty="0">
                <a:latin typeface="+mn-lt"/>
                <a:cs typeface="Lucida Sans"/>
              </a:rPr>
              <a:t>steps</a:t>
            </a:r>
            <a:r>
              <a:rPr lang="en-GB" sz="1200" b="1" spc="-20" dirty="0">
                <a:latin typeface="+mn-lt"/>
                <a:cs typeface="Lucida Sans"/>
              </a:rPr>
              <a:t>:</a:t>
            </a:r>
            <a:endParaRPr sz="1200" dirty="0">
              <a:latin typeface="+mn-lt"/>
              <a:cs typeface="Lucida Sans"/>
            </a:endParaRPr>
          </a:p>
          <a:p>
            <a:pPr marL="335915" indent="-13970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36550" algn="l"/>
              </a:tabLst>
            </a:pPr>
            <a:r>
              <a:rPr sz="1200" b="1" dirty="0">
                <a:latin typeface="+mn-lt"/>
                <a:cs typeface="Lucida Sans"/>
              </a:rPr>
              <a:t>Step</a:t>
            </a:r>
            <a:r>
              <a:rPr sz="1200" b="1" spc="-20" dirty="0">
                <a:latin typeface="+mn-lt"/>
                <a:cs typeface="Lucida Sans"/>
              </a:rPr>
              <a:t> </a:t>
            </a:r>
            <a:r>
              <a:rPr sz="1200" b="1" dirty="0">
                <a:latin typeface="+mn-lt"/>
                <a:cs typeface="Lucida Sans"/>
              </a:rPr>
              <a:t>1:</a:t>
            </a:r>
            <a:r>
              <a:rPr sz="1200" b="1" spc="5" dirty="0">
                <a:latin typeface="+mn-lt"/>
                <a:cs typeface="Lucida Sans"/>
              </a:rPr>
              <a:t> </a:t>
            </a:r>
            <a:r>
              <a:rPr sz="1200" dirty="0">
                <a:latin typeface="+mn-lt"/>
                <a:cs typeface="Lucida Sans"/>
              </a:rPr>
              <a:t>System</a:t>
            </a:r>
            <a:r>
              <a:rPr sz="1200" spc="-5" dirty="0">
                <a:latin typeface="+mn-lt"/>
                <a:cs typeface="Lucida Sans"/>
              </a:rPr>
              <a:t> </a:t>
            </a:r>
            <a:r>
              <a:rPr sz="1200" spc="-10" dirty="0" err="1">
                <a:latin typeface="+mn-lt"/>
                <a:cs typeface="Lucida Sans"/>
              </a:rPr>
              <a:t>Characteri</a:t>
            </a:r>
            <a:r>
              <a:rPr lang="en-GB" sz="1200" spc="-10" dirty="0">
                <a:cs typeface="Lucida Sans"/>
              </a:rPr>
              <a:t>z</a:t>
            </a:r>
            <a:r>
              <a:rPr sz="1200" spc="-10" dirty="0" err="1">
                <a:latin typeface="+mn-lt"/>
                <a:cs typeface="Lucida Sans"/>
              </a:rPr>
              <a:t>ation</a:t>
            </a:r>
            <a:endParaRPr sz="1200" dirty="0">
              <a:latin typeface="+mn-lt"/>
              <a:cs typeface="Lucida Sans"/>
            </a:endParaRPr>
          </a:p>
          <a:p>
            <a:pPr marL="335915" indent="-13970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36550" algn="l"/>
              </a:tabLst>
            </a:pPr>
            <a:r>
              <a:rPr sz="1200" b="1" dirty="0">
                <a:latin typeface="+mn-lt"/>
                <a:cs typeface="Lucida Sans"/>
              </a:rPr>
              <a:t>Step</a:t>
            </a:r>
            <a:r>
              <a:rPr sz="1200" b="1" spc="-45" dirty="0">
                <a:latin typeface="+mn-lt"/>
                <a:cs typeface="Lucida Sans"/>
              </a:rPr>
              <a:t> </a:t>
            </a:r>
            <a:r>
              <a:rPr sz="1200" b="1" dirty="0">
                <a:latin typeface="+mn-lt"/>
                <a:cs typeface="Lucida Sans"/>
              </a:rPr>
              <a:t>2:</a:t>
            </a:r>
            <a:r>
              <a:rPr sz="1200" b="1" spc="-25" dirty="0">
                <a:latin typeface="+mn-lt"/>
                <a:cs typeface="Lucida Sans"/>
              </a:rPr>
              <a:t> </a:t>
            </a:r>
            <a:r>
              <a:rPr sz="1200" dirty="0">
                <a:latin typeface="+mn-lt"/>
                <a:cs typeface="Lucida Sans"/>
              </a:rPr>
              <a:t>Threat</a:t>
            </a:r>
            <a:r>
              <a:rPr sz="1200" spc="-20" dirty="0">
                <a:latin typeface="+mn-lt"/>
                <a:cs typeface="Lucida Sans"/>
              </a:rPr>
              <a:t> </a:t>
            </a:r>
            <a:r>
              <a:rPr sz="1200" spc="-10" dirty="0">
                <a:latin typeface="+mn-lt"/>
                <a:cs typeface="Lucida Sans"/>
              </a:rPr>
              <a:t>Identification</a:t>
            </a:r>
            <a:endParaRPr sz="1200" dirty="0">
              <a:latin typeface="+mn-lt"/>
              <a:cs typeface="Lucida Sans"/>
            </a:endParaRPr>
          </a:p>
          <a:p>
            <a:pPr marL="335915" indent="-13970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36550" algn="l"/>
              </a:tabLst>
            </a:pPr>
            <a:r>
              <a:rPr sz="1200" b="1" dirty="0">
                <a:latin typeface="+mn-lt"/>
                <a:cs typeface="Lucida Sans"/>
              </a:rPr>
              <a:t>Step</a:t>
            </a:r>
            <a:r>
              <a:rPr sz="1200" b="1" spc="-15" dirty="0">
                <a:latin typeface="+mn-lt"/>
                <a:cs typeface="Lucida Sans"/>
              </a:rPr>
              <a:t> </a:t>
            </a:r>
            <a:r>
              <a:rPr sz="1200" b="1" dirty="0">
                <a:latin typeface="+mn-lt"/>
                <a:cs typeface="Lucida Sans"/>
              </a:rPr>
              <a:t>3:</a:t>
            </a:r>
            <a:r>
              <a:rPr sz="1200" b="1" spc="5" dirty="0">
                <a:latin typeface="+mn-lt"/>
                <a:cs typeface="Lucida Sans"/>
              </a:rPr>
              <a:t> </a:t>
            </a:r>
            <a:r>
              <a:rPr sz="1200" spc="-10" dirty="0">
                <a:latin typeface="+mn-lt"/>
                <a:cs typeface="Lucida Sans"/>
              </a:rPr>
              <a:t>Vulnerability</a:t>
            </a:r>
            <a:r>
              <a:rPr sz="1200" dirty="0">
                <a:latin typeface="+mn-lt"/>
                <a:cs typeface="Lucida Sans"/>
              </a:rPr>
              <a:t> </a:t>
            </a:r>
            <a:r>
              <a:rPr sz="1200" spc="-10" dirty="0">
                <a:latin typeface="+mn-lt"/>
                <a:cs typeface="Lucida Sans"/>
              </a:rPr>
              <a:t>Identification</a:t>
            </a:r>
            <a:endParaRPr sz="1200" dirty="0">
              <a:latin typeface="+mn-lt"/>
              <a:cs typeface="Lucida Sans"/>
            </a:endParaRPr>
          </a:p>
          <a:p>
            <a:pPr marL="335915" indent="-13970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36550" algn="l"/>
              </a:tabLst>
            </a:pPr>
            <a:r>
              <a:rPr sz="1200" b="1" dirty="0">
                <a:latin typeface="+mn-lt"/>
                <a:cs typeface="Lucida Sans"/>
              </a:rPr>
              <a:t>Step</a:t>
            </a:r>
            <a:r>
              <a:rPr sz="1200" b="1" spc="-50" dirty="0">
                <a:latin typeface="+mn-lt"/>
                <a:cs typeface="Lucida Sans"/>
              </a:rPr>
              <a:t> </a:t>
            </a:r>
            <a:r>
              <a:rPr sz="1200" b="1" dirty="0">
                <a:latin typeface="+mn-lt"/>
                <a:cs typeface="Lucida Sans"/>
              </a:rPr>
              <a:t>4:</a:t>
            </a:r>
            <a:r>
              <a:rPr sz="1200" b="1" spc="-30" dirty="0">
                <a:latin typeface="+mn-lt"/>
                <a:cs typeface="Lucida Sans"/>
              </a:rPr>
              <a:t> </a:t>
            </a:r>
            <a:r>
              <a:rPr sz="1200" dirty="0">
                <a:latin typeface="+mn-lt"/>
                <a:cs typeface="Lucida Sans"/>
              </a:rPr>
              <a:t>Current</a:t>
            </a:r>
            <a:r>
              <a:rPr sz="1200" spc="-30" dirty="0">
                <a:latin typeface="+mn-lt"/>
                <a:cs typeface="Lucida Sans"/>
              </a:rPr>
              <a:t> </a:t>
            </a:r>
            <a:r>
              <a:rPr sz="1200" dirty="0">
                <a:latin typeface="+mn-lt"/>
                <a:cs typeface="Lucida Sans"/>
              </a:rPr>
              <a:t>Control</a:t>
            </a:r>
            <a:r>
              <a:rPr sz="1200" spc="-25" dirty="0">
                <a:latin typeface="+mn-lt"/>
                <a:cs typeface="Lucida Sans"/>
              </a:rPr>
              <a:t> </a:t>
            </a:r>
            <a:r>
              <a:rPr sz="1200" spc="-10" dirty="0">
                <a:latin typeface="+mn-lt"/>
                <a:cs typeface="Lucida Sans"/>
              </a:rPr>
              <a:t>Analysis</a:t>
            </a:r>
            <a:endParaRPr sz="1200" dirty="0">
              <a:latin typeface="+mn-lt"/>
              <a:cs typeface="Lucida Sans"/>
            </a:endParaRPr>
          </a:p>
          <a:p>
            <a:pPr marL="335915" indent="-13970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36550" algn="l"/>
              </a:tabLst>
            </a:pPr>
            <a:r>
              <a:rPr sz="1200" b="1" dirty="0">
                <a:latin typeface="+mn-lt"/>
                <a:cs typeface="Lucida Sans"/>
              </a:rPr>
              <a:t>Step</a:t>
            </a:r>
            <a:r>
              <a:rPr sz="1200" b="1" spc="-30" dirty="0">
                <a:latin typeface="+mn-lt"/>
                <a:cs typeface="Lucida Sans"/>
              </a:rPr>
              <a:t> </a:t>
            </a:r>
            <a:r>
              <a:rPr sz="1200" b="1" dirty="0">
                <a:latin typeface="+mn-lt"/>
                <a:cs typeface="Lucida Sans"/>
              </a:rPr>
              <a:t>5:</a:t>
            </a:r>
            <a:r>
              <a:rPr sz="1200" b="1" spc="-15" dirty="0">
                <a:latin typeface="+mn-lt"/>
                <a:cs typeface="Lucida Sans"/>
              </a:rPr>
              <a:t> </a:t>
            </a:r>
            <a:r>
              <a:rPr sz="1200" dirty="0">
                <a:latin typeface="+mn-lt"/>
                <a:cs typeface="Lucida Sans"/>
              </a:rPr>
              <a:t>Likelihood </a:t>
            </a:r>
            <a:r>
              <a:rPr sz="1200" spc="-10" dirty="0">
                <a:latin typeface="+mn-lt"/>
                <a:cs typeface="Lucida Sans"/>
              </a:rPr>
              <a:t>Determination</a:t>
            </a:r>
            <a:endParaRPr sz="1200" dirty="0">
              <a:latin typeface="+mn-lt"/>
              <a:cs typeface="Lucida Sans"/>
            </a:endParaRPr>
          </a:p>
          <a:p>
            <a:pPr marL="335915" indent="-13970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36550" algn="l"/>
              </a:tabLst>
            </a:pPr>
            <a:r>
              <a:rPr sz="1200" b="1" dirty="0">
                <a:latin typeface="+mn-lt"/>
                <a:cs typeface="Lucida Sans"/>
              </a:rPr>
              <a:t>Step</a:t>
            </a:r>
            <a:r>
              <a:rPr sz="1200" b="1" spc="-50" dirty="0">
                <a:latin typeface="+mn-lt"/>
                <a:cs typeface="Lucida Sans"/>
              </a:rPr>
              <a:t> </a:t>
            </a:r>
            <a:r>
              <a:rPr sz="1200" b="1" dirty="0">
                <a:latin typeface="+mn-lt"/>
                <a:cs typeface="Lucida Sans"/>
              </a:rPr>
              <a:t>6:</a:t>
            </a:r>
            <a:r>
              <a:rPr sz="1200" b="1" spc="-30" dirty="0">
                <a:latin typeface="+mn-lt"/>
                <a:cs typeface="Lucida Sans"/>
              </a:rPr>
              <a:t> </a:t>
            </a:r>
            <a:r>
              <a:rPr sz="1200" dirty="0">
                <a:latin typeface="+mn-lt"/>
                <a:cs typeface="Lucida Sans"/>
              </a:rPr>
              <a:t>Impact</a:t>
            </a:r>
            <a:r>
              <a:rPr sz="1200" spc="-15" dirty="0">
                <a:latin typeface="+mn-lt"/>
                <a:cs typeface="Lucida Sans"/>
              </a:rPr>
              <a:t> </a:t>
            </a:r>
            <a:r>
              <a:rPr sz="1200" spc="-10" dirty="0">
                <a:latin typeface="+mn-lt"/>
                <a:cs typeface="Lucida Sans"/>
              </a:rPr>
              <a:t>Analysis</a:t>
            </a:r>
            <a:endParaRPr sz="1200" dirty="0">
              <a:latin typeface="+mn-lt"/>
              <a:cs typeface="Lucida Sans"/>
            </a:endParaRPr>
          </a:p>
          <a:p>
            <a:pPr marL="335915" indent="-13970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36550" algn="l"/>
              </a:tabLst>
            </a:pPr>
            <a:r>
              <a:rPr sz="1200" b="1" dirty="0">
                <a:latin typeface="+mn-lt"/>
                <a:cs typeface="Lucida Sans"/>
              </a:rPr>
              <a:t>Step</a:t>
            </a:r>
            <a:r>
              <a:rPr sz="1200" b="1" spc="-40" dirty="0">
                <a:latin typeface="+mn-lt"/>
                <a:cs typeface="Lucida Sans"/>
              </a:rPr>
              <a:t> </a:t>
            </a:r>
            <a:r>
              <a:rPr sz="1200" b="1" dirty="0">
                <a:latin typeface="+mn-lt"/>
                <a:cs typeface="Lucida Sans"/>
              </a:rPr>
              <a:t>7:</a:t>
            </a:r>
            <a:r>
              <a:rPr sz="1200" b="1" spc="-25" dirty="0">
                <a:latin typeface="+mn-lt"/>
                <a:cs typeface="Lucida Sans"/>
              </a:rPr>
              <a:t> </a:t>
            </a:r>
            <a:r>
              <a:rPr sz="1200" dirty="0">
                <a:latin typeface="+mn-lt"/>
                <a:cs typeface="Lucida Sans"/>
              </a:rPr>
              <a:t>Risk</a:t>
            </a:r>
            <a:r>
              <a:rPr sz="1200" spc="-15" dirty="0">
                <a:latin typeface="+mn-lt"/>
                <a:cs typeface="Lucida Sans"/>
              </a:rPr>
              <a:t> </a:t>
            </a:r>
            <a:r>
              <a:rPr sz="1200" spc="-10" dirty="0">
                <a:latin typeface="+mn-lt"/>
                <a:cs typeface="Lucida Sans"/>
              </a:rPr>
              <a:t>Determination</a:t>
            </a:r>
            <a:endParaRPr sz="1200" dirty="0">
              <a:latin typeface="+mn-lt"/>
              <a:cs typeface="Lucida Sans"/>
            </a:endParaRPr>
          </a:p>
          <a:p>
            <a:pPr marL="335915" indent="-13970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36550" algn="l"/>
              </a:tabLst>
            </a:pPr>
            <a:r>
              <a:rPr sz="1200" b="1" dirty="0">
                <a:latin typeface="+mn-lt"/>
                <a:cs typeface="Lucida Sans"/>
              </a:rPr>
              <a:t>Step</a:t>
            </a:r>
            <a:r>
              <a:rPr sz="1200" b="1" spc="-45" dirty="0">
                <a:latin typeface="+mn-lt"/>
                <a:cs typeface="Lucida Sans"/>
              </a:rPr>
              <a:t> </a:t>
            </a:r>
            <a:r>
              <a:rPr sz="1200" b="1" dirty="0">
                <a:latin typeface="+mn-lt"/>
                <a:cs typeface="Lucida Sans"/>
              </a:rPr>
              <a:t>8:</a:t>
            </a:r>
            <a:r>
              <a:rPr sz="1200" b="1" spc="-25" dirty="0">
                <a:latin typeface="+mn-lt"/>
                <a:cs typeface="Lucida Sans"/>
              </a:rPr>
              <a:t> </a:t>
            </a:r>
            <a:r>
              <a:rPr sz="1200" dirty="0">
                <a:latin typeface="+mn-lt"/>
                <a:cs typeface="Lucida Sans"/>
              </a:rPr>
              <a:t>Control</a:t>
            </a:r>
            <a:r>
              <a:rPr sz="1200" spc="-25" dirty="0">
                <a:latin typeface="+mn-lt"/>
                <a:cs typeface="Lucida Sans"/>
              </a:rPr>
              <a:t> </a:t>
            </a:r>
            <a:r>
              <a:rPr sz="1200" spc="-10" dirty="0">
                <a:latin typeface="+mn-lt"/>
                <a:cs typeface="Lucida Sans"/>
              </a:rPr>
              <a:t>Recommendations</a:t>
            </a:r>
            <a:endParaRPr sz="1200" dirty="0">
              <a:latin typeface="+mn-lt"/>
              <a:cs typeface="Lucida Sans"/>
            </a:endParaRPr>
          </a:p>
          <a:p>
            <a:pPr marL="335915" indent="-13970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36550" algn="l"/>
              </a:tabLst>
            </a:pPr>
            <a:r>
              <a:rPr sz="1200" b="1" dirty="0">
                <a:latin typeface="+mn-lt"/>
                <a:cs typeface="Lucida Sans"/>
              </a:rPr>
              <a:t>Step</a:t>
            </a:r>
            <a:r>
              <a:rPr sz="1200" b="1" spc="-20" dirty="0">
                <a:latin typeface="+mn-lt"/>
                <a:cs typeface="Lucida Sans"/>
              </a:rPr>
              <a:t> </a:t>
            </a:r>
            <a:r>
              <a:rPr sz="1200" b="1" dirty="0">
                <a:latin typeface="+mn-lt"/>
                <a:cs typeface="Lucida Sans"/>
              </a:rPr>
              <a:t>9:</a:t>
            </a:r>
            <a:r>
              <a:rPr sz="1200" b="1" spc="-5" dirty="0">
                <a:latin typeface="+mn-lt"/>
                <a:cs typeface="Lucida Sans"/>
              </a:rPr>
              <a:t> </a:t>
            </a:r>
            <a:r>
              <a:rPr sz="1200" dirty="0">
                <a:latin typeface="+mn-lt"/>
                <a:cs typeface="Lucida Sans"/>
              </a:rPr>
              <a:t>Results</a:t>
            </a:r>
            <a:r>
              <a:rPr sz="1200" spc="-5" dirty="0">
                <a:latin typeface="+mn-lt"/>
                <a:cs typeface="Lucida Sans"/>
              </a:rPr>
              <a:t> </a:t>
            </a:r>
            <a:r>
              <a:rPr sz="1200" spc="-10" dirty="0">
                <a:latin typeface="+mn-lt"/>
                <a:cs typeface="Lucida Sans"/>
              </a:rPr>
              <a:t>Documentation</a:t>
            </a:r>
            <a:endParaRPr sz="1200" dirty="0">
              <a:latin typeface="+mn-lt"/>
              <a:cs typeface="Lucida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26968"/>
            <a:ext cx="4608195" cy="129539"/>
          </a:xfrm>
          <a:custGeom>
            <a:avLst/>
            <a:gdLst/>
            <a:ahLst/>
            <a:cxnLst/>
            <a:rect l="l" t="t" r="r" b="b"/>
            <a:pathLst>
              <a:path w="4608195" h="129539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129032"/>
                </a:lnTo>
                <a:lnTo>
                  <a:pt x="1520647" y="129032"/>
                </a:lnTo>
                <a:lnTo>
                  <a:pt x="3087344" y="129032"/>
                </a:lnTo>
                <a:lnTo>
                  <a:pt x="3087344" y="0"/>
                </a:lnTo>
                <a:close/>
              </a:path>
              <a:path w="4608195" h="129539">
                <a:moveTo>
                  <a:pt x="4608004" y="0"/>
                </a:moveTo>
                <a:lnTo>
                  <a:pt x="3087357" y="0"/>
                </a:lnTo>
                <a:lnTo>
                  <a:pt x="3087357" y="129032"/>
                </a:lnTo>
                <a:lnTo>
                  <a:pt x="4608004" y="129032"/>
                </a:lnTo>
                <a:lnTo>
                  <a:pt x="4608004" y="0"/>
                </a:lnTo>
                <a:close/>
              </a:path>
            </a:pathLst>
          </a:custGeom>
          <a:solidFill>
            <a:srgbClr val="387BB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CD176F7-3214-E78D-2708-B5636DDA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82" y="487017"/>
            <a:ext cx="3905250" cy="2783529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281622" y="258749"/>
            <a:ext cx="413004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Steps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1-</a:t>
            </a:r>
            <a:r>
              <a:rPr sz="1400" b="1" dirty="0">
                <a:latin typeface="Arial"/>
                <a:cs typeface="Arial"/>
              </a:rPr>
              <a:t>4: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Identifying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System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Weaknesses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26968"/>
            <a:ext cx="4608195" cy="129539"/>
          </a:xfrm>
          <a:custGeom>
            <a:avLst/>
            <a:gdLst/>
            <a:ahLst/>
            <a:cxnLst/>
            <a:rect l="l" t="t" r="r" b="b"/>
            <a:pathLst>
              <a:path w="4608195" h="129539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129032"/>
                </a:lnTo>
                <a:lnTo>
                  <a:pt x="1520647" y="129032"/>
                </a:lnTo>
                <a:lnTo>
                  <a:pt x="3087344" y="129032"/>
                </a:lnTo>
                <a:lnTo>
                  <a:pt x="3087344" y="0"/>
                </a:lnTo>
                <a:close/>
              </a:path>
              <a:path w="4608195" h="129539">
                <a:moveTo>
                  <a:pt x="4608004" y="0"/>
                </a:moveTo>
                <a:lnTo>
                  <a:pt x="3087357" y="0"/>
                </a:lnTo>
                <a:lnTo>
                  <a:pt x="3087357" y="129032"/>
                </a:lnTo>
                <a:lnTo>
                  <a:pt x="4608004" y="129032"/>
                </a:lnTo>
                <a:lnTo>
                  <a:pt x="4608004" y="0"/>
                </a:lnTo>
                <a:close/>
              </a:path>
            </a:pathLst>
          </a:custGeom>
          <a:solidFill>
            <a:srgbClr val="387B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396E2C4A-A36B-3674-24C4-27D4131AE1FB}"/>
              </a:ext>
            </a:extLst>
          </p:cNvPr>
          <p:cNvSpPr txBox="1"/>
          <p:nvPr/>
        </p:nvSpPr>
        <p:spPr>
          <a:xfrm>
            <a:off x="1009650" y="3323066"/>
            <a:ext cx="3510953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r">
              <a:lnSpc>
                <a:spcPct val="100000"/>
              </a:lnSpc>
              <a:spcBef>
                <a:spcPts val="95"/>
              </a:spcBef>
            </a:pPr>
            <a:r>
              <a:rPr lang="en-GB" sz="800" i="1" spc="-10" dirty="0">
                <a:solidFill>
                  <a:schemeClr val="bg1"/>
                </a:solidFill>
                <a:latin typeface="+mn-lt"/>
                <a:cs typeface="Lucida Sans"/>
              </a:rPr>
              <a:t>Source: </a:t>
            </a:r>
            <a:r>
              <a:rPr lang="en-GB" sz="800" i="1" spc="-10" dirty="0">
                <a:solidFill>
                  <a:schemeClr val="bg1"/>
                </a:solidFill>
                <a:latin typeface="+mn-lt"/>
                <a:cs typeface="Lucida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https://www.ucop.edu/information-technology-services/</a:t>
            </a:r>
            <a:endParaRPr sz="800" i="1" dirty="0">
              <a:solidFill>
                <a:schemeClr val="bg1"/>
              </a:solidFill>
              <a:latin typeface="+mn-lt"/>
              <a:cs typeface="Lucida San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F6F19C-8A46-2822-C822-B6B08393CBDB}"/>
              </a:ext>
            </a:extLst>
          </p:cNvPr>
          <p:cNvSpPr/>
          <p:nvPr/>
        </p:nvSpPr>
        <p:spPr>
          <a:xfrm>
            <a:off x="1543050" y="2035175"/>
            <a:ext cx="1524000" cy="1143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3A9DD93-C8B0-009B-87B0-87F82907D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490665"/>
            <a:ext cx="3556001" cy="2864557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276136" y="252945"/>
            <a:ext cx="355600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Steps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5-</a:t>
            </a:r>
            <a:r>
              <a:rPr sz="1400" b="1" dirty="0">
                <a:latin typeface="Arial"/>
                <a:cs typeface="Arial"/>
              </a:rPr>
              <a:t>9: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Risk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Determination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Phase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26968"/>
            <a:ext cx="4608195" cy="129539"/>
          </a:xfrm>
          <a:custGeom>
            <a:avLst/>
            <a:gdLst/>
            <a:ahLst/>
            <a:cxnLst/>
            <a:rect l="l" t="t" r="r" b="b"/>
            <a:pathLst>
              <a:path w="4608195" h="129539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129032"/>
                </a:lnTo>
                <a:lnTo>
                  <a:pt x="1520647" y="129032"/>
                </a:lnTo>
                <a:lnTo>
                  <a:pt x="3087344" y="129032"/>
                </a:lnTo>
                <a:lnTo>
                  <a:pt x="3087344" y="0"/>
                </a:lnTo>
                <a:close/>
              </a:path>
              <a:path w="4608195" h="129539">
                <a:moveTo>
                  <a:pt x="4608004" y="0"/>
                </a:moveTo>
                <a:lnTo>
                  <a:pt x="3087357" y="0"/>
                </a:lnTo>
                <a:lnTo>
                  <a:pt x="3087357" y="129032"/>
                </a:lnTo>
                <a:lnTo>
                  <a:pt x="4608004" y="129032"/>
                </a:lnTo>
                <a:lnTo>
                  <a:pt x="4608004" y="0"/>
                </a:lnTo>
                <a:close/>
              </a:path>
            </a:pathLst>
          </a:custGeom>
          <a:solidFill>
            <a:srgbClr val="387B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120E7BD0-388B-A79C-66B0-9761554C0292}"/>
              </a:ext>
            </a:extLst>
          </p:cNvPr>
          <p:cNvSpPr txBox="1"/>
          <p:nvPr/>
        </p:nvSpPr>
        <p:spPr>
          <a:xfrm>
            <a:off x="1009650" y="3323066"/>
            <a:ext cx="3510953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r">
              <a:lnSpc>
                <a:spcPct val="100000"/>
              </a:lnSpc>
              <a:spcBef>
                <a:spcPts val="95"/>
              </a:spcBef>
            </a:pPr>
            <a:r>
              <a:rPr lang="en-GB" sz="800" i="1" spc="-10" dirty="0">
                <a:solidFill>
                  <a:schemeClr val="bg1"/>
                </a:solidFill>
                <a:latin typeface="+mn-lt"/>
                <a:cs typeface="Lucida Sans"/>
              </a:rPr>
              <a:t>Source: </a:t>
            </a:r>
            <a:r>
              <a:rPr lang="en-GB" sz="800" i="1" spc="-10" dirty="0">
                <a:solidFill>
                  <a:schemeClr val="bg1"/>
                </a:solidFill>
                <a:latin typeface="+mn-lt"/>
                <a:cs typeface="Lucida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https://www.ucop.edu/information-technology-services/</a:t>
            </a:r>
            <a:endParaRPr sz="800" i="1" dirty="0">
              <a:solidFill>
                <a:schemeClr val="bg1"/>
              </a:solidFill>
              <a:latin typeface="+mn-lt"/>
              <a:cs typeface="Lucida Sans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338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0"/>
              </a:spcBef>
            </a:pPr>
            <a:r>
              <a:rPr sz="1400" spc="-10" dirty="0"/>
              <a:t>References</a:t>
            </a:r>
            <a:endParaRPr sz="1400"/>
          </a:p>
        </p:txBody>
      </p:sp>
      <p:sp>
        <p:nvSpPr>
          <p:cNvPr id="3" name="object 3"/>
          <p:cNvSpPr txBox="1"/>
          <p:nvPr/>
        </p:nvSpPr>
        <p:spPr>
          <a:xfrm>
            <a:off x="325088" y="739775"/>
            <a:ext cx="4189761" cy="192681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84150" indent="-172085">
              <a:spcBef>
                <a:spcPts val="600"/>
              </a:spcBef>
              <a:spcAft>
                <a:spcPts val="600"/>
              </a:spcAft>
              <a:buFont typeface="Wingdings"/>
              <a:buChar char=""/>
              <a:tabLst>
                <a:tab pos="184785" algn="l"/>
              </a:tabLst>
            </a:pPr>
            <a:r>
              <a:rPr sz="1200" dirty="0">
                <a:latin typeface="+mn-lt"/>
                <a:cs typeface="Arial"/>
              </a:rPr>
              <a:t>ISO</a:t>
            </a:r>
            <a:r>
              <a:rPr sz="1200" spc="-10" dirty="0">
                <a:latin typeface="+mn-lt"/>
                <a:cs typeface="Arial"/>
              </a:rPr>
              <a:t> </a:t>
            </a:r>
            <a:r>
              <a:rPr sz="1200" spc="-20" dirty="0">
                <a:latin typeface="+mn-lt"/>
                <a:cs typeface="Arial"/>
              </a:rPr>
              <a:t>27005</a:t>
            </a:r>
            <a:r>
              <a:rPr lang="en-GB" sz="1200" spc="-20" dirty="0">
                <a:latin typeface="+mn-lt"/>
                <a:cs typeface="Arial"/>
              </a:rPr>
              <a:t>: </a:t>
            </a:r>
            <a:r>
              <a:rPr sz="1200" spc="-10" dirty="0">
                <a:latin typeface="+mn-lt"/>
                <a:cs typeface="Arial"/>
                <a:hlinkClick r:id="rId2"/>
              </a:rPr>
              <a:t>http://www.iso27001security.com/html/27005.html</a:t>
            </a:r>
            <a:endParaRPr sz="1200" dirty="0">
              <a:latin typeface="+mn-lt"/>
              <a:cs typeface="Arial"/>
            </a:endParaRPr>
          </a:p>
          <a:p>
            <a:pPr marL="184150" indent="-172085">
              <a:spcBef>
                <a:spcPts val="600"/>
              </a:spcBef>
              <a:spcAft>
                <a:spcPts val="600"/>
              </a:spcAft>
              <a:buFont typeface="Wingdings"/>
              <a:buChar char=""/>
              <a:tabLst>
                <a:tab pos="184785" algn="l"/>
              </a:tabLst>
            </a:pPr>
            <a:r>
              <a:rPr sz="1200" dirty="0">
                <a:latin typeface="+mn-lt"/>
                <a:cs typeface="Arial"/>
              </a:rPr>
              <a:t>SP</a:t>
            </a:r>
            <a:r>
              <a:rPr sz="1200" spc="-10" dirty="0">
                <a:latin typeface="+mn-lt"/>
                <a:cs typeface="Arial"/>
              </a:rPr>
              <a:t> 800-</a:t>
            </a:r>
            <a:r>
              <a:rPr sz="1200" dirty="0">
                <a:latin typeface="+mn-lt"/>
                <a:cs typeface="Arial"/>
              </a:rPr>
              <a:t>30</a:t>
            </a:r>
            <a:r>
              <a:rPr sz="1200" spc="5" dirty="0">
                <a:latin typeface="+mn-lt"/>
                <a:cs typeface="Arial"/>
              </a:rPr>
              <a:t> </a:t>
            </a:r>
            <a:r>
              <a:rPr sz="1200" spc="-25" dirty="0">
                <a:latin typeface="+mn-lt"/>
                <a:cs typeface="Arial"/>
              </a:rPr>
              <a:t>r.1</a:t>
            </a:r>
            <a:r>
              <a:rPr lang="en-GB" sz="1200" spc="-25" dirty="0">
                <a:latin typeface="+mn-lt"/>
                <a:cs typeface="Arial"/>
              </a:rPr>
              <a:t>: </a:t>
            </a:r>
            <a:r>
              <a:rPr lang="en-GB" sz="1200" spc="-10" dirty="0">
                <a:latin typeface="+mn-lt"/>
                <a:cs typeface="Arial"/>
                <a:hlinkClick r:id="rId3"/>
              </a:rPr>
              <a:t>https://nvlpubs.nist.gov/nistpubs/</a:t>
            </a:r>
            <a:endParaRPr lang="en-GB" sz="1200" spc="-10" dirty="0">
              <a:latin typeface="+mn-lt"/>
              <a:cs typeface="Arial"/>
            </a:endParaRPr>
          </a:p>
          <a:p>
            <a:pPr marL="184150" indent="-172085">
              <a:spcBef>
                <a:spcPts val="600"/>
              </a:spcBef>
              <a:spcAft>
                <a:spcPts val="600"/>
              </a:spcAft>
              <a:buFont typeface="Wingdings"/>
              <a:buChar char=""/>
              <a:tabLst>
                <a:tab pos="184785" algn="l"/>
              </a:tabLst>
            </a:pPr>
            <a:r>
              <a:rPr sz="1200" dirty="0">
                <a:latin typeface="+mn-lt"/>
                <a:cs typeface="Arial"/>
              </a:rPr>
              <a:t>Inventory</a:t>
            </a:r>
            <a:r>
              <a:rPr sz="1200" spc="-2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of</a:t>
            </a:r>
            <a:r>
              <a:rPr sz="1200" spc="-1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methods</a:t>
            </a:r>
            <a:r>
              <a:rPr lang="en-GB" sz="1200" dirty="0">
                <a:latin typeface="+mn-lt"/>
                <a:cs typeface="Arial"/>
              </a:rPr>
              <a:t>:</a:t>
            </a:r>
            <a:r>
              <a:rPr sz="1200" spc="-10" dirty="0">
                <a:latin typeface="+mn-lt"/>
                <a:cs typeface="Arial"/>
              </a:rPr>
              <a:t> </a:t>
            </a:r>
            <a:r>
              <a:rPr lang="en-GB" sz="1200" spc="-10" dirty="0">
                <a:latin typeface="+mn-lt"/>
                <a:cs typeface="Arial"/>
                <a:hlinkClick r:id="rId4"/>
              </a:rPr>
              <a:t>http://rminv.enisa.europa.eu/methods/</a:t>
            </a:r>
            <a:endParaRPr lang="en-GB" sz="1200" spc="-10" dirty="0">
              <a:latin typeface="+mn-lt"/>
              <a:cs typeface="Arial"/>
            </a:endParaRPr>
          </a:p>
          <a:p>
            <a:pPr marL="184150" indent="-172085">
              <a:spcBef>
                <a:spcPts val="600"/>
              </a:spcBef>
              <a:spcAft>
                <a:spcPts val="600"/>
              </a:spcAft>
              <a:buFont typeface="Wingdings"/>
              <a:buChar char=""/>
              <a:tabLst>
                <a:tab pos="184785" algn="l"/>
              </a:tabLst>
            </a:pPr>
            <a:r>
              <a:rPr lang="en-GB" sz="1200" spc="-10" dirty="0">
                <a:latin typeface="+mn-lt"/>
                <a:cs typeface="Arial"/>
              </a:rPr>
              <a:t>NIST Risk Management Guide: </a:t>
            </a:r>
            <a:r>
              <a:rPr lang="en-GB" sz="1200" spc="-10" dirty="0">
                <a:latin typeface="+mn-lt"/>
                <a:cs typeface="Arial"/>
                <a:hlinkClick r:id="rId5"/>
              </a:rPr>
              <a:t>https://www.ucop.edu/</a:t>
            </a:r>
            <a:endParaRPr lang="en-GB" sz="1200" spc="-10" dirty="0">
              <a:latin typeface="+mn-lt"/>
              <a:cs typeface="Arial"/>
            </a:endParaRPr>
          </a:p>
          <a:p>
            <a:pPr marL="12065">
              <a:spcBef>
                <a:spcPts val="600"/>
              </a:spcBef>
              <a:spcAft>
                <a:spcPts val="600"/>
              </a:spcAft>
              <a:tabLst>
                <a:tab pos="184785" algn="l"/>
              </a:tabLst>
            </a:pPr>
            <a:r>
              <a:rPr lang="en-GB" sz="1200" spc="-10" dirty="0">
                <a:latin typeface="+mn-lt"/>
                <a:cs typeface="Arial"/>
              </a:rPr>
              <a:t>(1) Deming Cycle: </a:t>
            </a:r>
            <a:r>
              <a:rPr lang="en-GB" sz="1200" spc="-10" dirty="0">
                <a:latin typeface="+mn-lt"/>
                <a:cs typeface="Arial"/>
                <a:hlinkClick r:id="rId6"/>
              </a:rPr>
              <a:t>https://www.process.st/deming-cycle/</a:t>
            </a:r>
            <a:endParaRPr lang="en-GB" sz="1200" spc="-10" dirty="0">
              <a:latin typeface="+mn-lt"/>
              <a:cs typeface="Arial"/>
            </a:endParaRPr>
          </a:p>
          <a:p>
            <a:pPr marL="12065">
              <a:spcBef>
                <a:spcPts val="600"/>
              </a:spcBef>
              <a:spcAft>
                <a:spcPts val="600"/>
              </a:spcAft>
              <a:tabLst>
                <a:tab pos="184785" algn="l"/>
              </a:tabLst>
            </a:pPr>
            <a:endParaRPr sz="1200" dirty="0">
              <a:latin typeface="+mn-lt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26968"/>
            <a:ext cx="4608195" cy="129539"/>
          </a:xfrm>
          <a:custGeom>
            <a:avLst/>
            <a:gdLst/>
            <a:ahLst/>
            <a:cxnLst/>
            <a:rect l="l" t="t" r="r" b="b"/>
            <a:pathLst>
              <a:path w="4608195" h="129539">
                <a:moveTo>
                  <a:pt x="3087344" y="0"/>
                </a:moveTo>
                <a:lnTo>
                  <a:pt x="1520647" y="0"/>
                </a:lnTo>
                <a:lnTo>
                  <a:pt x="0" y="0"/>
                </a:lnTo>
                <a:lnTo>
                  <a:pt x="0" y="129032"/>
                </a:lnTo>
                <a:lnTo>
                  <a:pt x="1520647" y="129032"/>
                </a:lnTo>
                <a:lnTo>
                  <a:pt x="3087344" y="129032"/>
                </a:lnTo>
                <a:lnTo>
                  <a:pt x="3087344" y="0"/>
                </a:lnTo>
                <a:close/>
              </a:path>
              <a:path w="4608195" h="129539">
                <a:moveTo>
                  <a:pt x="4608004" y="0"/>
                </a:moveTo>
                <a:lnTo>
                  <a:pt x="3087357" y="0"/>
                </a:lnTo>
                <a:lnTo>
                  <a:pt x="3087357" y="129032"/>
                </a:lnTo>
                <a:lnTo>
                  <a:pt x="4608004" y="129032"/>
                </a:lnTo>
                <a:lnTo>
                  <a:pt x="4608004" y="0"/>
                </a:lnTo>
                <a:close/>
              </a:path>
            </a:pathLst>
          </a:custGeom>
          <a:solidFill>
            <a:srgbClr val="387BB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AEA46-AD01-41B1-B838-223A88A42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82575"/>
            <a:ext cx="2057400" cy="429451"/>
          </a:xfrm>
        </p:spPr>
        <p:txBody>
          <a:bodyPr>
            <a:noAutofit/>
          </a:bodyPr>
          <a:lstStyle/>
          <a:p>
            <a:pPr algn="ctr"/>
            <a:r>
              <a:rPr lang="en-GB" sz="1800" b="1" dirty="0"/>
              <a:t>Any questions?</a:t>
            </a:r>
            <a:endParaRPr lang="en-US" sz="1800" b="1" dirty="0">
              <a:cs typeface="Calibri Light"/>
            </a:endParaRP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5813A8A0-86C4-EF98-FC5F-1A9E8242B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892175"/>
            <a:ext cx="1748303" cy="174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7185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8417" y="145846"/>
            <a:ext cx="4434840" cy="3310254"/>
            <a:chOff x="138417" y="145846"/>
            <a:chExt cx="4434840" cy="331025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58868" y="2694706"/>
              <a:ext cx="299065" cy="51040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38417" y="145846"/>
              <a:ext cx="4434840" cy="3310254"/>
            </a:xfrm>
            <a:custGeom>
              <a:avLst/>
              <a:gdLst/>
              <a:ahLst/>
              <a:cxnLst/>
              <a:rect l="l" t="t" r="r" b="b"/>
              <a:pathLst>
                <a:path w="4434840" h="3310254">
                  <a:moveTo>
                    <a:pt x="0" y="0"/>
                  </a:moveTo>
                  <a:lnTo>
                    <a:pt x="0" y="3310153"/>
                  </a:lnTo>
                  <a:lnTo>
                    <a:pt x="4434839" y="3310153"/>
                  </a:lnTo>
                  <a:lnTo>
                    <a:pt x="44348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8926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105"/>
              </a:spcBef>
            </a:pPr>
            <a:r>
              <a:rPr dirty="0"/>
              <a:t>What </a:t>
            </a:r>
            <a:r>
              <a:rPr spc="-10" dirty="0"/>
              <a:t>next?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33267" y="810938"/>
            <a:ext cx="4202430" cy="19152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9070" marR="5080" indent="-167005">
              <a:lnSpc>
                <a:spcPct val="101200"/>
              </a:lnSpc>
              <a:spcBef>
                <a:spcPts val="95"/>
              </a:spcBef>
              <a:buFont typeface="Wingdings"/>
              <a:buChar char=""/>
              <a:tabLst>
                <a:tab pos="179705" algn="l"/>
              </a:tabLst>
            </a:pPr>
            <a:r>
              <a:rPr sz="1200" dirty="0">
                <a:latin typeface="+mn-lt"/>
                <a:cs typeface="Arial"/>
              </a:rPr>
              <a:t>In</a:t>
            </a:r>
            <a:r>
              <a:rPr sz="1200" spc="1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the</a:t>
            </a:r>
            <a:r>
              <a:rPr sz="1200" spc="1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next</a:t>
            </a:r>
            <a:r>
              <a:rPr sz="1200" spc="2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lecture</a:t>
            </a:r>
            <a:r>
              <a:rPr sz="1200" spc="15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we</a:t>
            </a:r>
            <a:r>
              <a:rPr sz="1200" spc="2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will</a:t>
            </a:r>
            <a:r>
              <a:rPr sz="1200" spc="30" dirty="0">
                <a:latin typeface="+mn-lt"/>
                <a:cs typeface="Arial"/>
              </a:rPr>
              <a:t> </a:t>
            </a:r>
            <a:r>
              <a:rPr lang="en-GB" sz="1200" spc="30" dirty="0">
                <a:latin typeface="+mn-lt"/>
                <a:cs typeface="Arial"/>
              </a:rPr>
              <a:t>cover </a:t>
            </a:r>
            <a:r>
              <a:rPr sz="1200" dirty="0">
                <a:latin typeface="+mn-lt"/>
                <a:cs typeface="Arial"/>
              </a:rPr>
              <a:t>the</a:t>
            </a:r>
            <a:r>
              <a:rPr sz="1200" spc="1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ISO</a:t>
            </a:r>
            <a:r>
              <a:rPr lang="en-GB" sz="1200" dirty="0">
                <a:latin typeface="+mn-lt"/>
                <a:cs typeface="Arial"/>
              </a:rPr>
              <a:t> </a:t>
            </a:r>
            <a:r>
              <a:rPr sz="1200" dirty="0">
                <a:latin typeface="+mn-lt"/>
                <a:cs typeface="Arial"/>
              </a:rPr>
              <a:t>27005</a:t>
            </a:r>
            <a:r>
              <a:rPr sz="1200" spc="20" dirty="0">
                <a:latin typeface="+mn-lt"/>
                <a:cs typeface="Arial"/>
              </a:rPr>
              <a:t> </a:t>
            </a:r>
            <a:r>
              <a:rPr sz="1200" spc="-10" dirty="0">
                <a:latin typeface="+mn-lt"/>
                <a:cs typeface="Arial"/>
              </a:rPr>
              <a:t>approach</a:t>
            </a:r>
            <a:endParaRPr lang="en-US" sz="1700" dirty="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76843"/>
            <a:ext cx="4608195" cy="179705"/>
            <a:chOff x="0" y="3276843"/>
            <a:chExt cx="4608195" cy="179705"/>
          </a:xfrm>
        </p:grpSpPr>
        <p:sp>
          <p:nvSpPr>
            <p:cNvPr id="8" name="object 8"/>
            <p:cNvSpPr/>
            <p:nvPr/>
          </p:nvSpPr>
          <p:spPr>
            <a:xfrm>
              <a:off x="4343384" y="3276843"/>
              <a:ext cx="118110" cy="50165"/>
            </a:xfrm>
            <a:custGeom>
              <a:avLst/>
              <a:gdLst/>
              <a:ahLst/>
              <a:cxnLst/>
              <a:rect l="l" t="t" r="r" b="b"/>
              <a:pathLst>
                <a:path w="118110" h="50164">
                  <a:moveTo>
                    <a:pt x="0" y="50124"/>
                  </a:moveTo>
                  <a:lnTo>
                    <a:pt x="117523" y="50124"/>
                  </a:lnTo>
                  <a:lnTo>
                    <a:pt x="117523" y="0"/>
                  </a:lnTo>
                  <a:lnTo>
                    <a:pt x="0" y="0"/>
                  </a:lnTo>
                  <a:lnTo>
                    <a:pt x="0" y="501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326980"/>
              <a:ext cx="4608195" cy="129539"/>
            </a:xfrm>
            <a:custGeom>
              <a:avLst/>
              <a:gdLst/>
              <a:ahLst/>
              <a:cxnLst/>
              <a:rect l="l" t="t" r="r" b="b"/>
              <a:pathLst>
                <a:path w="4608195" h="129539">
                  <a:moveTo>
                    <a:pt x="3087344" y="0"/>
                  </a:moveTo>
                  <a:lnTo>
                    <a:pt x="1520647" y="0"/>
                  </a:lnTo>
                  <a:lnTo>
                    <a:pt x="0" y="0"/>
                  </a:lnTo>
                  <a:lnTo>
                    <a:pt x="0" y="129019"/>
                  </a:lnTo>
                  <a:lnTo>
                    <a:pt x="1520647" y="129019"/>
                  </a:lnTo>
                  <a:lnTo>
                    <a:pt x="3087344" y="129019"/>
                  </a:lnTo>
                  <a:lnTo>
                    <a:pt x="3087344" y="0"/>
                  </a:lnTo>
                  <a:close/>
                </a:path>
                <a:path w="4608195" h="129539">
                  <a:moveTo>
                    <a:pt x="4608004" y="0"/>
                  </a:moveTo>
                  <a:lnTo>
                    <a:pt x="3087357" y="0"/>
                  </a:lnTo>
                  <a:lnTo>
                    <a:pt x="3087357" y="129019"/>
                  </a:lnTo>
                  <a:lnTo>
                    <a:pt x="4608004" y="129019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387B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Facet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</TotalTime>
  <Words>1203</Words>
  <Application>Microsoft Office PowerPoint</Application>
  <PresentationFormat>Custom</PresentationFormat>
  <Paragraphs>145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0" baseType="lpstr">
      <vt:lpstr>Aptos</vt:lpstr>
      <vt:lpstr>Arial</vt:lpstr>
      <vt:lpstr>Avenir Next LT Pro</vt:lpstr>
      <vt:lpstr>Calibri Light</vt:lpstr>
      <vt:lpstr>Figtree Lancashire</vt:lpstr>
      <vt:lpstr>Google Sans</vt:lpstr>
      <vt:lpstr>Lucida Sans</vt:lpstr>
      <vt:lpstr>Source Sans Pro</vt:lpstr>
      <vt:lpstr>Trebuchet MS</vt:lpstr>
      <vt:lpstr>Wingdings</vt:lpstr>
      <vt:lpstr>Wingdings 3</vt:lpstr>
      <vt:lpstr>Facet</vt:lpstr>
      <vt:lpstr>PowerPoint Presentation</vt:lpstr>
      <vt:lpstr>This lecture will cover</vt:lpstr>
      <vt:lpstr>Reminder: Asset, Vulnerability</vt:lpstr>
      <vt:lpstr>Terminology: ‘Threat’</vt:lpstr>
      <vt:lpstr>Terminology: ‘Risk’</vt:lpstr>
      <vt:lpstr>PowerPoint Presentation</vt:lpstr>
      <vt:lpstr>IT (Security) Risk</vt:lpstr>
      <vt:lpstr>Risk according to ISO 27005</vt:lpstr>
      <vt:lpstr>Security is Risk Management</vt:lpstr>
      <vt:lpstr>PowerPoint Presentation</vt:lpstr>
      <vt:lpstr>Terminology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Different perspectives: Risk Assessment (RA)</vt:lpstr>
      <vt:lpstr>CO4512 Focus</vt:lpstr>
      <vt:lpstr>Continuous Improvement</vt:lpstr>
      <vt:lpstr>Wider Reading</vt:lpstr>
      <vt:lpstr>PowerPoint Presentation</vt:lpstr>
      <vt:lpstr>NIST SP 800-30</vt:lpstr>
      <vt:lpstr>NIST SP 800-30</vt:lpstr>
      <vt:lpstr>PowerPoint Presentation</vt:lpstr>
      <vt:lpstr>PowerPoint Presentation</vt:lpstr>
      <vt:lpstr>References</vt:lpstr>
      <vt:lpstr>Any questions?</vt:lpstr>
      <vt:lpstr>What next?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CO4512   Information Security Management - IT Risk Management</dc:title>
  <dc:creator>Timi Enamamu PhD</dc:creator>
  <cp:lastModifiedBy>Timibloudi Stephen Enamamu (School of Engineering and Computing)</cp:lastModifiedBy>
  <cp:revision>5</cp:revision>
  <dcterms:created xsi:type="dcterms:W3CDTF">2023-01-19T08:44:49Z</dcterms:created>
  <dcterms:modified xsi:type="dcterms:W3CDTF">2025-10-02T14:59:10Z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2022-02-09T00:00:00Z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2023-01-19T00:00:00Z</vt:filetime>
  </property>
  <property fmtid="{D5CDD505-2E9C-101B-9397-08002B2CF9AE}" pid="5" name="PTEX.Fullbanner">
    <vt:lpwstr>This is pdfTeX, Version 3.14159265-2.6-1.40.21 (TeX Live 2020) kpathsea version 6.3.2</vt:lpwstr>
  </property>
  <property fmtid="{D5CDD505-2E9C-101B-9397-08002B2CF9AE}" pid="6" name="Producer">
    <vt:lpwstr>pdfTeX-1.40.21</vt:lpwstr>
  </property>
</Properties>
</file>